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obby" id="{ef83b64f-cfe7-e809-1b2d-59f2b428baf6}">
          <p14:sldIdLst>
            <p14:sldId id="256"/>
            <p14:sldId id="257"/>
          </p14:sldIdLst>
        </p14:section>
        <p14:section name="Floor 1 - Problem &amp; Goals" id="{bffa46c9-42fc-c2a9-fa86-983da1a7c14b}">
          <p14:sldIdLst>
            <p14:sldId id="258"/>
            <p14:sldId id="259"/>
            <p14:sldId id="260"/>
          </p14:sldIdLst>
        </p14:section>
        <p14:section name="Floor 2 - Design" id="{a339ab5a-0344-bca2-5cca-8f061ae4a0fb}">
          <p14:sldIdLst>
            <p14:sldId id="261"/>
            <p14:sldId id="262"/>
          </p14:sldIdLst>
        </p14:section>
        <p14:section name="Floor 3 - How It Works" id="{b6661384-9a74-841a-8609-e04f73a38f98}">
          <p14:sldIdLst>
            <p14:sldId id="263"/>
            <p14:sldId id="264"/>
            <p14:sldId id="265"/>
          </p14:sldIdLst>
        </p14:section>
        <p14:section name="Floor 4 - Results" id="{d1f2a387-e17e-8370-ef9a-c6612d8c233d}">
          <p14:sldIdLst>
            <p14:sldId id="266"/>
            <p14:sldId id="267"/>
          </p14:sldIdLst>
        </p14:section>
        <p14:section name="Rooftop - Delivery &amp; Future" id="{80aedbd7-b1d6-887b-669b-b8773534180d}">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F2A"/>
                </a:solidFill>
                <a:latin typeface="+mn-lt"/>
              </a:defRPr>
            </a:pPr>
            <a:r>
              <a:rPr sz="1400" b="0" i="0" u="none" strike="noStrike">
                <a:solidFill>
                  <a:srgbClr val="0B1F2A"/>
                </a:solidFill>
                <a:latin typeface="+mn-lt"/>
              </a:rPr>
              <a:t>Test scenarios per area (all passed)</a:t>
            </a:r>
          </a:p>
        </c:rich>
      </c:tx>
      <c:layout/>
      <c:overlay val="0"/>
    </c:title>
    <c:autoTitleDeleted val="0"/>
    <c:plotArea>
      <c:layout/>
      <c:barChart>
        <c:barDir val="bar"/>
        <c:grouping val="clustered"/>
        <c:varyColors val="0"/>
        <c:ser>
          <c:idx val="0"/>
          <c:order val="0"/>
          <c:tx>
            <c:strRef>
              <c:f>Sheet1!$B$1</c:f>
              <c:strCache>
                <c:ptCount val="1"/>
                <c:pt idx="0">
                  <c:v>Tests passed</c:v>
                </c:pt>
              </c:strCache>
            </c:strRef>
          </c:tx>
          <c:spPr>
            <a:solidFill>
              <a:srgbClr val="1B6B73"/>
            </a:solidFill>
            <a:effectLst/>
          </c:spPr>
          <c:invertIfNegative val="0"/>
          <c:dLbls>
            <c:numFmt formatCode="#,##0" sourceLinked="0"/>
            <c:txPr>
              <a:bodyPr/>
              <a:lstStyle/>
              <a:p>
                <a:pPr>
                  <a:defRPr b="0" i="0" strike="noStrike" sz="1200" u="none">
                    <a:solidFill>
                      <a:srgbClr val="0B1F2A"/>
                    </a:solidFill>
                    <a:latin typeface="+mn-lt"/>
                  </a:defRPr>
                </a:pPr>
              </a:p>
            </c:txPr>
            <c:showLegendKey val="0"/>
            <c:showVal val="1"/>
            <c:showCatName val="0"/>
            <c:showSerName val="0"/>
            <c:showPercent val="0"/>
            <c:showBubbleSize val="0"/>
            <c:showLeaderLines val="0"/>
          </c:dLbls>
          <c:cat>
            <c:multiLvlStrRef>
              <c:f>Sheet1!$A$2:$A$7</c:f>
              <c:multiLvlStrCache>
                <c:ptCount val="6"/>
                <c:lvl>
                  <c:pt idx="0">
                    <c:v>Auth &amp; security</c:v>
                  </c:pt>
                  <c:pt idx="1">
                    <c:v>Rooms, students, allocation</c:v>
                  </c:pt>
                  <c:pt idx="2">
                    <c:v>Fees &amp; payments</c:v>
                  </c:pt>
                  <c:pt idx="3">
                    <c:v>Complaints</c:v>
                  </c:pt>
                  <c:pt idx="4">
                    <c:v>Leave &amp; visitors</c:v>
                  </c:pt>
                  <c:pt idx="5">
                    <c:v>Notices, mess, errors</c:v>
                  </c:pt>
                </c:lvl>
              </c:multiLvlStrCache>
            </c:multiLvlStrRef>
          </c:cat>
          <c:val>
            <c:numRef>
              <c:f>Sheet1!$B$2:$B$7</c:f>
              <c:numCache>
                <c:formatCode>General</c:formatCode>
                <c:ptCount val="6"/>
                <c:pt idx="0">
                  <c:v>7</c:v>
                </c:pt>
                <c:pt idx="1">
                  <c:v>4</c:v>
                </c:pt>
                <c:pt idx="2">
                  <c:v>4</c:v>
                </c:pt>
                <c:pt idx="3">
                  <c:v>4</c:v>
                </c:pt>
                <c:pt idx="4">
                  <c:v>3</c:v>
                </c:pt>
                <c:pt idx="5">
                  <c:v>2</c:v>
                </c:pt>
              </c:numCache>
            </c:numRef>
          </c:val>
        </c:ser>
        <c:dLbls>
          <c:numFmt formatCode="#,##0" sourceLinked="0"/>
          <c:txPr>
            <a:bodyPr/>
            <a:lstStyle/>
            <a:p>
              <a:pPr>
                <a:defRPr b="0" i="0" strike="noStrike" sz="1200" u="none">
                  <a:solidFill>
                    <a:srgbClr val="0B1F2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B1F2A"/>
                </a:solidFill>
                <a:latin typeface="+mn-lt"/>
              </a:defRPr>
            </a:pPr>
            <a:endParaRPr lang="en-US"/>
          </a:p>
        </c:txPr>
        <c:crossAx val="2094734552"/>
        <c:crosses val="autoZero"/>
        <c:auto val="1"/>
        <c:lblAlgn val="ctr"/>
        <c:noMultiLvlLbl val="1"/>
      </c:catAx>
      <c:valAx>
        <c:axId val="2094734552"/>
        <c:scaling>
          <c:orientation val="minMax"/>
          <c:max val="9"/>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Team Nexus and the project. The room tiles on the right are the same three room statuses our system uses: AVAILABLE, FULL and MAINTENANCE - the whole app is about managing exactly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members, each owned one primary module and also took part in integration, testing and documentation. Every member can explain both their own module and the full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 hostel administration: paper registers, spreadsheets and verbal communication. These six pains are exactly what the problem statement in our report lists; each one maps to a NEXUS feature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headline objectives from the report. Scope covers one or more hostel blocks under a single administration. Biometrics, IoT locks and a real payment gateway are listed as future enhancements, not part of this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Role-based access is the backbone. After login a success handler redirects each role to its own dashboard, and every URL group is protected - a student opening a warden URL gets the Access Denied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Fully open-source Java stack. Java 17 is the LTS baseline for Spring Boot 3. Server-rendered Thymeleaf pages for the web UI, plus a JWT-secured REST API under /api/ that an optional React client can consume.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request goes Browser, Spring Security, Controller, Service, Repository, JPA/Hibernate and then MySQL. The response is rendered by Thymeleaf and returned. Controllers stay thin - business rules and transactions belong to the service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flowchart in the report. On approval the service checks that the student has no ACTIVE allocation, the room is not under maintenance and a bed is free. Then it increments the occupied count, updates the room status, stores the bed number and marks the allocation ACTIVE. Vacating decrements the count and keeps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Complaint status flow: SUBMITTED, IN_PROGRESS, RESOLVED_BY_MAINTENANCE, VERIFIED or RETURNED, then CLOSED after student feedback. Complaints are routed automatically to the Maintenance department with an SLA deadline of 4, 8, 24 or 48 hours depending on priority - in our test, a high-priority ticket received an 8 hour SLA.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behaviour observed in testing: no role could open another role's pages. Passwords are BCrypt hashes, sessions expire after 60 minutes, ownership checks stop cross-student payments, and money uses BigDecimal. The REST API uses HMAC-SHA256 signed JWT tokens valid for 24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screenshots from the deployed application, taken from Chapter 8 of the report. Warden dashboard: 4 of 8 beds occupied (50 percent). Maintenance queue: tickets arrive automatically with an Accept button. Student portal: room A-101, Bed 1, fee dues clear, complaint summary and mess timetable.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8.5 in the report lists 24 test scenarios across login, security, rooms, students, allocation, fees, payments, complaints, leave, visitors, notices, mess and error pages. All 24 produced the expected behaviour. We grouped them into six areas for this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Deployment pipeline from the report: push to GitHub, Render builds the multi-stage Docker image (Maven and JDK 17 to a JRE 17 image) and runs the Spring Boot JAR on port 2007, connecting to Aiven MySQL over SSL. Database credentials and the JWT secret are supplied as environment variables. Note: on free cloud instances the first request after a long idle period can be slow while the container restarts.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scope from the report: online payment gateway (Razorpay/UPI), mobile app or PWA, SMS/e-mail/WhatsApp alerts, QR and biometric gate pass, IoT smart meters and locks, AI analytics and chatbot, multi-hostel support, and security hardening with two-factor authentication. Also listed: Excel export, mess feedback and a completed React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key message: NEXUS brings efficiency, transparency and accountability to hostel management. Mention the production recommendations honestly, then thank the panel, invite questions and offer a live demo of all four 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EXUS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p:nvPr/>
        </p:nvSpPr>
        <p:spPr>
          <a:xfrm>
            <a:off x="7818120" y="292608"/>
            <a:ext cx="868680" cy="274320"/>
          </a:xfrm>
          <a:prstGeom prst="rect">
            <a:avLst/>
          </a:prstGeom>
          <a:noFill/>
          <a:ln/>
        </p:spPr>
        <p:txBody>
          <a:bodyPr wrap="square" lIns="0" tIns="0" rIns="0" bIns="0" rtlCol="0" anchor="ctr"/>
          <a:lstStyle/>
          <a:p>
            <a:pPr algn="ctr" indent="0" marL="0">
              <a:buNone/>
            </a:pPr>
            <a:r>
              <a:rPr lang="en-US" sz="1100" b="1" spc="200" kern="0" dirty="0">
                <a:solidFill>
                  <a:schemeClr val="tx1"/>
                </a:solidFill>
              </a:rPr>
              <a:t>NEXUS</a:t>
            </a:r>
            <a:endParaRPr lang="en-US" sz="1100" dirty="0"/>
          </a:p>
        </p:txBody>
      </p:sp>
      <p:sp>
        <p:nvSpPr>
          <p:cNvPr id="4" name="Text 2"/>
          <p:cNvSpPr/>
          <p:nvPr>
            <p:ph idx="103" type="title" hasCustomPrompt="1"/>
          </p:nvPr>
        </p:nvSpPr>
        <p:spPr>
          <a:xfrm>
            <a:off x="457200" y="640080"/>
            <a:ext cx="8229600" cy="6858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457200" y="4846320"/>
            <a:ext cx="54864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EXUS_LIGHT">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bg2"/>
          </a:solidFill>
          <a:ln/>
        </p:spPr>
      </p:sp>
      <p:sp>
        <p:nvSpPr>
          <p:cNvPr id="3" name="Text 1"/>
          <p:cNvSpPr/>
          <p:nvPr/>
        </p:nvSpPr>
        <p:spPr>
          <a:xfrm>
            <a:off x="7818120" y="292608"/>
            <a:ext cx="868680" cy="274320"/>
          </a:xfrm>
          <a:prstGeom prst="rect">
            <a:avLst/>
          </a:prstGeom>
          <a:noFill/>
          <a:ln/>
        </p:spPr>
        <p:txBody>
          <a:bodyPr wrap="square" lIns="0" tIns="0" rIns="0" bIns="0" rtlCol="0" anchor="ctr"/>
          <a:lstStyle/>
          <a:p>
            <a:pPr algn="ctr" indent="0" marL="0">
              <a:buNone/>
            </a:pPr>
            <a:r>
              <a:rPr lang="en-US" sz="1100" b="1" spc="200" kern="0" dirty="0">
                <a:solidFill>
                  <a:schemeClr val="tx1"/>
                </a:solidFill>
              </a:rPr>
              <a:t>NEXUS</a:t>
            </a:r>
            <a:endParaRPr lang="en-US" sz="1100" dirty="0"/>
          </a:p>
        </p:txBody>
      </p:sp>
      <p:sp>
        <p:nvSpPr>
          <p:cNvPr id="4" name="Text 2"/>
          <p:cNvSpPr/>
          <p:nvPr>
            <p:ph idx="103" type="title" hasCustomPrompt="1"/>
          </p:nvPr>
        </p:nvSpPr>
        <p:spPr>
          <a:xfrm>
            <a:off x="457200" y="640080"/>
            <a:ext cx="8229600" cy="6858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457200" y="4846320"/>
            <a:ext cx="54864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NEXUS_TITLE">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p:nvPr>
            <p:ph idx="101" type="title" hasCustomPrompt="1"/>
          </p:nvPr>
        </p:nvSpPr>
        <p:spPr>
          <a:xfrm>
            <a:off x="548640" y="1143000"/>
            <a:ext cx="4572000" cy="960120"/>
          </a:xfrm>
          <a:prstGeom prst="rect">
            <a:avLst/>
          </a:prstGeom>
          <a:noFill/>
          <a:ln/>
        </p:spPr>
        <p:txBody>
          <a:bodyPr wrap="square" rtlCol="0"/>
          <a:lstStyle>
            <a:lvl1pPr algn="l" indent="0" marL="0">
              <a:buNone/>
              <a:defRPr lang="en-US" sz="6600" b="1" dirty="0">
                <a:solidFill>
                  <a:schemeClr val="bg1"/>
                </a:solidFill>
              </a:defRPr>
            </a:lvl1pPr>
          </a:lstStyle>
          <a:p>
            <a:pPr algn="l" indent="0" marL="0">
              <a:buNone/>
            </a:pPr>
            <a:endParaRPr lang="en-US" sz="6600" dirty="0"/>
          </a:p>
        </p:txBody>
      </p:sp>
      <p:sp>
        <p:nvSpPr>
          <p:cNvPr id="4" name="Text 1"/>
          <p:cNvSpPr/>
          <p:nvPr>
            <p:ph idx="102" type="body" hasCustomPrompt="1"/>
          </p:nvPr>
        </p:nvSpPr>
        <p:spPr>
          <a:xfrm>
            <a:off x="548640" y="2148840"/>
            <a:ext cx="4480560" cy="822960"/>
          </a:xfrm>
          <a:prstGeom prst="rect">
            <a:avLst/>
          </a:prstGeom>
          <a:noFill/>
          <a:ln/>
        </p:spPr>
        <p:txBody>
          <a:bodyPr wrap="square" rtlCol="0"/>
          <a:lstStyle>
            <a:lvl1pPr algn="l" indent="0" marL="0">
              <a:buNone/>
              <a:defRPr lang="en-US" sz="2400" b="1" dirty="0">
                <a:solidFill>
                  <a:schemeClr val="accent1"/>
                </a:solidFill>
              </a:defRPr>
            </a:lvl1pPr>
          </a:lstStyle>
          <a:p>
            <a:pPr algn="l" indent="0" marL="0">
              <a:buNone/>
            </a:pPr>
            <a:endParaRPr lang="en-US" sz="2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457200" y="4846320"/>
            <a:ext cx="54864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image" Target="../media/image-3-16.png"/><Relationship Id="rId17" Type="http://schemas.openxmlformats.org/officeDocument/2006/relationships/image" Target="../media/image-3-17.png"/><Relationship Id="rId18" Type="http://schemas.openxmlformats.org/officeDocument/2006/relationships/image" Target="../media/image-3-18.png"/><Relationship Id="rId19" Type="http://schemas.openxmlformats.org/officeDocument/2006/relationships/slideLayout" Target="../slideLayouts/slideLayout3.xml"/><Relationship Id="rId2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5" Type="http://schemas.openxmlformats.org/officeDocument/2006/relationships/hyperlink" Target="https://smart-hostel-management-9j3u.onrender.com/login" TargetMode="External"/><Relationship Id="rId6" Type="http://schemas.openxmlformats.org/officeDocument/2006/relationships/hyperlink" Target="https://github.com/Divyanshp63/smart-hostel-management" TargetMode="External"/><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7" Type="http://schemas.openxmlformats.org/officeDocument/2006/relationships/slideLayout" Target="../slideLayouts/slideLayout2.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slideLayout" Target="../slideLayouts/slideLayout3.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5" Type="http://schemas.openxmlformats.org/officeDocument/2006/relationships/hyperlink" Target="https://smart-hostel-management-9j3u.onrender.com/login" TargetMode="External"/><Relationship Id="rId6" Type="http://schemas.openxmlformats.org/officeDocument/2006/relationships/hyperlink" Target="https://github.com/Divyanshp63/smart-hostel-management" TargetMode="External"/><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7" Type="http://schemas.openxmlformats.org/officeDocument/2006/relationships/slideLayout" Target="../slideLayouts/slideLayout2.xml"/><Relationship Id="rId8"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ag"/>
          <p:cNvSpPr/>
          <p:nvPr/>
        </p:nvSpPr>
        <p:spPr>
          <a:xfrm>
            <a:off x="548640" y="640080"/>
            <a:ext cx="4343400" cy="274320"/>
          </a:xfrm>
          <a:prstGeom prst="roundRect">
            <a:avLst>
              <a:gd name="adj" fmla="val 50000"/>
            </a:avLst>
          </a:prstGeom>
          <a:solidFill>
            <a:schemeClr val="accent1"/>
          </a:solidFill>
          <a:ln/>
        </p:spPr>
      </p:sp>
      <p:sp>
        <p:nvSpPr>
          <p:cNvPr id="3" name="Text 1"/>
          <p:cNvSpPr txBox="1"/>
          <p:nvPr/>
        </p:nvSpPr>
        <p:spPr>
          <a:xfrm>
            <a:off x="548640" y="640080"/>
            <a:ext cx="4343400" cy="274320"/>
          </a:xfrm>
          <a:prstGeom prst="rect">
            <a:avLst/>
          </a:prstGeom>
          <a:noFill/>
          <a:ln/>
        </p:spPr>
        <p:txBody>
          <a:bodyPr wrap="square" lIns="0" tIns="0" rIns="0" bIns="0" rtlCol="0" anchor="ctr"/>
          <a:lstStyle/>
          <a:p>
            <a:pPr algn="ctr" indent="0" marL="0">
              <a:buNone/>
            </a:pPr>
            <a:r>
              <a:rPr lang="en-US" sz="1000" b="1" spc="100" kern="0" dirty="0">
                <a:solidFill>
                  <a:schemeClr val="tx1"/>
                </a:solidFill>
              </a:rPr>
              <a:t>TEAM NEXUS  ·  MAJOR PROJECT  ·  ADVANCED JAVA (PBL)</a:t>
            </a:r>
            <a:endParaRPr lang="en-US" sz="1000" dirty="0"/>
          </a:p>
        </p:txBody>
      </p:sp>
      <p:sp>
        <p:nvSpPr>
          <p:cNvPr id="4" name="Text 1"/>
          <p:cNvSpPr/>
          <p:nvPr>
            <p:ph idx="101" type="title" hasCustomPrompt="1"/>
          </p:nvPr>
        </p:nvSpPr>
        <p:spPr>
          <a:xfrm>
            <a:off x="548640" y="1143000"/>
            <a:ext cx="4572000" cy="960120"/>
          </a:xfrm>
          <a:prstGeom prst="rect">
            <a:avLst/>
          </a:prstGeom>
          <a:noFill/>
          <a:ln/>
        </p:spPr>
        <p:txBody>
          <a:bodyPr wrap="square" lIns="0" tIns="0" rIns="0" bIns="0" rtlCol="0" anchor="t"/>
          <a:lstStyle/>
          <a:p>
            <a:pPr algn="l" indent="0" marL="0">
              <a:buNone/>
            </a:pPr>
            <a:r>
              <a:rPr lang="en-US" sz="6600" b="1" dirty="0">
                <a:solidFill>
                  <a:schemeClr val="bg1"/>
                </a:solidFill>
              </a:rPr>
              <a:t>NEXUS</a:t>
            </a:r>
            <a:endParaRPr lang="en-US" sz="6600" dirty="0"/>
          </a:p>
        </p:txBody>
      </p:sp>
      <p:sp>
        <p:nvSpPr>
          <p:cNvPr id="5" name="Text 1"/>
          <p:cNvSpPr/>
          <p:nvPr>
            <p:ph idx="102" type="body" hasCustomPrompt="1"/>
          </p:nvPr>
        </p:nvSpPr>
        <p:spPr>
          <a:xfrm>
            <a:off x="548640" y="2148840"/>
            <a:ext cx="4480560" cy="822960"/>
          </a:xfrm>
          <a:prstGeom prst="rect">
            <a:avLst/>
          </a:prstGeom>
          <a:noFill/>
          <a:ln/>
        </p:spPr>
        <p:txBody>
          <a:bodyPr wrap="square" lIns="0" tIns="0" rIns="0" bIns="0" rtlCol="0" anchor="t"/>
          <a:lstStyle/>
          <a:p>
            <a:pPr algn="l" indent="0" marL="0">
              <a:buNone/>
            </a:pPr>
            <a:r>
              <a:rPr lang="en-US" sz="2400" b="1" dirty="0">
                <a:solidFill>
                  <a:schemeClr val="accent1"/>
                </a:solidFill>
              </a:rPr>
              <a:t>Smart PG &amp; Hostel Management System</a:t>
            </a:r>
            <a:endParaRPr lang="en-US" sz="2400" dirty="0"/>
          </a:p>
        </p:txBody>
      </p:sp>
      <p:sp>
        <p:nvSpPr>
          <p:cNvPr id="6" name="Text 4"/>
          <p:cNvSpPr txBox="1"/>
          <p:nvPr/>
        </p:nvSpPr>
        <p:spPr>
          <a:xfrm>
            <a:off x="548640" y="3108960"/>
            <a:ext cx="4297680" cy="685800"/>
          </a:xfrm>
          <a:prstGeom prst="rect">
            <a:avLst/>
          </a:prstGeom>
          <a:noFill/>
          <a:ln/>
        </p:spPr>
        <p:txBody>
          <a:bodyPr wrap="square" lIns="0" tIns="0" rIns="0" bIns="0" rtlCol="0" anchor="t"/>
          <a:lstStyle/>
          <a:p>
            <a:pPr indent="0" marL="0">
              <a:buNone/>
            </a:pPr>
            <a:r>
              <a:rPr lang="en-US" sz="1600" dirty="0">
                <a:solidFill>
                  <a:schemeClr val="accent6"/>
                </a:solidFill>
              </a:rPr>
              <a:t>One secure platform for wardens, students, accountants and maintenance staff.</a:t>
            </a:r>
            <a:endParaRPr lang="en-US" sz="1600" dirty="0"/>
          </a:p>
        </p:txBody>
      </p:sp>
      <p:sp>
        <p:nvSpPr>
          <p:cNvPr id="7" name="Text 5"/>
          <p:cNvSpPr txBox="1"/>
          <p:nvPr/>
        </p:nvSpPr>
        <p:spPr>
          <a:xfrm>
            <a:off x="548640" y="4114800"/>
            <a:ext cx="4572000" cy="274320"/>
          </a:xfrm>
          <a:prstGeom prst="rect">
            <a:avLst/>
          </a:prstGeom>
          <a:noFill/>
          <a:ln/>
        </p:spPr>
        <p:txBody>
          <a:bodyPr wrap="square" lIns="0" tIns="0" rIns="0" bIns="0" rtlCol="0" anchor="t"/>
          <a:lstStyle/>
          <a:p>
            <a:pPr indent="0" marL="0">
              <a:buNone/>
            </a:pPr>
            <a:r>
              <a:rPr lang="en-US" sz="1400" b="1" dirty="0">
                <a:solidFill>
                  <a:schemeClr val="bg1"/>
                </a:solidFill>
              </a:rPr>
              <a:t>Arya College of Engineering &amp; I.T., Jaipur</a:t>
            </a:r>
            <a:endParaRPr lang="en-US" sz="1400" dirty="0"/>
          </a:p>
        </p:txBody>
      </p:sp>
      <p:sp>
        <p:nvSpPr>
          <p:cNvPr id="8" name="Text 6"/>
          <p:cNvSpPr txBox="1"/>
          <p:nvPr/>
        </p:nvSpPr>
        <p:spPr>
          <a:xfrm>
            <a:off x="548640" y="4407408"/>
            <a:ext cx="4663440" cy="411480"/>
          </a:xfrm>
          <a:prstGeom prst="rect">
            <a:avLst/>
          </a:prstGeom>
          <a:noFill/>
          <a:ln/>
        </p:spPr>
        <p:txBody>
          <a:bodyPr wrap="square" lIns="0" tIns="0" rIns="0" bIns="0" rtlCol="0" anchor="t"/>
          <a:lstStyle/>
          <a:p>
            <a:pPr indent="0" marL="0">
              <a:buNone/>
            </a:pPr>
            <a:r>
              <a:rPr lang="en-US" sz="1200" dirty="0">
                <a:solidFill>
                  <a:schemeClr val="accent6"/>
                </a:solidFill>
              </a:rPr>
              <a:t>B.Tech AI &amp; Data Science  ·  Session 2026-27  ·  Mentor: Er. Ram Babu Buri</a:t>
            </a:r>
            <a:endParaRPr lang="en-US" sz="1200" dirty="0"/>
          </a:p>
        </p:txBody>
      </p:sp>
      <p:sp>
        <p:nvSpPr>
          <p:cNvPr id="9" name="Room A-101"/>
          <p:cNvSpPr/>
          <p:nvPr/>
        </p:nvSpPr>
        <p:spPr>
          <a:xfrm>
            <a:off x="5440680" y="640080"/>
            <a:ext cx="1005840" cy="713232"/>
          </a:xfrm>
          <a:prstGeom prst="roundRect">
            <a:avLst>
              <a:gd name="adj" fmla="val 15385"/>
            </a:avLst>
          </a:prstGeom>
          <a:solidFill>
            <a:schemeClr val="accent1"/>
          </a:solidFill>
          <a:ln/>
        </p:spPr>
      </p:sp>
      <p:sp>
        <p:nvSpPr>
          <p:cNvPr id="10" name="Text 8"/>
          <p:cNvSpPr txBox="1"/>
          <p:nvPr/>
        </p:nvSpPr>
        <p:spPr>
          <a:xfrm>
            <a:off x="5550408" y="731520"/>
            <a:ext cx="731520" cy="237744"/>
          </a:xfrm>
          <a:prstGeom prst="rect">
            <a:avLst/>
          </a:prstGeom>
          <a:noFill/>
          <a:ln/>
        </p:spPr>
        <p:txBody>
          <a:bodyPr wrap="square" lIns="0" tIns="0" rIns="0" bIns="0" rtlCol="0" anchor="t"/>
          <a:lstStyle/>
          <a:p>
            <a:pPr indent="0" marL="0">
              <a:buNone/>
            </a:pPr>
            <a:r>
              <a:rPr lang="en-US" sz="1400" b="1" dirty="0">
                <a:solidFill>
                  <a:schemeClr val="tx1"/>
                </a:solidFill>
              </a:rPr>
              <a:t>A-101</a:t>
            </a:r>
            <a:endParaRPr lang="en-US" sz="1400" dirty="0"/>
          </a:p>
        </p:txBody>
      </p:sp>
      <p:sp>
        <p:nvSpPr>
          <p:cNvPr id="11" name="Text 9"/>
          <p:cNvSpPr txBox="1"/>
          <p:nvPr/>
        </p:nvSpPr>
        <p:spPr>
          <a:xfrm>
            <a:off x="5550408" y="1024128"/>
            <a:ext cx="868680" cy="182880"/>
          </a:xfrm>
          <a:prstGeom prst="rect">
            <a:avLst/>
          </a:prstGeom>
          <a:noFill/>
          <a:ln/>
        </p:spPr>
        <p:txBody>
          <a:bodyPr wrap="square" lIns="0" tIns="0" rIns="0" bIns="0" rtlCol="0" anchor="t"/>
          <a:lstStyle/>
          <a:p>
            <a:pPr indent="0" marL="0">
              <a:buNone/>
            </a:pPr>
            <a:r>
              <a:rPr lang="en-US" sz="1000" b="1" dirty="0">
                <a:solidFill>
                  <a:schemeClr val="tx1"/>
                </a:solidFill>
              </a:rPr>
              <a:t>FULL</a:t>
            </a:r>
            <a:endParaRPr lang="en-US" sz="1000" dirty="0"/>
          </a:p>
        </p:txBody>
      </p:sp>
      <p:sp>
        <p:nvSpPr>
          <p:cNvPr id="12" name="Bed"/>
          <p:cNvSpPr/>
          <p:nvPr/>
        </p:nvSpPr>
        <p:spPr>
          <a:xfrm>
            <a:off x="6080760" y="749808"/>
            <a:ext cx="118872" cy="118872"/>
          </a:xfrm>
          <a:prstGeom prst="ellipse">
            <a:avLst/>
          </a:prstGeom>
          <a:solidFill>
            <a:schemeClr val="tx1"/>
          </a:solidFill>
          <a:ln/>
        </p:spPr>
      </p:sp>
      <p:sp>
        <p:nvSpPr>
          <p:cNvPr id="13" name="Bed"/>
          <p:cNvSpPr/>
          <p:nvPr/>
        </p:nvSpPr>
        <p:spPr>
          <a:xfrm>
            <a:off x="6245352" y="749808"/>
            <a:ext cx="118872" cy="118872"/>
          </a:xfrm>
          <a:prstGeom prst="ellipse">
            <a:avLst/>
          </a:prstGeom>
          <a:solidFill>
            <a:schemeClr val="tx1"/>
          </a:solidFill>
          <a:ln/>
        </p:spPr>
      </p:sp>
      <p:sp>
        <p:nvSpPr>
          <p:cNvPr id="14" name="Room A-102"/>
          <p:cNvSpPr/>
          <p:nvPr/>
        </p:nvSpPr>
        <p:spPr>
          <a:xfrm>
            <a:off x="6556248" y="640080"/>
            <a:ext cx="1005840" cy="713232"/>
          </a:xfrm>
          <a:prstGeom prst="roundRect">
            <a:avLst>
              <a:gd name="adj" fmla="val 15385"/>
            </a:avLst>
          </a:prstGeom>
          <a:solidFill>
            <a:schemeClr val="tx2"/>
          </a:solidFill>
          <a:ln w="19050">
            <a:solidFill>
              <a:schemeClr val="accent2"/>
            </a:solidFill>
            <a:prstDash val="solid"/>
          </a:ln>
        </p:spPr>
      </p:sp>
      <p:sp>
        <p:nvSpPr>
          <p:cNvPr id="15" name="Text 13"/>
          <p:cNvSpPr txBox="1"/>
          <p:nvPr/>
        </p:nvSpPr>
        <p:spPr>
          <a:xfrm>
            <a:off x="6665976" y="731520"/>
            <a:ext cx="731520" cy="237744"/>
          </a:xfrm>
          <a:prstGeom prst="rect">
            <a:avLst/>
          </a:prstGeom>
          <a:noFill/>
          <a:ln/>
        </p:spPr>
        <p:txBody>
          <a:bodyPr wrap="square" lIns="0" tIns="0" rIns="0" bIns="0" rtlCol="0" anchor="t"/>
          <a:lstStyle/>
          <a:p>
            <a:pPr indent="0" marL="0">
              <a:buNone/>
            </a:pPr>
            <a:r>
              <a:rPr lang="en-US" sz="1400" b="1" dirty="0">
                <a:solidFill>
                  <a:schemeClr val="accent6"/>
                </a:solidFill>
              </a:rPr>
              <a:t>A-102</a:t>
            </a:r>
            <a:endParaRPr lang="en-US" sz="1400" dirty="0"/>
          </a:p>
        </p:txBody>
      </p:sp>
      <p:sp>
        <p:nvSpPr>
          <p:cNvPr id="16" name="Text 14"/>
          <p:cNvSpPr txBox="1"/>
          <p:nvPr/>
        </p:nvSpPr>
        <p:spPr>
          <a:xfrm>
            <a:off x="6665976" y="1024128"/>
            <a:ext cx="868680" cy="182880"/>
          </a:xfrm>
          <a:prstGeom prst="rect">
            <a:avLst/>
          </a:prstGeom>
          <a:noFill/>
          <a:ln/>
        </p:spPr>
        <p:txBody>
          <a:bodyPr wrap="square" lIns="0" tIns="0" rIns="0" bIns="0" rtlCol="0" anchor="t"/>
          <a:lstStyle/>
          <a:p>
            <a:pPr indent="0" marL="0">
              <a:buNone/>
            </a:pPr>
            <a:r>
              <a:rPr lang="en-US" sz="1000" b="1" dirty="0">
                <a:solidFill>
                  <a:schemeClr val="accent6"/>
                </a:solidFill>
              </a:rPr>
              <a:t>AVAILABLE</a:t>
            </a:r>
            <a:endParaRPr lang="en-US" sz="1000" dirty="0"/>
          </a:p>
        </p:txBody>
      </p:sp>
      <p:sp>
        <p:nvSpPr>
          <p:cNvPr id="17" name="Bed"/>
          <p:cNvSpPr/>
          <p:nvPr/>
        </p:nvSpPr>
        <p:spPr>
          <a:xfrm>
            <a:off x="7196328" y="749808"/>
            <a:ext cx="118872" cy="118872"/>
          </a:xfrm>
          <a:prstGeom prst="ellipse">
            <a:avLst/>
          </a:prstGeom>
          <a:solidFill>
            <a:schemeClr val="accent2"/>
          </a:solidFill>
          <a:ln/>
        </p:spPr>
      </p:sp>
      <p:sp>
        <p:nvSpPr>
          <p:cNvPr id="18" name="Bed"/>
          <p:cNvSpPr/>
          <p:nvPr/>
        </p:nvSpPr>
        <p:spPr>
          <a:xfrm>
            <a:off x="7360920" y="749808"/>
            <a:ext cx="118872" cy="118872"/>
          </a:xfrm>
          <a:prstGeom prst="ellipse">
            <a:avLst/>
          </a:prstGeom>
          <a:solidFill>
            <a:schemeClr val="tx2"/>
          </a:solidFill>
          <a:ln w="12700">
            <a:solidFill>
              <a:schemeClr val="accent2"/>
            </a:solidFill>
            <a:prstDash val="solid"/>
          </a:ln>
        </p:spPr>
      </p:sp>
      <p:sp>
        <p:nvSpPr>
          <p:cNvPr id="19" name="Room A-103"/>
          <p:cNvSpPr/>
          <p:nvPr/>
        </p:nvSpPr>
        <p:spPr>
          <a:xfrm>
            <a:off x="7671816" y="640080"/>
            <a:ext cx="1005840" cy="713232"/>
          </a:xfrm>
          <a:prstGeom prst="roundRect">
            <a:avLst>
              <a:gd name="adj" fmla="val 15385"/>
            </a:avLst>
          </a:prstGeom>
          <a:solidFill>
            <a:schemeClr val="accent1"/>
          </a:solidFill>
          <a:ln/>
        </p:spPr>
      </p:sp>
      <p:sp>
        <p:nvSpPr>
          <p:cNvPr id="20" name="Text 18"/>
          <p:cNvSpPr txBox="1"/>
          <p:nvPr/>
        </p:nvSpPr>
        <p:spPr>
          <a:xfrm>
            <a:off x="7781544" y="731520"/>
            <a:ext cx="731520" cy="237744"/>
          </a:xfrm>
          <a:prstGeom prst="rect">
            <a:avLst/>
          </a:prstGeom>
          <a:noFill/>
          <a:ln/>
        </p:spPr>
        <p:txBody>
          <a:bodyPr wrap="square" lIns="0" tIns="0" rIns="0" bIns="0" rtlCol="0" anchor="t"/>
          <a:lstStyle/>
          <a:p>
            <a:pPr indent="0" marL="0">
              <a:buNone/>
            </a:pPr>
            <a:r>
              <a:rPr lang="en-US" sz="1400" b="1" dirty="0">
                <a:solidFill>
                  <a:schemeClr val="tx1"/>
                </a:solidFill>
              </a:rPr>
              <a:t>A-103</a:t>
            </a:r>
            <a:endParaRPr lang="en-US" sz="1400" dirty="0"/>
          </a:p>
        </p:txBody>
      </p:sp>
      <p:sp>
        <p:nvSpPr>
          <p:cNvPr id="21" name="Text 19"/>
          <p:cNvSpPr txBox="1"/>
          <p:nvPr/>
        </p:nvSpPr>
        <p:spPr>
          <a:xfrm>
            <a:off x="7781544" y="1024128"/>
            <a:ext cx="868680" cy="182880"/>
          </a:xfrm>
          <a:prstGeom prst="rect">
            <a:avLst/>
          </a:prstGeom>
          <a:noFill/>
          <a:ln/>
        </p:spPr>
        <p:txBody>
          <a:bodyPr wrap="square" lIns="0" tIns="0" rIns="0" bIns="0" rtlCol="0" anchor="t"/>
          <a:lstStyle/>
          <a:p>
            <a:pPr indent="0" marL="0">
              <a:buNone/>
            </a:pPr>
            <a:r>
              <a:rPr lang="en-US" sz="1000" b="1" dirty="0">
                <a:solidFill>
                  <a:schemeClr val="tx1"/>
                </a:solidFill>
              </a:rPr>
              <a:t>FULL</a:t>
            </a:r>
            <a:endParaRPr lang="en-US" sz="1000" dirty="0"/>
          </a:p>
        </p:txBody>
      </p:sp>
      <p:sp>
        <p:nvSpPr>
          <p:cNvPr id="22" name="Bed"/>
          <p:cNvSpPr/>
          <p:nvPr/>
        </p:nvSpPr>
        <p:spPr>
          <a:xfrm>
            <a:off x="8311896" y="749808"/>
            <a:ext cx="118872" cy="118872"/>
          </a:xfrm>
          <a:prstGeom prst="ellipse">
            <a:avLst/>
          </a:prstGeom>
          <a:solidFill>
            <a:schemeClr val="tx1"/>
          </a:solidFill>
          <a:ln/>
        </p:spPr>
      </p:sp>
      <p:sp>
        <p:nvSpPr>
          <p:cNvPr id="23" name="Bed"/>
          <p:cNvSpPr/>
          <p:nvPr/>
        </p:nvSpPr>
        <p:spPr>
          <a:xfrm>
            <a:off x="8476488" y="749808"/>
            <a:ext cx="118872" cy="118872"/>
          </a:xfrm>
          <a:prstGeom prst="ellipse">
            <a:avLst/>
          </a:prstGeom>
          <a:solidFill>
            <a:schemeClr val="tx1"/>
          </a:solidFill>
          <a:ln/>
        </p:spPr>
      </p:sp>
      <p:sp>
        <p:nvSpPr>
          <p:cNvPr id="24" name="Room A-104"/>
          <p:cNvSpPr/>
          <p:nvPr/>
        </p:nvSpPr>
        <p:spPr>
          <a:xfrm>
            <a:off x="5440680" y="1463040"/>
            <a:ext cx="1005840" cy="713232"/>
          </a:xfrm>
          <a:prstGeom prst="roundRect">
            <a:avLst>
              <a:gd name="adj" fmla="val 15385"/>
            </a:avLst>
          </a:prstGeom>
          <a:solidFill>
            <a:schemeClr val="tx2"/>
          </a:solidFill>
          <a:ln w="19050">
            <a:solidFill>
              <a:schemeClr val="accent2"/>
            </a:solidFill>
            <a:prstDash val="solid"/>
          </a:ln>
        </p:spPr>
      </p:sp>
      <p:sp>
        <p:nvSpPr>
          <p:cNvPr id="25" name="Text 23"/>
          <p:cNvSpPr txBox="1"/>
          <p:nvPr/>
        </p:nvSpPr>
        <p:spPr>
          <a:xfrm>
            <a:off x="5550408" y="1554480"/>
            <a:ext cx="731520" cy="237744"/>
          </a:xfrm>
          <a:prstGeom prst="rect">
            <a:avLst/>
          </a:prstGeom>
          <a:noFill/>
          <a:ln/>
        </p:spPr>
        <p:txBody>
          <a:bodyPr wrap="square" lIns="0" tIns="0" rIns="0" bIns="0" rtlCol="0" anchor="t"/>
          <a:lstStyle/>
          <a:p>
            <a:pPr indent="0" marL="0">
              <a:buNone/>
            </a:pPr>
            <a:r>
              <a:rPr lang="en-US" sz="1400" b="1" dirty="0">
                <a:solidFill>
                  <a:schemeClr val="accent6"/>
                </a:solidFill>
              </a:rPr>
              <a:t>A-104</a:t>
            </a:r>
            <a:endParaRPr lang="en-US" sz="1400" dirty="0"/>
          </a:p>
        </p:txBody>
      </p:sp>
      <p:sp>
        <p:nvSpPr>
          <p:cNvPr id="26" name="Text 24"/>
          <p:cNvSpPr txBox="1"/>
          <p:nvPr/>
        </p:nvSpPr>
        <p:spPr>
          <a:xfrm>
            <a:off x="5550408" y="1847088"/>
            <a:ext cx="868680" cy="182880"/>
          </a:xfrm>
          <a:prstGeom prst="rect">
            <a:avLst/>
          </a:prstGeom>
          <a:noFill/>
          <a:ln/>
        </p:spPr>
        <p:txBody>
          <a:bodyPr wrap="square" lIns="0" tIns="0" rIns="0" bIns="0" rtlCol="0" anchor="t"/>
          <a:lstStyle/>
          <a:p>
            <a:pPr indent="0" marL="0">
              <a:buNone/>
            </a:pPr>
            <a:r>
              <a:rPr lang="en-US" sz="1000" b="1" dirty="0">
                <a:solidFill>
                  <a:schemeClr val="accent6"/>
                </a:solidFill>
              </a:rPr>
              <a:t>AVAILABLE</a:t>
            </a:r>
            <a:endParaRPr lang="en-US" sz="1000" dirty="0"/>
          </a:p>
        </p:txBody>
      </p:sp>
      <p:sp>
        <p:nvSpPr>
          <p:cNvPr id="27" name="Bed"/>
          <p:cNvSpPr/>
          <p:nvPr/>
        </p:nvSpPr>
        <p:spPr>
          <a:xfrm>
            <a:off x="6080760" y="1572768"/>
            <a:ext cx="118872" cy="118872"/>
          </a:xfrm>
          <a:prstGeom prst="ellipse">
            <a:avLst/>
          </a:prstGeom>
          <a:solidFill>
            <a:schemeClr val="accent2"/>
          </a:solidFill>
          <a:ln/>
        </p:spPr>
      </p:sp>
      <p:sp>
        <p:nvSpPr>
          <p:cNvPr id="28" name="Bed"/>
          <p:cNvSpPr/>
          <p:nvPr/>
        </p:nvSpPr>
        <p:spPr>
          <a:xfrm>
            <a:off x="6245352" y="1572768"/>
            <a:ext cx="118872" cy="118872"/>
          </a:xfrm>
          <a:prstGeom prst="ellipse">
            <a:avLst/>
          </a:prstGeom>
          <a:solidFill>
            <a:schemeClr val="tx2"/>
          </a:solidFill>
          <a:ln w="12700">
            <a:solidFill>
              <a:schemeClr val="accent2"/>
            </a:solidFill>
            <a:prstDash val="solid"/>
          </a:ln>
        </p:spPr>
      </p:sp>
      <p:sp>
        <p:nvSpPr>
          <p:cNvPr id="29" name="Room B-201"/>
          <p:cNvSpPr/>
          <p:nvPr/>
        </p:nvSpPr>
        <p:spPr>
          <a:xfrm>
            <a:off x="6556248" y="1463040"/>
            <a:ext cx="1005840" cy="713232"/>
          </a:xfrm>
          <a:prstGeom prst="roundRect">
            <a:avLst>
              <a:gd name="adj" fmla="val 15385"/>
            </a:avLst>
          </a:prstGeom>
          <a:solidFill>
            <a:schemeClr val="accent1"/>
          </a:solidFill>
          <a:ln/>
        </p:spPr>
      </p:sp>
      <p:sp>
        <p:nvSpPr>
          <p:cNvPr id="30" name="Text 28"/>
          <p:cNvSpPr txBox="1"/>
          <p:nvPr/>
        </p:nvSpPr>
        <p:spPr>
          <a:xfrm>
            <a:off x="6665976" y="1554480"/>
            <a:ext cx="731520" cy="237744"/>
          </a:xfrm>
          <a:prstGeom prst="rect">
            <a:avLst/>
          </a:prstGeom>
          <a:noFill/>
          <a:ln/>
        </p:spPr>
        <p:txBody>
          <a:bodyPr wrap="square" lIns="0" tIns="0" rIns="0" bIns="0" rtlCol="0" anchor="t"/>
          <a:lstStyle/>
          <a:p>
            <a:pPr indent="0" marL="0">
              <a:buNone/>
            </a:pPr>
            <a:r>
              <a:rPr lang="en-US" sz="1400" b="1" dirty="0">
                <a:solidFill>
                  <a:schemeClr val="tx1"/>
                </a:solidFill>
              </a:rPr>
              <a:t>B-201</a:t>
            </a:r>
            <a:endParaRPr lang="en-US" sz="1400" dirty="0"/>
          </a:p>
        </p:txBody>
      </p:sp>
      <p:sp>
        <p:nvSpPr>
          <p:cNvPr id="31" name="Text 29"/>
          <p:cNvSpPr txBox="1"/>
          <p:nvPr/>
        </p:nvSpPr>
        <p:spPr>
          <a:xfrm>
            <a:off x="6665976" y="1847088"/>
            <a:ext cx="868680" cy="182880"/>
          </a:xfrm>
          <a:prstGeom prst="rect">
            <a:avLst/>
          </a:prstGeom>
          <a:noFill/>
          <a:ln/>
        </p:spPr>
        <p:txBody>
          <a:bodyPr wrap="square" lIns="0" tIns="0" rIns="0" bIns="0" rtlCol="0" anchor="t"/>
          <a:lstStyle/>
          <a:p>
            <a:pPr indent="0" marL="0">
              <a:buNone/>
            </a:pPr>
            <a:r>
              <a:rPr lang="en-US" sz="1000" b="1" dirty="0">
                <a:solidFill>
                  <a:schemeClr val="tx1"/>
                </a:solidFill>
              </a:rPr>
              <a:t>FULL</a:t>
            </a:r>
            <a:endParaRPr lang="en-US" sz="1000" dirty="0"/>
          </a:p>
        </p:txBody>
      </p:sp>
      <p:sp>
        <p:nvSpPr>
          <p:cNvPr id="32" name="Bed"/>
          <p:cNvSpPr/>
          <p:nvPr/>
        </p:nvSpPr>
        <p:spPr>
          <a:xfrm>
            <a:off x="7196328" y="1572768"/>
            <a:ext cx="118872" cy="118872"/>
          </a:xfrm>
          <a:prstGeom prst="ellipse">
            <a:avLst/>
          </a:prstGeom>
          <a:solidFill>
            <a:schemeClr val="tx1"/>
          </a:solidFill>
          <a:ln/>
        </p:spPr>
      </p:sp>
      <p:sp>
        <p:nvSpPr>
          <p:cNvPr id="33" name="Bed"/>
          <p:cNvSpPr/>
          <p:nvPr/>
        </p:nvSpPr>
        <p:spPr>
          <a:xfrm>
            <a:off x="7360920" y="1572768"/>
            <a:ext cx="118872" cy="118872"/>
          </a:xfrm>
          <a:prstGeom prst="ellipse">
            <a:avLst/>
          </a:prstGeom>
          <a:solidFill>
            <a:schemeClr val="tx1"/>
          </a:solidFill>
          <a:ln/>
        </p:spPr>
      </p:sp>
      <p:sp>
        <p:nvSpPr>
          <p:cNvPr id="34" name="Room B-202"/>
          <p:cNvSpPr/>
          <p:nvPr/>
        </p:nvSpPr>
        <p:spPr>
          <a:xfrm>
            <a:off x="7671816" y="1463040"/>
            <a:ext cx="1005840" cy="713232"/>
          </a:xfrm>
          <a:prstGeom prst="roundRect">
            <a:avLst>
              <a:gd name="adj" fmla="val 15385"/>
            </a:avLst>
          </a:prstGeom>
          <a:solidFill>
            <a:schemeClr val="accent3"/>
          </a:solidFill>
          <a:ln/>
        </p:spPr>
      </p:sp>
      <p:sp>
        <p:nvSpPr>
          <p:cNvPr id="35" name="Text 33"/>
          <p:cNvSpPr txBox="1"/>
          <p:nvPr/>
        </p:nvSpPr>
        <p:spPr>
          <a:xfrm>
            <a:off x="7781544" y="1554480"/>
            <a:ext cx="731520" cy="237744"/>
          </a:xfrm>
          <a:prstGeom prst="rect">
            <a:avLst/>
          </a:prstGeom>
          <a:noFill/>
          <a:ln/>
        </p:spPr>
        <p:txBody>
          <a:bodyPr wrap="square" lIns="0" tIns="0" rIns="0" bIns="0" rtlCol="0" anchor="t"/>
          <a:lstStyle/>
          <a:p>
            <a:pPr indent="0" marL="0">
              <a:buNone/>
            </a:pPr>
            <a:r>
              <a:rPr lang="en-US" sz="1400" b="1" dirty="0">
                <a:solidFill>
                  <a:schemeClr val="tx1"/>
                </a:solidFill>
              </a:rPr>
              <a:t>B-202</a:t>
            </a:r>
            <a:endParaRPr lang="en-US" sz="1400" dirty="0"/>
          </a:p>
        </p:txBody>
      </p:sp>
      <p:sp>
        <p:nvSpPr>
          <p:cNvPr id="36" name="Text 34"/>
          <p:cNvSpPr txBox="1"/>
          <p:nvPr/>
        </p:nvSpPr>
        <p:spPr>
          <a:xfrm>
            <a:off x="7781544" y="1847088"/>
            <a:ext cx="868680" cy="182880"/>
          </a:xfrm>
          <a:prstGeom prst="rect">
            <a:avLst/>
          </a:prstGeom>
          <a:noFill/>
          <a:ln/>
        </p:spPr>
        <p:txBody>
          <a:bodyPr wrap="square" lIns="0" tIns="0" rIns="0" bIns="0" rtlCol="0" anchor="t"/>
          <a:lstStyle/>
          <a:p>
            <a:pPr indent="0" marL="0">
              <a:buNone/>
            </a:pPr>
            <a:r>
              <a:rPr lang="en-US" sz="1000" b="1" dirty="0">
                <a:solidFill>
                  <a:schemeClr val="tx1"/>
                </a:solidFill>
              </a:rPr>
              <a:t>MAINTENANCE</a:t>
            </a:r>
            <a:endParaRPr lang="en-US" sz="1000" dirty="0"/>
          </a:p>
        </p:txBody>
      </p:sp>
      <p:sp>
        <p:nvSpPr>
          <p:cNvPr id="37" name="Room B-203"/>
          <p:cNvSpPr/>
          <p:nvPr/>
        </p:nvSpPr>
        <p:spPr>
          <a:xfrm>
            <a:off x="5440680" y="2286000"/>
            <a:ext cx="1005840" cy="713232"/>
          </a:xfrm>
          <a:prstGeom prst="roundRect">
            <a:avLst>
              <a:gd name="adj" fmla="val 15385"/>
            </a:avLst>
          </a:prstGeom>
          <a:solidFill>
            <a:schemeClr val="tx2"/>
          </a:solidFill>
          <a:ln w="19050">
            <a:solidFill>
              <a:schemeClr val="accent2"/>
            </a:solidFill>
            <a:prstDash val="solid"/>
          </a:ln>
        </p:spPr>
      </p:sp>
      <p:sp>
        <p:nvSpPr>
          <p:cNvPr id="38" name="Text 36"/>
          <p:cNvSpPr txBox="1"/>
          <p:nvPr/>
        </p:nvSpPr>
        <p:spPr>
          <a:xfrm>
            <a:off x="5550408" y="2377440"/>
            <a:ext cx="731520" cy="237744"/>
          </a:xfrm>
          <a:prstGeom prst="rect">
            <a:avLst/>
          </a:prstGeom>
          <a:noFill/>
          <a:ln/>
        </p:spPr>
        <p:txBody>
          <a:bodyPr wrap="square" lIns="0" tIns="0" rIns="0" bIns="0" rtlCol="0" anchor="t"/>
          <a:lstStyle/>
          <a:p>
            <a:pPr indent="0" marL="0">
              <a:buNone/>
            </a:pPr>
            <a:r>
              <a:rPr lang="en-US" sz="1400" b="1" dirty="0">
                <a:solidFill>
                  <a:schemeClr val="accent6"/>
                </a:solidFill>
              </a:rPr>
              <a:t>B-203</a:t>
            </a:r>
            <a:endParaRPr lang="en-US" sz="1400" dirty="0"/>
          </a:p>
        </p:txBody>
      </p:sp>
      <p:sp>
        <p:nvSpPr>
          <p:cNvPr id="39" name="Text 37"/>
          <p:cNvSpPr txBox="1"/>
          <p:nvPr/>
        </p:nvSpPr>
        <p:spPr>
          <a:xfrm>
            <a:off x="5550408" y="2670048"/>
            <a:ext cx="868680" cy="182880"/>
          </a:xfrm>
          <a:prstGeom prst="rect">
            <a:avLst/>
          </a:prstGeom>
          <a:noFill/>
          <a:ln/>
        </p:spPr>
        <p:txBody>
          <a:bodyPr wrap="square" lIns="0" tIns="0" rIns="0" bIns="0" rtlCol="0" anchor="t"/>
          <a:lstStyle/>
          <a:p>
            <a:pPr indent="0" marL="0">
              <a:buNone/>
            </a:pPr>
            <a:r>
              <a:rPr lang="en-US" sz="1000" b="1" dirty="0">
                <a:solidFill>
                  <a:schemeClr val="accent6"/>
                </a:solidFill>
              </a:rPr>
              <a:t>AVAILABLE</a:t>
            </a:r>
            <a:endParaRPr lang="en-US" sz="1000" dirty="0"/>
          </a:p>
        </p:txBody>
      </p:sp>
      <p:sp>
        <p:nvSpPr>
          <p:cNvPr id="40" name="Bed"/>
          <p:cNvSpPr/>
          <p:nvPr/>
        </p:nvSpPr>
        <p:spPr>
          <a:xfrm>
            <a:off x="6080760" y="2395728"/>
            <a:ext cx="118872" cy="118872"/>
          </a:xfrm>
          <a:prstGeom prst="ellipse">
            <a:avLst/>
          </a:prstGeom>
          <a:solidFill>
            <a:schemeClr val="accent2"/>
          </a:solidFill>
          <a:ln/>
        </p:spPr>
      </p:sp>
      <p:sp>
        <p:nvSpPr>
          <p:cNvPr id="41" name="Bed"/>
          <p:cNvSpPr/>
          <p:nvPr/>
        </p:nvSpPr>
        <p:spPr>
          <a:xfrm>
            <a:off x="6245352" y="2395728"/>
            <a:ext cx="118872" cy="118872"/>
          </a:xfrm>
          <a:prstGeom prst="ellipse">
            <a:avLst/>
          </a:prstGeom>
          <a:solidFill>
            <a:schemeClr val="tx2"/>
          </a:solidFill>
          <a:ln w="12700">
            <a:solidFill>
              <a:schemeClr val="accent2"/>
            </a:solidFill>
            <a:prstDash val="solid"/>
          </a:ln>
        </p:spPr>
      </p:sp>
      <p:sp>
        <p:nvSpPr>
          <p:cNvPr id="42" name="Room B-204"/>
          <p:cNvSpPr/>
          <p:nvPr/>
        </p:nvSpPr>
        <p:spPr>
          <a:xfrm>
            <a:off x="6556248" y="2286000"/>
            <a:ext cx="1005840" cy="713232"/>
          </a:xfrm>
          <a:prstGeom prst="roundRect">
            <a:avLst>
              <a:gd name="adj" fmla="val 15385"/>
            </a:avLst>
          </a:prstGeom>
          <a:solidFill>
            <a:schemeClr val="accent1"/>
          </a:solidFill>
          <a:ln/>
        </p:spPr>
      </p:sp>
      <p:sp>
        <p:nvSpPr>
          <p:cNvPr id="43" name="Text 41"/>
          <p:cNvSpPr txBox="1"/>
          <p:nvPr/>
        </p:nvSpPr>
        <p:spPr>
          <a:xfrm>
            <a:off x="6665976" y="2377440"/>
            <a:ext cx="731520" cy="237744"/>
          </a:xfrm>
          <a:prstGeom prst="rect">
            <a:avLst/>
          </a:prstGeom>
          <a:noFill/>
          <a:ln/>
        </p:spPr>
        <p:txBody>
          <a:bodyPr wrap="square" lIns="0" tIns="0" rIns="0" bIns="0" rtlCol="0" anchor="t"/>
          <a:lstStyle/>
          <a:p>
            <a:pPr indent="0" marL="0">
              <a:buNone/>
            </a:pPr>
            <a:r>
              <a:rPr lang="en-US" sz="1400" b="1" dirty="0">
                <a:solidFill>
                  <a:schemeClr val="tx1"/>
                </a:solidFill>
              </a:rPr>
              <a:t>B-204</a:t>
            </a:r>
            <a:endParaRPr lang="en-US" sz="1400" dirty="0"/>
          </a:p>
        </p:txBody>
      </p:sp>
      <p:sp>
        <p:nvSpPr>
          <p:cNvPr id="44" name="Text 42"/>
          <p:cNvSpPr txBox="1"/>
          <p:nvPr/>
        </p:nvSpPr>
        <p:spPr>
          <a:xfrm>
            <a:off x="6665976" y="2670048"/>
            <a:ext cx="868680" cy="182880"/>
          </a:xfrm>
          <a:prstGeom prst="rect">
            <a:avLst/>
          </a:prstGeom>
          <a:noFill/>
          <a:ln/>
        </p:spPr>
        <p:txBody>
          <a:bodyPr wrap="square" lIns="0" tIns="0" rIns="0" bIns="0" rtlCol="0" anchor="t"/>
          <a:lstStyle/>
          <a:p>
            <a:pPr indent="0" marL="0">
              <a:buNone/>
            </a:pPr>
            <a:r>
              <a:rPr lang="en-US" sz="1000" b="1" dirty="0">
                <a:solidFill>
                  <a:schemeClr val="tx1"/>
                </a:solidFill>
              </a:rPr>
              <a:t>FULL</a:t>
            </a:r>
            <a:endParaRPr lang="en-US" sz="1000" dirty="0"/>
          </a:p>
        </p:txBody>
      </p:sp>
      <p:sp>
        <p:nvSpPr>
          <p:cNvPr id="45" name="Bed"/>
          <p:cNvSpPr/>
          <p:nvPr/>
        </p:nvSpPr>
        <p:spPr>
          <a:xfrm>
            <a:off x="7196328" y="2395728"/>
            <a:ext cx="118872" cy="118872"/>
          </a:xfrm>
          <a:prstGeom prst="ellipse">
            <a:avLst/>
          </a:prstGeom>
          <a:solidFill>
            <a:schemeClr val="tx1"/>
          </a:solidFill>
          <a:ln/>
        </p:spPr>
      </p:sp>
      <p:sp>
        <p:nvSpPr>
          <p:cNvPr id="46" name="Bed"/>
          <p:cNvSpPr/>
          <p:nvPr/>
        </p:nvSpPr>
        <p:spPr>
          <a:xfrm>
            <a:off x="7360920" y="2395728"/>
            <a:ext cx="118872" cy="118872"/>
          </a:xfrm>
          <a:prstGeom prst="ellipse">
            <a:avLst/>
          </a:prstGeom>
          <a:solidFill>
            <a:schemeClr val="tx1"/>
          </a:solidFill>
          <a:ln/>
        </p:spPr>
      </p:sp>
      <p:sp>
        <p:nvSpPr>
          <p:cNvPr id="47" name="Room C-301"/>
          <p:cNvSpPr/>
          <p:nvPr/>
        </p:nvSpPr>
        <p:spPr>
          <a:xfrm>
            <a:off x="7671816" y="2286000"/>
            <a:ext cx="1005840" cy="713232"/>
          </a:xfrm>
          <a:prstGeom prst="roundRect">
            <a:avLst>
              <a:gd name="adj" fmla="val 15385"/>
            </a:avLst>
          </a:prstGeom>
          <a:solidFill>
            <a:schemeClr val="tx2"/>
          </a:solidFill>
          <a:ln w="19050">
            <a:solidFill>
              <a:schemeClr val="accent2"/>
            </a:solidFill>
            <a:prstDash val="solid"/>
          </a:ln>
        </p:spPr>
      </p:sp>
      <p:sp>
        <p:nvSpPr>
          <p:cNvPr id="48" name="Text 46"/>
          <p:cNvSpPr txBox="1"/>
          <p:nvPr/>
        </p:nvSpPr>
        <p:spPr>
          <a:xfrm>
            <a:off x="7781544" y="2377440"/>
            <a:ext cx="731520" cy="237744"/>
          </a:xfrm>
          <a:prstGeom prst="rect">
            <a:avLst/>
          </a:prstGeom>
          <a:noFill/>
          <a:ln/>
        </p:spPr>
        <p:txBody>
          <a:bodyPr wrap="square" lIns="0" tIns="0" rIns="0" bIns="0" rtlCol="0" anchor="t"/>
          <a:lstStyle/>
          <a:p>
            <a:pPr indent="0" marL="0">
              <a:buNone/>
            </a:pPr>
            <a:r>
              <a:rPr lang="en-US" sz="1400" b="1" dirty="0">
                <a:solidFill>
                  <a:schemeClr val="accent6"/>
                </a:solidFill>
              </a:rPr>
              <a:t>C-301</a:t>
            </a:r>
            <a:endParaRPr lang="en-US" sz="1400" dirty="0"/>
          </a:p>
        </p:txBody>
      </p:sp>
      <p:sp>
        <p:nvSpPr>
          <p:cNvPr id="49" name="Text 47"/>
          <p:cNvSpPr txBox="1"/>
          <p:nvPr/>
        </p:nvSpPr>
        <p:spPr>
          <a:xfrm>
            <a:off x="7781544" y="2670048"/>
            <a:ext cx="868680" cy="182880"/>
          </a:xfrm>
          <a:prstGeom prst="rect">
            <a:avLst/>
          </a:prstGeom>
          <a:noFill/>
          <a:ln/>
        </p:spPr>
        <p:txBody>
          <a:bodyPr wrap="square" lIns="0" tIns="0" rIns="0" bIns="0" rtlCol="0" anchor="t"/>
          <a:lstStyle/>
          <a:p>
            <a:pPr indent="0" marL="0">
              <a:buNone/>
            </a:pPr>
            <a:r>
              <a:rPr lang="en-US" sz="1000" b="1" dirty="0">
                <a:solidFill>
                  <a:schemeClr val="accent6"/>
                </a:solidFill>
              </a:rPr>
              <a:t>AVAILABLE</a:t>
            </a:r>
            <a:endParaRPr lang="en-US" sz="1000" dirty="0"/>
          </a:p>
        </p:txBody>
      </p:sp>
      <p:sp>
        <p:nvSpPr>
          <p:cNvPr id="50" name="Bed"/>
          <p:cNvSpPr/>
          <p:nvPr/>
        </p:nvSpPr>
        <p:spPr>
          <a:xfrm>
            <a:off x="8311896" y="2395728"/>
            <a:ext cx="118872" cy="118872"/>
          </a:xfrm>
          <a:prstGeom prst="ellipse">
            <a:avLst/>
          </a:prstGeom>
          <a:solidFill>
            <a:schemeClr val="accent2"/>
          </a:solidFill>
          <a:ln/>
        </p:spPr>
      </p:sp>
      <p:sp>
        <p:nvSpPr>
          <p:cNvPr id="51" name="Bed"/>
          <p:cNvSpPr/>
          <p:nvPr/>
        </p:nvSpPr>
        <p:spPr>
          <a:xfrm>
            <a:off x="8476488" y="2395728"/>
            <a:ext cx="118872" cy="118872"/>
          </a:xfrm>
          <a:prstGeom prst="ellipse">
            <a:avLst/>
          </a:prstGeom>
          <a:solidFill>
            <a:schemeClr val="tx2"/>
          </a:solidFill>
          <a:ln w="12700">
            <a:solidFill>
              <a:schemeClr val="accent2"/>
            </a:solidFill>
            <a:prstDash val="solid"/>
          </a:ln>
        </p:spPr>
      </p:sp>
      <p:sp>
        <p:nvSpPr>
          <p:cNvPr id="52" name="Room C-302"/>
          <p:cNvSpPr/>
          <p:nvPr/>
        </p:nvSpPr>
        <p:spPr>
          <a:xfrm>
            <a:off x="5440680" y="3108960"/>
            <a:ext cx="1005840" cy="713232"/>
          </a:xfrm>
          <a:prstGeom prst="roundRect">
            <a:avLst>
              <a:gd name="adj" fmla="val 15385"/>
            </a:avLst>
          </a:prstGeom>
          <a:solidFill>
            <a:schemeClr val="accent1"/>
          </a:solidFill>
          <a:ln/>
        </p:spPr>
      </p:sp>
      <p:sp>
        <p:nvSpPr>
          <p:cNvPr id="53" name="Text 51"/>
          <p:cNvSpPr txBox="1"/>
          <p:nvPr/>
        </p:nvSpPr>
        <p:spPr>
          <a:xfrm>
            <a:off x="5550408" y="3200400"/>
            <a:ext cx="731520" cy="237744"/>
          </a:xfrm>
          <a:prstGeom prst="rect">
            <a:avLst/>
          </a:prstGeom>
          <a:noFill/>
          <a:ln/>
        </p:spPr>
        <p:txBody>
          <a:bodyPr wrap="square" lIns="0" tIns="0" rIns="0" bIns="0" rtlCol="0" anchor="t"/>
          <a:lstStyle/>
          <a:p>
            <a:pPr indent="0" marL="0">
              <a:buNone/>
            </a:pPr>
            <a:r>
              <a:rPr lang="en-US" sz="1400" b="1" dirty="0">
                <a:solidFill>
                  <a:schemeClr val="tx1"/>
                </a:solidFill>
              </a:rPr>
              <a:t>C-302</a:t>
            </a:r>
            <a:endParaRPr lang="en-US" sz="1400" dirty="0"/>
          </a:p>
        </p:txBody>
      </p:sp>
      <p:sp>
        <p:nvSpPr>
          <p:cNvPr id="54" name="Text 52"/>
          <p:cNvSpPr txBox="1"/>
          <p:nvPr/>
        </p:nvSpPr>
        <p:spPr>
          <a:xfrm>
            <a:off x="5550408" y="3493008"/>
            <a:ext cx="868680" cy="182880"/>
          </a:xfrm>
          <a:prstGeom prst="rect">
            <a:avLst/>
          </a:prstGeom>
          <a:noFill/>
          <a:ln/>
        </p:spPr>
        <p:txBody>
          <a:bodyPr wrap="square" lIns="0" tIns="0" rIns="0" bIns="0" rtlCol="0" anchor="t"/>
          <a:lstStyle/>
          <a:p>
            <a:pPr indent="0" marL="0">
              <a:buNone/>
            </a:pPr>
            <a:r>
              <a:rPr lang="en-US" sz="1000" b="1" dirty="0">
                <a:solidFill>
                  <a:schemeClr val="tx1"/>
                </a:solidFill>
              </a:rPr>
              <a:t>FULL</a:t>
            </a:r>
            <a:endParaRPr lang="en-US" sz="1000" dirty="0"/>
          </a:p>
        </p:txBody>
      </p:sp>
      <p:sp>
        <p:nvSpPr>
          <p:cNvPr id="55" name="Bed"/>
          <p:cNvSpPr/>
          <p:nvPr/>
        </p:nvSpPr>
        <p:spPr>
          <a:xfrm>
            <a:off x="6080760" y="3218688"/>
            <a:ext cx="118872" cy="118872"/>
          </a:xfrm>
          <a:prstGeom prst="ellipse">
            <a:avLst/>
          </a:prstGeom>
          <a:solidFill>
            <a:schemeClr val="tx1"/>
          </a:solidFill>
          <a:ln/>
        </p:spPr>
      </p:sp>
      <p:sp>
        <p:nvSpPr>
          <p:cNvPr id="56" name="Bed"/>
          <p:cNvSpPr/>
          <p:nvPr/>
        </p:nvSpPr>
        <p:spPr>
          <a:xfrm>
            <a:off x="6245352" y="3218688"/>
            <a:ext cx="118872" cy="118872"/>
          </a:xfrm>
          <a:prstGeom prst="ellipse">
            <a:avLst/>
          </a:prstGeom>
          <a:solidFill>
            <a:schemeClr val="tx1"/>
          </a:solidFill>
          <a:ln/>
        </p:spPr>
      </p:sp>
      <p:sp>
        <p:nvSpPr>
          <p:cNvPr id="57" name="Room C-303"/>
          <p:cNvSpPr/>
          <p:nvPr/>
        </p:nvSpPr>
        <p:spPr>
          <a:xfrm>
            <a:off x="6556248" y="3108960"/>
            <a:ext cx="1005840" cy="713232"/>
          </a:xfrm>
          <a:prstGeom prst="roundRect">
            <a:avLst>
              <a:gd name="adj" fmla="val 15385"/>
            </a:avLst>
          </a:prstGeom>
          <a:solidFill>
            <a:schemeClr val="tx2"/>
          </a:solidFill>
          <a:ln w="19050">
            <a:solidFill>
              <a:schemeClr val="accent2"/>
            </a:solidFill>
            <a:prstDash val="solid"/>
          </a:ln>
        </p:spPr>
      </p:sp>
      <p:sp>
        <p:nvSpPr>
          <p:cNvPr id="58" name="Text 56"/>
          <p:cNvSpPr txBox="1"/>
          <p:nvPr/>
        </p:nvSpPr>
        <p:spPr>
          <a:xfrm>
            <a:off x="6665976" y="3200400"/>
            <a:ext cx="731520" cy="237744"/>
          </a:xfrm>
          <a:prstGeom prst="rect">
            <a:avLst/>
          </a:prstGeom>
          <a:noFill/>
          <a:ln/>
        </p:spPr>
        <p:txBody>
          <a:bodyPr wrap="square" lIns="0" tIns="0" rIns="0" bIns="0" rtlCol="0" anchor="t"/>
          <a:lstStyle/>
          <a:p>
            <a:pPr indent="0" marL="0">
              <a:buNone/>
            </a:pPr>
            <a:r>
              <a:rPr lang="en-US" sz="1400" b="1" dirty="0">
                <a:solidFill>
                  <a:schemeClr val="accent6"/>
                </a:solidFill>
              </a:rPr>
              <a:t>C-303</a:t>
            </a:r>
            <a:endParaRPr lang="en-US" sz="1400" dirty="0"/>
          </a:p>
        </p:txBody>
      </p:sp>
      <p:sp>
        <p:nvSpPr>
          <p:cNvPr id="59" name="Text 57"/>
          <p:cNvSpPr txBox="1"/>
          <p:nvPr/>
        </p:nvSpPr>
        <p:spPr>
          <a:xfrm>
            <a:off x="6665976" y="3493008"/>
            <a:ext cx="868680" cy="182880"/>
          </a:xfrm>
          <a:prstGeom prst="rect">
            <a:avLst/>
          </a:prstGeom>
          <a:noFill/>
          <a:ln/>
        </p:spPr>
        <p:txBody>
          <a:bodyPr wrap="square" lIns="0" tIns="0" rIns="0" bIns="0" rtlCol="0" anchor="t"/>
          <a:lstStyle/>
          <a:p>
            <a:pPr indent="0" marL="0">
              <a:buNone/>
            </a:pPr>
            <a:r>
              <a:rPr lang="en-US" sz="1000" b="1" dirty="0">
                <a:solidFill>
                  <a:schemeClr val="accent6"/>
                </a:solidFill>
              </a:rPr>
              <a:t>AVAILABLE</a:t>
            </a:r>
            <a:endParaRPr lang="en-US" sz="1000" dirty="0"/>
          </a:p>
        </p:txBody>
      </p:sp>
      <p:sp>
        <p:nvSpPr>
          <p:cNvPr id="60" name="Bed"/>
          <p:cNvSpPr/>
          <p:nvPr/>
        </p:nvSpPr>
        <p:spPr>
          <a:xfrm>
            <a:off x="7196328" y="3218688"/>
            <a:ext cx="118872" cy="118872"/>
          </a:xfrm>
          <a:prstGeom prst="ellipse">
            <a:avLst/>
          </a:prstGeom>
          <a:solidFill>
            <a:schemeClr val="accent2"/>
          </a:solidFill>
          <a:ln/>
        </p:spPr>
      </p:sp>
      <p:sp>
        <p:nvSpPr>
          <p:cNvPr id="61" name="Bed"/>
          <p:cNvSpPr/>
          <p:nvPr/>
        </p:nvSpPr>
        <p:spPr>
          <a:xfrm>
            <a:off x="7360920" y="3218688"/>
            <a:ext cx="118872" cy="118872"/>
          </a:xfrm>
          <a:prstGeom prst="ellipse">
            <a:avLst/>
          </a:prstGeom>
          <a:solidFill>
            <a:schemeClr val="tx2"/>
          </a:solidFill>
          <a:ln w="12700">
            <a:solidFill>
              <a:schemeClr val="accent2"/>
            </a:solidFill>
            <a:prstDash val="solid"/>
          </a:ln>
        </p:spPr>
      </p:sp>
      <p:sp>
        <p:nvSpPr>
          <p:cNvPr id="62" name="Room C-304"/>
          <p:cNvSpPr/>
          <p:nvPr/>
        </p:nvSpPr>
        <p:spPr>
          <a:xfrm>
            <a:off x="7671816" y="3108960"/>
            <a:ext cx="1005840" cy="713232"/>
          </a:xfrm>
          <a:prstGeom prst="roundRect">
            <a:avLst>
              <a:gd name="adj" fmla="val 15385"/>
            </a:avLst>
          </a:prstGeom>
          <a:solidFill>
            <a:schemeClr val="accent1"/>
          </a:solidFill>
          <a:ln/>
        </p:spPr>
      </p:sp>
      <p:sp>
        <p:nvSpPr>
          <p:cNvPr id="63" name="Text 61"/>
          <p:cNvSpPr txBox="1"/>
          <p:nvPr/>
        </p:nvSpPr>
        <p:spPr>
          <a:xfrm>
            <a:off x="7781544" y="3200400"/>
            <a:ext cx="731520" cy="237744"/>
          </a:xfrm>
          <a:prstGeom prst="rect">
            <a:avLst/>
          </a:prstGeom>
          <a:noFill/>
          <a:ln/>
        </p:spPr>
        <p:txBody>
          <a:bodyPr wrap="square" lIns="0" tIns="0" rIns="0" bIns="0" rtlCol="0" anchor="t"/>
          <a:lstStyle/>
          <a:p>
            <a:pPr indent="0" marL="0">
              <a:buNone/>
            </a:pPr>
            <a:r>
              <a:rPr lang="en-US" sz="1400" b="1" dirty="0">
                <a:solidFill>
                  <a:schemeClr val="tx1"/>
                </a:solidFill>
              </a:rPr>
              <a:t>C-304</a:t>
            </a:r>
            <a:endParaRPr lang="en-US" sz="1400" dirty="0"/>
          </a:p>
        </p:txBody>
      </p:sp>
      <p:sp>
        <p:nvSpPr>
          <p:cNvPr id="64" name="Text 62"/>
          <p:cNvSpPr txBox="1"/>
          <p:nvPr/>
        </p:nvSpPr>
        <p:spPr>
          <a:xfrm>
            <a:off x="7781544" y="3493008"/>
            <a:ext cx="868680" cy="182880"/>
          </a:xfrm>
          <a:prstGeom prst="rect">
            <a:avLst/>
          </a:prstGeom>
          <a:noFill/>
          <a:ln/>
        </p:spPr>
        <p:txBody>
          <a:bodyPr wrap="square" lIns="0" tIns="0" rIns="0" bIns="0" rtlCol="0" anchor="t"/>
          <a:lstStyle/>
          <a:p>
            <a:pPr indent="0" marL="0">
              <a:buNone/>
            </a:pPr>
            <a:r>
              <a:rPr lang="en-US" sz="1000" b="1" dirty="0">
                <a:solidFill>
                  <a:schemeClr val="tx1"/>
                </a:solidFill>
              </a:rPr>
              <a:t>FULL</a:t>
            </a:r>
            <a:endParaRPr lang="en-US" sz="1000" dirty="0"/>
          </a:p>
        </p:txBody>
      </p:sp>
      <p:sp>
        <p:nvSpPr>
          <p:cNvPr id="65" name="Bed"/>
          <p:cNvSpPr/>
          <p:nvPr/>
        </p:nvSpPr>
        <p:spPr>
          <a:xfrm>
            <a:off x="8311896" y="3218688"/>
            <a:ext cx="118872" cy="118872"/>
          </a:xfrm>
          <a:prstGeom prst="ellipse">
            <a:avLst/>
          </a:prstGeom>
          <a:solidFill>
            <a:schemeClr val="tx1"/>
          </a:solidFill>
          <a:ln/>
        </p:spPr>
      </p:sp>
      <p:sp>
        <p:nvSpPr>
          <p:cNvPr id="66" name="Bed"/>
          <p:cNvSpPr/>
          <p:nvPr/>
        </p:nvSpPr>
        <p:spPr>
          <a:xfrm>
            <a:off x="8476488" y="3218688"/>
            <a:ext cx="118872" cy="118872"/>
          </a:xfrm>
          <a:prstGeom prst="ellipse">
            <a:avLst/>
          </a:prstGeom>
          <a:solidFill>
            <a:schemeClr val="tx1"/>
          </a:solidFill>
          <a:ln/>
        </p:spPr>
      </p:sp>
      <p:sp>
        <p:nvSpPr>
          <p:cNvPr id="67" name="Legend"/>
          <p:cNvSpPr/>
          <p:nvPr/>
        </p:nvSpPr>
        <p:spPr>
          <a:xfrm>
            <a:off x="5440680" y="4187952"/>
            <a:ext cx="164592" cy="164592"/>
          </a:xfrm>
          <a:prstGeom prst="roundRect">
            <a:avLst>
              <a:gd name="adj" fmla="val 22222"/>
            </a:avLst>
          </a:prstGeom>
          <a:solidFill>
            <a:schemeClr val="accent1"/>
          </a:solidFill>
          <a:ln/>
        </p:spPr>
      </p:sp>
      <p:sp>
        <p:nvSpPr>
          <p:cNvPr id="68" name="Text 66"/>
          <p:cNvSpPr txBox="1"/>
          <p:nvPr/>
        </p:nvSpPr>
        <p:spPr>
          <a:xfrm>
            <a:off x="5678424" y="4160520"/>
            <a:ext cx="1371600" cy="228600"/>
          </a:xfrm>
          <a:prstGeom prst="rect">
            <a:avLst/>
          </a:prstGeom>
          <a:noFill/>
          <a:ln/>
        </p:spPr>
        <p:txBody>
          <a:bodyPr wrap="square" lIns="0" tIns="0" rIns="0" bIns="0" rtlCol="0" anchor="ctr"/>
          <a:lstStyle/>
          <a:p>
            <a:pPr indent="0" marL="0">
              <a:buNone/>
            </a:pPr>
            <a:r>
              <a:rPr lang="en-US" sz="1100" dirty="0">
                <a:solidFill>
                  <a:schemeClr val="accent6"/>
                </a:solidFill>
              </a:rPr>
              <a:t>Full</a:t>
            </a:r>
            <a:endParaRPr lang="en-US" sz="1100" dirty="0"/>
          </a:p>
        </p:txBody>
      </p:sp>
      <p:sp>
        <p:nvSpPr>
          <p:cNvPr id="69" name="Legend"/>
          <p:cNvSpPr/>
          <p:nvPr/>
        </p:nvSpPr>
        <p:spPr>
          <a:xfrm>
            <a:off x="6217920" y="4187952"/>
            <a:ext cx="164592" cy="164592"/>
          </a:xfrm>
          <a:prstGeom prst="roundRect">
            <a:avLst>
              <a:gd name="adj" fmla="val 22222"/>
            </a:avLst>
          </a:prstGeom>
          <a:solidFill>
            <a:schemeClr val="accent2"/>
          </a:solidFill>
          <a:ln/>
        </p:spPr>
      </p:sp>
      <p:sp>
        <p:nvSpPr>
          <p:cNvPr id="70" name="Text 68"/>
          <p:cNvSpPr txBox="1"/>
          <p:nvPr/>
        </p:nvSpPr>
        <p:spPr>
          <a:xfrm>
            <a:off x="6455664" y="4160520"/>
            <a:ext cx="1371600" cy="228600"/>
          </a:xfrm>
          <a:prstGeom prst="rect">
            <a:avLst/>
          </a:prstGeom>
          <a:noFill/>
          <a:ln/>
        </p:spPr>
        <p:txBody>
          <a:bodyPr wrap="square" lIns="0" tIns="0" rIns="0" bIns="0" rtlCol="0" anchor="ctr"/>
          <a:lstStyle/>
          <a:p>
            <a:pPr indent="0" marL="0">
              <a:buNone/>
            </a:pPr>
            <a:r>
              <a:rPr lang="en-US" sz="1100" dirty="0">
                <a:solidFill>
                  <a:schemeClr val="accent6"/>
                </a:solidFill>
              </a:rPr>
              <a:t>Available</a:t>
            </a:r>
            <a:endParaRPr lang="en-US" sz="1100" dirty="0"/>
          </a:p>
        </p:txBody>
      </p:sp>
      <p:sp>
        <p:nvSpPr>
          <p:cNvPr id="71" name="Legend"/>
          <p:cNvSpPr/>
          <p:nvPr/>
        </p:nvSpPr>
        <p:spPr>
          <a:xfrm>
            <a:off x="7269480" y="4187952"/>
            <a:ext cx="164592" cy="164592"/>
          </a:xfrm>
          <a:prstGeom prst="roundRect">
            <a:avLst>
              <a:gd name="adj" fmla="val 22222"/>
            </a:avLst>
          </a:prstGeom>
          <a:solidFill>
            <a:schemeClr val="accent3"/>
          </a:solidFill>
          <a:ln/>
        </p:spPr>
      </p:sp>
      <p:sp>
        <p:nvSpPr>
          <p:cNvPr id="72" name="Text 70"/>
          <p:cNvSpPr txBox="1"/>
          <p:nvPr/>
        </p:nvSpPr>
        <p:spPr>
          <a:xfrm>
            <a:off x="7507224" y="4160520"/>
            <a:ext cx="1371600" cy="228600"/>
          </a:xfrm>
          <a:prstGeom prst="rect">
            <a:avLst/>
          </a:prstGeom>
          <a:noFill/>
          <a:ln/>
        </p:spPr>
        <p:txBody>
          <a:bodyPr wrap="square" lIns="0" tIns="0" rIns="0" bIns="0" rtlCol="0" anchor="ctr"/>
          <a:lstStyle/>
          <a:p>
            <a:pPr indent="0" marL="0">
              <a:buNone/>
            </a:pPr>
            <a:r>
              <a:rPr lang="en-US" sz="1100" dirty="0">
                <a:solidFill>
                  <a:schemeClr val="accent6"/>
                </a:solidFill>
              </a:rPr>
              <a:t>Under maintenance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ection tag"/>
          <p:cNvSpPr/>
          <p:nvPr/>
        </p:nvSpPr>
        <p:spPr>
          <a:xfrm>
            <a:off x="457200" y="292608"/>
            <a:ext cx="1761134" cy="274320"/>
          </a:xfrm>
          <a:prstGeom prst="roundRect">
            <a:avLst>
              <a:gd name="adj" fmla="val 50000"/>
            </a:avLst>
          </a:prstGeom>
          <a:solidFill>
            <a:schemeClr val="accent1"/>
          </a:solidFill>
          <a:ln/>
        </p:spPr>
      </p:sp>
      <p:sp>
        <p:nvSpPr>
          <p:cNvPr id="3" name="Text 1"/>
          <p:cNvSpPr txBox="1"/>
          <p:nvPr/>
        </p:nvSpPr>
        <p:spPr>
          <a:xfrm>
            <a:off x="457200" y="292608"/>
            <a:ext cx="1761134" cy="274320"/>
          </a:xfrm>
          <a:prstGeom prst="rect">
            <a:avLst/>
          </a:prstGeom>
          <a:noFill/>
          <a:ln/>
        </p:spPr>
        <p:txBody>
          <a:bodyPr wrap="square" lIns="0" tIns="0" rIns="0" bIns="0" rtlCol="0" anchor="ctr"/>
          <a:lstStyle/>
          <a:p>
            <a:pPr algn="ctr" indent="0" marL="0">
              <a:buNone/>
            </a:pPr>
            <a:r>
              <a:rPr lang="en-US" sz="1000" b="1" spc="150" kern="0" dirty="0">
                <a:solidFill>
                  <a:schemeClr val="tx1"/>
                </a:solidFill>
              </a:rPr>
              <a:t>LOBBY  ·  THE TEAM</a:t>
            </a:r>
            <a:endParaRPr lang="en-US" sz="1000" dirty="0"/>
          </a:p>
        </p:txBody>
      </p:sp>
      <p:sp>
        <p:nvSpPr>
          <p:cNvPr id="4" name="Text 2"/>
          <p:cNvSpPr/>
          <p:nvPr>
            <p:ph idx="103" type="title" hasCustomPrompt="1"/>
          </p:nvPr>
        </p:nvSpPr>
        <p:spPr>
          <a:xfrm>
            <a:off x="457200" y="640080"/>
            <a:ext cx="8229600" cy="685800"/>
          </a:xfrm>
          <a:prstGeom prst="rect">
            <a:avLst/>
          </a:prstGeom>
          <a:noFill/>
          <a:ln/>
        </p:spPr>
        <p:txBody>
          <a:bodyPr wrap="square" lIns="0" tIns="0" rIns="0" bIns="0" rtlCol="0" anchor="t"/>
          <a:lstStyle/>
          <a:p>
            <a:pPr algn="l" indent="0" marL="0">
              <a:buNone/>
            </a:pPr>
            <a:r>
              <a:rPr lang="en-US" sz="3600" b="1" dirty="0">
                <a:solidFill>
                  <a:schemeClr val="tx1"/>
                </a:solidFill>
              </a:rPr>
              <a:t>Meet Team Nexus</a:t>
            </a:r>
            <a:endParaRPr lang="en-US" sz="3600" dirty="0"/>
          </a:p>
        </p:txBody>
      </p:sp>
      <p:sp>
        <p:nvSpPr>
          <p:cNvPr id="5" name="Text 3"/>
          <p:cNvSpPr txBox="1"/>
          <p:nvPr/>
        </p:nvSpPr>
        <p:spPr>
          <a:xfrm>
            <a:off x="457200" y="1298448"/>
            <a:ext cx="8229600" cy="256032"/>
          </a:xfrm>
          <a:prstGeom prst="rect">
            <a:avLst/>
          </a:prstGeom>
          <a:noFill/>
          <a:ln/>
        </p:spPr>
        <p:txBody>
          <a:bodyPr wrap="square" lIns="0" tIns="0" rIns="0" bIns="0" rtlCol="0" anchor="t"/>
          <a:lstStyle/>
          <a:p>
            <a:pPr indent="0" marL="0">
              <a:buNone/>
            </a:pPr>
            <a:r>
              <a:rPr lang="en-US" sz="1200" dirty="0">
                <a:solidFill>
                  <a:schemeClr val="accent5"/>
                </a:solidFill>
              </a:rPr>
              <a:t>Guided by Er. Ram Babu Buri (Assistant Professor)  ·  HOD: Dr. Ashok Kumar Kajla</a:t>
            </a:r>
            <a:endParaRPr lang="en-US" sz="1200" dirty="0"/>
          </a:p>
        </p:txBody>
      </p:sp>
      <p:sp>
        <p:nvSpPr>
          <p:cNvPr id="6" name="Member row"/>
          <p:cNvSpPr/>
          <p:nvPr/>
        </p:nvSpPr>
        <p:spPr>
          <a:xfrm>
            <a:off x="457200" y="1664208"/>
            <a:ext cx="8229600" cy="530352"/>
          </a:xfrm>
          <a:prstGeom prst="roundRect">
            <a:avLst>
              <a:gd name="adj" fmla="val 20690"/>
            </a:avLst>
          </a:prstGeom>
          <a:solidFill>
            <a:schemeClr val="bg1"/>
          </a:solidFill>
          <a:ln/>
          <a:effectLst>
            <a:outerShdw sx="100000" sy="100000" kx="0" ky="0" algn="bl" rotWithShape="0" blurRad="101600" dist="25400" dir="5400000">
              <a:srgbClr val="0B1F2A">
                <a:alpha val="14000"/>
              </a:srgbClr>
            </a:outerShdw>
          </a:effectLst>
        </p:spPr>
      </p:sp>
      <p:sp>
        <p:nvSpPr>
          <p:cNvPr id="7" name="Avatar"/>
          <p:cNvSpPr/>
          <p:nvPr/>
        </p:nvSpPr>
        <p:spPr>
          <a:xfrm>
            <a:off x="594360" y="1737360"/>
            <a:ext cx="384048" cy="384048"/>
          </a:xfrm>
          <a:prstGeom prst="ellipse">
            <a:avLst/>
          </a:prstGeom>
          <a:solidFill>
            <a:schemeClr val="tx1"/>
          </a:solidFill>
          <a:ln/>
        </p:spPr>
      </p:sp>
      <p:sp>
        <p:nvSpPr>
          <p:cNvPr id="8" name="Text 6"/>
          <p:cNvSpPr txBox="1"/>
          <p:nvPr/>
        </p:nvSpPr>
        <p:spPr>
          <a:xfrm>
            <a:off x="594360" y="1737360"/>
            <a:ext cx="384048" cy="384048"/>
          </a:xfrm>
          <a:prstGeom prst="rect">
            <a:avLst/>
          </a:prstGeom>
          <a:noFill/>
          <a:ln/>
        </p:spPr>
        <p:txBody>
          <a:bodyPr wrap="square" lIns="0" tIns="0" rIns="0" bIns="0" rtlCol="0" anchor="ctr"/>
          <a:lstStyle/>
          <a:p>
            <a:pPr algn="ctr" indent="0" marL="0">
              <a:buNone/>
            </a:pPr>
            <a:r>
              <a:rPr lang="en-US" sz="1300" b="1" dirty="0">
                <a:solidFill>
                  <a:schemeClr val="accent1"/>
                </a:solidFill>
              </a:rPr>
              <a:t>DS</a:t>
            </a:r>
            <a:endParaRPr lang="en-US" sz="1300" dirty="0"/>
          </a:p>
        </p:txBody>
      </p:sp>
      <p:sp>
        <p:nvSpPr>
          <p:cNvPr id="9" name="Text 7"/>
          <p:cNvSpPr txBox="1"/>
          <p:nvPr/>
        </p:nvSpPr>
        <p:spPr>
          <a:xfrm>
            <a:off x="1143000" y="1728216"/>
            <a:ext cx="2194560" cy="237744"/>
          </a:xfrm>
          <a:prstGeom prst="rect">
            <a:avLst/>
          </a:prstGeom>
          <a:noFill/>
          <a:ln/>
        </p:spPr>
        <p:txBody>
          <a:bodyPr wrap="square" lIns="0" tIns="0" rIns="0" bIns="0" rtlCol="0" anchor="t"/>
          <a:lstStyle/>
          <a:p>
            <a:pPr indent="0" marL="0">
              <a:buNone/>
            </a:pPr>
            <a:r>
              <a:rPr lang="en-US" sz="1400" b="1" dirty="0">
                <a:solidFill>
                  <a:schemeClr val="tx1"/>
                </a:solidFill>
              </a:rPr>
              <a:t>Dhruvraj Shekhawat</a:t>
            </a:r>
            <a:endParaRPr lang="en-US" sz="1400" dirty="0"/>
          </a:p>
        </p:txBody>
      </p:sp>
      <p:sp>
        <p:nvSpPr>
          <p:cNvPr id="10" name="Text 8"/>
          <p:cNvSpPr txBox="1"/>
          <p:nvPr/>
        </p:nvSpPr>
        <p:spPr>
          <a:xfrm>
            <a:off x="1143000" y="1965960"/>
            <a:ext cx="2194560" cy="164592"/>
          </a:xfrm>
          <a:prstGeom prst="rect">
            <a:avLst/>
          </a:prstGeom>
          <a:noFill/>
          <a:ln/>
        </p:spPr>
        <p:txBody>
          <a:bodyPr wrap="square" lIns="0" tIns="0" rIns="0" bIns="0" rtlCol="0" anchor="t"/>
          <a:lstStyle/>
          <a:p>
            <a:pPr indent="0" marL="0">
              <a:buNone/>
            </a:pPr>
            <a:r>
              <a:rPr lang="en-US" sz="1000" dirty="0">
                <a:solidFill>
                  <a:schemeClr val="accent5"/>
                </a:solidFill>
              </a:rPr>
              <a:t>24EARAD045</a:t>
            </a:r>
            <a:endParaRPr lang="en-US" sz="1000" dirty="0"/>
          </a:p>
        </p:txBody>
      </p:sp>
      <p:sp>
        <p:nvSpPr>
          <p:cNvPr id="11" name="Text 9"/>
          <p:cNvSpPr txBox="1"/>
          <p:nvPr/>
        </p:nvSpPr>
        <p:spPr>
          <a:xfrm>
            <a:off x="3383280" y="1664208"/>
            <a:ext cx="2011680" cy="530352"/>
          </a:xfrm>
          <a:prstGeom prst="rect">
            <a:avLst/>
          </a:prstGeom>
          <a:noFill/>
          <a:ln/>
        </p:spPr>
        <p:txBody>
          <a:bodyPr wrap="square" lIns="0" tIns="0" rIns="0" bIns="0" rtlCol="0" anchor="ctr"/>
          <a:lstStyle/>
          <a:p>
            <a:pPr indent="0" marL="0">
              <a:buNone/>
            </a:pPr>
            <a:r>
              <a:rPr lang="en-US" sz="1200" b="1" dirty="0">
                <a:solidFill>
                  <a:schemeClr val="accent5"/>
                </a:solidFill>
              </a:rPr>
              <a:t>Team Leader &amp; Backend Lead</a:t>
            </a:r>
            <a:endParaRPr lang="en-US" sz="1200" dirty="0"/>
          </a:p>
        </p:txBody>
      </p:sp>
      <p:sp>
        <p:nvSpPr>
          <p:cNvPr id="12" name="Text 10"/>
          <p:cNvSpPr txBox="1"/>
          <p:nvPr/>
        </p:nvSpPr>
        <p:spPr>
          <a:xfrm>
            <a:off x="5440680" y="1664208"/>
            <a:ext cx="3108960" cy="530352"/>
          </a:xfrm>
          <a:prstGeom prst="rect">
            <a:avLst/>
          </a:prstGeom>
          <a:noFill/>
          <a:ln/>
        </p:spPr>
        <p:txBody>
          <a:bodyPr wrap="square" lIns="0" tIns="0" rIns="0" bIns="0" rtlCol="0" anchor="ctr"/>
          <a:lstStyle/>
          <a:p>
            <a:pPr indent="0" marL="0">
              <a:buNone/>
            </a:pPr>
            <a:r>
              <a:rPr lang="en-US" sz="1200" dirty="0">
                <a:solidFill>
                  <a:schemeClr val="tx1"/>
                </a:solidFill>
              </a:rPr>
              <a:t>Authentication, Spring Boot architecture, backend integration</a:t>
            </a:r>
            <a:endParaRPr lang="en-US" sz="1200" dirty="0"/>
          </a:p>
        </p:txBody>
      </p:sp>
      <p:sp>
        <p:nvSpPr>
          <p:cNvPr id="13" name="Member row"/>
          <p:cNvSpPr/>
          <p:nvPr/>
        </p:nvSpPr>
        <p:spPr>
          <a:xfrm>
            <a:off x="457200" y="2276856"/>
            <a:ext cx="8229600" cy="530352"/>
          </a:xfrm>
          <a:prstGeom prst="roundRect">
            <a:avLst>
              <a:gd name="adj" fmla="val 20690"/>
            </a:avLst>
          </a:prstGeom>
          <a:solidFill>
            <a:schemeClr val="bg1"/>
          </a:solidFill>
          <a:ln/>
          <a:effectLst>
            <a:outerShdw sx="100000" sy="100000" kx="0" ky="0" algn="bl" rotWithShape="0" blurRad="101600" dist="25400" dir="5400000">
              <a:srgbClr val="0B1F2A">
                <a:alpha val="14000"/>
              </a:srgbClr>
            </a:outerShdw>
          </a:effectLst>
        </p:spPr>
      </p:sp>
      <p:sp>
        <p:nvSpPr>
          <p:cNvPr id="14" name="Avatar"/>
          <p:cNvSpPr/>
          <p:nvPr/>
        </p:nvSpPr>
        <p:spPr>
          <a:xfrm>
            <a:off x="594360" y="2350008"/>
            <a:ext cx="384048" cy="384048"/>
          </a:xfrm>
          <a:prstGeom prst="ellipse">
            <a:avLst/>
          </a:prstGeom>
          <a:solidFill>
            <a:schemeClr val="tx1"/>
          </a:solidFill>
          <a:ln/>
        </p:spPr>
      </p:sp>
      <p:sp>
        <p:nvSpPr>
          <p:cNvPr id="15" name="Text 13"/>
          <p:cNvSpPr txBox="1"/>
          <p:nvPr/>
        </p:nvSpPr>
        <p:spPr>
          <a:xfrm>
            <a:off x="594360" y="2350008"/>
            <a:ext cx="384048" cy="384048"/>
          </a:xfrm>
          <a:prstGeom prst="rect">
            <a:avLst/>
          </a:prstGeom>
          <a:noFill/>
          <a:ln/>
        </p:spPr>
        <p:txBody>
          <a:bodyPr wrap="square" lIns="0" tIns="0" rIns="0" bIns="0" rtlCol="0" anchor="ctr"/>
          <a:lstStyle/>
          <a:p>
            <a:pPr algn="ctr" indent="0" marL="0">
              <a:buNone/>
            </a:pPr>
            <a:r>
              <a:rPr lang="en-US" sz="1300" b="1" dirty="0">
                <a:solidFill>
                  <a:schemeClr val="accent1"/>
                </a:solidFill>
              </a:rPr>
              <a:t>DP</a:t>
            </a:r>
            <a:endParaRPr lang="en-US" sz="1300" dirty="0"/>
          </a:p>
        </p:txBody>
      </p:sp>
      <p:sp>
        <p:nvSpPr>
          <p:cNvPr id="16" name="Text 14"/>
          <p:cNvSpPr txBox="1"/>
          <p:nvPr/>
        </p:nvSpPr>
        <p:spPr>
          <a:xfrm>
            <a:off x="1143000" y="2340864"/>
            <a:ext cx="2194560" cy="237744"/>
          </a:xfrm>
          <a:prstGeom prst="rect">
            <a:avLst/>
          </a:prstGeom>
          <a:noFill/>
          <a:ln/>
        </p:spPr>
        <p:txBody>
          <a:bodyPr wrap="square" lIns="0" tIns="0" rIns="0" bIns="0" rtlCol="0" anchor="t"/>
          <a:lstStyle/>
          <a:p>
            <a:pPr indent="0" marL="0">
              <a:buNone/>
            </a:pPr>
            <a:r>
              <a:rPr lang="en-US" sz="1400" b="1" dirty="0">
                <a:solidFill>
                  <a:schemeClr val="tx1"/>
                </a:solidFill>
              </a:rPr>
              <a:t>Divyansh Paliwal</a:t>
            </a:r>
            <a:endParaRPr lang="en-US" sz="1400" dirty="0"/>
          </a:p>
        </p:txBody>
      </p:sp>
      <p:sp>
        <p:nvSpPr>
          <p:cNvPr id="17" name="Text 15"/>
          <p:cNvSpPr txBox="1"/>
          <p:nvPr/>
        </p:nvSpPr>
        <p:spPr>
          <a:xfrm>
            <a:off x="1143000" y="2578608"/>
            <a:ext cx="2194560" cy="164592"/>
          </a:xfrm>
          <a:prstGeom prst="rect">
            <a:avLst/>
          </a:prstGeom>
          <a:noFill/>
          <a:ln/>
        </p:spPr>
        <p:txBody>
          <a:bodyPr wrap="square" lIns="0" tIns="0" rIns="0" bIns="0" rtlCol="0" anchor="t"/>
          <a:lstStyle/>
          <a:p>
            <a:pPr indent="0" marL="0">
              <a:buNone/>
            </a:pPr>
            <a:r>
              <a:rPr lang="en-US" sz="1000" dirty="0">
                <a:solidFill>
                  <a:schemeClr val="accent5"/>
                </a:solidFill>
              </a:rPr>
              <a:t>24EARAD047</a:t>
            </a:r>
            <a:endParaRPr lang="en-US" sz="1000" dirty="0"/>
          </a:p>
        </p:txBody>
      </p:sp>
      <p:sp>
        <p:nvSpPr>
          <p:cNvPr id="18" name="Text 16"/>
          <p:cNvSpPr txBox="1"/>
          <p:nvPr/>
        </p:nvSpPr>
        <p:spPr>
          <a:xfrm>
            <a:off x="3383280" y="2276856"/>
            <a:ext cx="2011680" cy="530352"/>
          </a:xfrm>
          <a:prstGeom prst="rect">
            <a:avLst/>
          </a:prstGeom>
          <a:noFill/>
          <a:ln/>
        </p:spPr>
        <p:txBody>
          <a:bodyPr wrap="square" lIns="0" tIns="0" rIns="0" bIns="0" rtlCol="0" anchor="ctr"/>
          <a:lstStyle/>
          <a:p>
            <a:pPr indent="0" marL="0">
              <a:buNone/>
            </a:pPr>
            <a:r>
              <a:rPr lang="en-US" sz="1200" b="1" dirty="0">
                <a:solidFill>
                  <a:schemeClr val="accent5"/>
                </a:solidFill>
              </a:rPr>
              <a:t>Frontend, Security &amp; Documentation Lead</a:t>
            </a:r>
            <a:endParaRPr lang="en-US" sz="1200" dirty="0"/>
          </a:p>
        </p:txBody>
      </p:sp>
      <p:sp>
        <p:nvSpPr>
          <p:cNvPr id="19" name="Text 17"/>
          <p:cNvSpPr txBox="1"/>
          <p:nvPr/>
        </p:nvSpPr>
        <p:spPr>
          <a:xfrm>
            <a:off x="5440680" y="2276856"/>
            <a:ext cx="3108960" cy="530352"/>
          </a:xfrm>
          <a:prstGeom prst="rect">
            <a:avLst/>
          </a:prstGeom>
          <a:noFill/>
          <a:ln/>
        </p:spPr>
        <p:txBody>
          <a:bodyPr wrap="square" lIns="0" tIns="0" rIns="0" bIns="0" rtlCol="0" anchor="ctr"/>
          <a:lstStyle/>
          <a:p>
            <a:pPr indent="0" marL="0">
              <a:buNone/>
            </a:pPr>
            <a:r>
              <a:rPr lang="en-US" sz="1200" dirty="0">
                <a:solidFill>
                  <a:schemeClr val="tx1"/>
                </a:solidFill>
              </a:rPr>
              <a:t>Bootstrap 5 UI, sessions, validation, dashboards, report and PPT</a:t>
            </a:r>
            <a:endParaRPr lang="en-US" sz="1200" dirty="0"/>
          </a:p>
        </p:txBody>
      </p:sp>
      <p:sp>
        <p:nvSpPr>
          <p:cNvPr id="20" name="Member row"/>
          <p:cNvSpPr/>
          <p:nvPr/>
        </p:nvSpPr>
        <p:spPr>
          <a:xfrm>
            <a:off x="457200" y="2889504"/>
            <a:ext cx="8229600" cy="530352"/>
          </a:xfrm>
          <a:prstGeom prst="roundRect">
            <a:avLst>
              <a:gd name="adj" fmla="val 20690"/>
            </a:avLst>
          </a:prstGeom>
          <a:solidFill>
            <a:schemeClr val="bg1"/>
          </a:solidFill>
          <a:ln/>
          <a:effectLst>
            <a:outerShdw sx="100000" sy="100000" kx="0" ky="0" algn="bl" rotWithShape="0" blurRad="101600" dist="25400" dir="5400000">
              <a:srgbClr val="0B1F2A">
                <a:alpha val="14000"/>
              </a:srgbClr>
            </a:outerShdw>
          </a:effectLst>
        </p:spPr>
      </p:sp>
      <p:sp>
        <p:nvSpPr>
          <p:cNvPr id="21" name="Avatar"/>
          <p:cNvSpPr/>
          <p:nvPr/>
        </p:nvSpPr>
        <p:spPr>
          <a:xfrm>
            <a:off x="594360" y="2962656"/>
            <a:ext cx="384048" cy="384048"/>
          </a:xfrm>
          <a:prstGeom prst="ellipse">
            <a:avLst/>
          </a:prstGeom>
          <a:solidFill>
            <a:schemeClr val="tx1"/>
          </a:solidFill>
          <a:ln/>
        </p:spPr>
      </p:sp>
      <p:sp>
        <p:nvSpPr>
          <p:cNvPr id="22" name="Text 20"/>
          <p:cNvSpPr txBox="1"/>
          <p:nvPr/>
        </p:nvSpPr>
        <p:spPr>
          <a:xfrm>
            <a:off x="594360" y="2962656"/>
            <a:ext cx="384048" cy="384048"/>
          </a:xfrm>
          <a:prstGeom prst="rect">
            <a:avLst/>
          </a:prstGeom>
          <a:noFill/>
          <a:ln/>
        </p:spPr>
        <p:txBody>
          <a:bodyPr wrap="square" lIns="0" tIns="0" rIns="0" bIns="0" rtlCol="0" anchor="ctr"/>
          <a:lstStyle/>
          <a:p>
            <a:pPr algn="ctr" indent="0" marL="0">
              <a:buNone/>
            </a:pPr>
            <a:r>
              <a:rPr lang="en-US" sz="1300" b="1" dirty="0">
                <a:solidFill>
                  <a:schemeClr val="accent1"/>
                </a:solidFill>
              </a:rPr>
              <a:t>DK</a:t>
            </a:r>
            <a:endParaRPr lang="en-US" sz="1300" dirty="0"/>
          </a:p>
        </p:txBody>
      </p:sp>
      <p:sp>
        <p:nvSpPr>
          <p:cNvPr id="23" name="Text 21"/>
          <p:cNvSpPr txBox="1"/>
          <p:nvPr/>
        </p:nvSpPr>
        <p:spPr>
          <a:xfrm>
            <a:off x="1143000" y="2953512"/>
            <a:ext cx="2194560" cy="237744"/>
          </a:xfrm>
          <a:prstGeom prst="rect">
            <a:avLst/>
          </a:prstGeom>
          <a:noFill/>
          <a:ln/>
        </p:spPr>
        <p:txBody>
          <a:bodyPr wrap="square" lIns="0" tIns="0" rIns="0" bIns="0" rtlCol="0" anchor="t"/>
          <a:lstStyle/>
          <a:p>
            <a:pPr indent="0" marL="0">
              <a:buNone/>
            </a:pPr>
            <a:r>
              <a:rPr lang="en-US" sz="1400" b="1" dirty="0">
                <a:solidFill>
                  <a:schemeClr val="tx1"/>
                </a:solidFill>
              </a:rPr>
              <a:t>Divyanshu Kumar</a:t>
            </a:r>
            <a:endParaRPr lang="en-US" sz="1400" dirty="0"/>
          </a:p>
        </p:txBody>
      </p:sp>
      <p:sp>
        <p:nvSpPr>
          <p:cNvPr id="24" name="Text 22"/>
          <p:cNvSpPr txBox="1"/>
          <p:nvPr/>
        </p:nvSpPr>
        <p:spPr>
          <a:xfrm>
            <a:off x="1143000" y="3191256"/>
            <a:ext cx="2194560" cy="164592"/>
          </a:xfrm>
          <a:prstGeom prst="rect">
            <a:avLst/>
          </a:prstGeom>
          <a:noFill/>
          <a:ln/>
        </p:spPr>
        <p:txBody>
          <a:bodyPr wrap="square" lIns="0" tIns="0" rIns="0" bIns="0" rtlCol="0" anchor="t"/>
          <a:lstStyle/>
          <a:p>
            <a:pPr indent="0" marL="0">
              <a:buNone/>
            </a:pPr>
            <a:r>
              <a:rPr lang="en-US" sz="1000" dirty="0">
                <a:solidFill>
                  <a:schemeClr val="accent5"/>
                </a:solidFill>
              </a:rPr>
              <a:t>24EARAD048</a:t>
            </a:r>
            <a:endParaRPr lang="en-US" sz="1000" dirty="0"/>
          </a:p>
        </p:txBody>
      </p:sp>
      <p:sp>
        <p:nvSpPr>
          <p:cNvPr id="25" name="Text 23"/>
          <p:cNvSpPr txBox="1"/>
          <p:nvPr/>
        </p:nvSpPr>
        <p:spPr>
          <a:xfrm>
            <a:off x="3383280" y="2889504"/>
            <a:ext cx="2011680" cy="530352"/>
          </a:xfrm>
          <a:prstGeom prst="rect">
            <a:avLst/>
          </a:prstGeom>
          <a:noFill/>
          <a:ln/>
        </p:spPr>
        <p:txBody>
          <a:bodyPr wrap="square" lIns="0" tIns="0" rIns="0" bIns="0" rtlCol="0" anchor="ctr"/>
          <a:lstStyle/>
          <a:p>
            <a:pPr indent="0" marL="0">
              <a:buNone/>
            </a:pPr>
            <a:r>
              <a:rPr lang="en-US" sz="1200" b="1" dirty="0">
                <a:solidFill>
                  <a:schemeClr val="accent5"/>
                </a:solidFill>
              </a:rPr>
              <a:t>Finance &amp; Reporting Developer</a:t>
            </a:r>
            <a:endParaRPr lang="en-US" sz="1200" dirty="0"/>
          </a:p>
        </p:txBody>
      </p:sp>
      <p:sp>
        <p:nvSpPr>
          <p:cNvPr id="26" name="Text 24"/>
          <p:cNvSpPr txBox="1"/>
          <p:nvPr/>
        </p:nvSpPr>
        <p:spPr>
          <a:xfrm>
            <a:off x="5440680" y="2889504"/>
            <a:ext cx="3108960" cy="530352"/>
          </a:xfrm>
          <a:prstGeom prst="rect">
            <a:avLst/>
          </a:prstGeom>
          <a:noFill/>
          <a:ln/>
        </p:spPr>
        <p:txBody>
          <a:bodyPr wrap="square" lIns="0" tIns="0" rIns="0" bIns="0" rtlCol="0" anchor="ctr"/>
          <a:lstStyle/>
          <a:p>
            <a:pPr indent="0" marL="0">
              <a:buNone/>
            </a:pPr>
            <a:r>
              <a:rPr lang="en-US" sz="1200" dirty="0">
                <a:solidFill>
                  <a:schemeClr val="tx1"/>
                </a:solidFill>
              </a:rPr>
              <a:t>Fees, payments, financial logic, reports</a:t>
            </a:r>
            <a:endParaRPr lang="en-US" sz="1200" dirty="0"/>
          </a:p>
        </p:txBody>
      </p:sp>
      <p:sp>
        <p:nvSpPr>
          <p:cNvPr id="27" name="Member row"/>
          <p:cNvSpPr/>
          <p:nvPr/>
        </p:nvSpPr>
        <p:spPr>
          <a:xfrm>
            <a:off x="457200" y="3502152"/>
            <a:ext cx="8229600" cy="530352"/>
          </a:xfrm>
          <a:prstGeom prst="roundRect">
            <a:avLst>
              <a:gd name="adj" fmla="val 20690"/>
            </a:avLst>
          </a:prstGeom>
          <a:solidFill>
            <a:schemeClr val="bg1"/>
          </a:solidFill>
          <a:ln/>
          <a:effectLst>
            <a:outerShdw sx="100000" sy="100000" kx="0" ky="0" algn="bl" rotWithShape="0" blurRad="101600" dist="25400" dir="5400000">
              <a:srgbClr val="0B1F2A">
                <a:alpha val="14000"/>
              </a:srgbClr>
            </a:outerShdw>
          </a:effectLst>
        </p:spPr>
      </p:sp>
      <p:sp>
        <p:nvSpPr>
          <p:cNvPr id="28" name="Avatar"/>
          <p:cNvSpPr/>
          <p:nvPr/>
        </p:nvSpPr>
        <p:spPr>
          <a:xfrm>
            <a:off x="594360" y="3575304"/>
            <a:ext cx="384048" cy="384048"/>
          </a:xfrm>
          <a:prstGeom prst="ellipse">
            <a:avLst/>
          </a:prstGeom>
          <a:solidFill>
            <a:schemeClr val="tx1"/>
          </a:solidFill>
          <a:ln/>
        </p:spPr>
      </p:sp>
      <p:sp>
        <p:nvSpPr>
          <p:cNvPr id="29" name="Text 27"/>
          <p:cNvSpPr txBox="1"/>
          <p:nvPr/>
        </p:nvSpPr>
        <p:spPr>
          <a:xfrm>
            <a:off x="594360" y="3575304"/>
            <a:ext cx="384048" cy="384048"/>
          </a:xfrm>
          <a:prstGeom prst="rect">
            <a:avLst/>
          </a:prstGeom>
          <a:noFill/>
          <a:ln/>
        </p:spPr>
        <p:txBody>
          <a:bodyPr wrap="square" lIns="0" tIns="0" rIns="0" bIns="0" rtlCol="0" anchor="ctr"/>
          <a:lstStyle/>
          <a:p>
            <a:pPr algn="ctr" indent="0" marL="0">
              <a:buNone/>
            </a:pPr>
            <a:r>
              <a:rPr lang="en-US" sz="1300" b="1" dirty="0">
                <a:solidFill>
                  <a:schemeClr val="accent1"/>
                </a:solidFill>
              </a:rPr>
              <a:t>GS</a:t>
            </a:r>
            <a:endParaRPr lang="en-US" sz="1300" dirty="0"/>
          </a:p>
        </p:txBody>
      </p:sp>
      <p:sp>
        <p:nvSpPr>
          <p:cNvPr id="30" name="Text 28"/>
          <p:cNvSpPr txBox="1"/>
          <p:nvPr/>
        </p:nvSpPr>
        <p:spPr>
          <a:xfrm>
            <a:off x="1143000" y="3566160"/>
            <a:ext cx="2194560" cy="237744"/>
          </a:xfrm>
          <a:prstGeom prst="rect">
            <a:avLst/>
          </a:prstGeom>
          <a:noFill/>
          <a:ln/>
        </p:spPr>
        <p:txBody>
          <a:bodyPr wrap="square" lIns="0" tIns="0" rIns="0" bIns="0" rtlCol="0" anchor="t"/>
          <a:lstStyle/>
          <a:p>
            <a:pPr indent="0" marL="0">
              <a:buNone/>
            </a:pPr>
            <a:r>
              <a:rPr lang="en-US" sz="1400" b="1" dirty="0">
                <a:solidFill>
                  <a:schemeClr val="tx1"/>
                </a:solidFill>
              </a:rPr>
              <a:t>Garvit Sharma</a:t>
            </a:r>
            <a:endParaRPr lang="en-US" sz="1400" dirty="0"/>
          </a:p>
        </p:txBody>
      </p:sp>
      <p:sp>
        <p:nvSpPr>
          <p:cNvPr id="31" name="Text 29"/>
          <p:cNvSpPr txBox="1"/>
          <p:nvPr/>
        </p:nvSpPr>
        <p:spPr>
          <a:xfrm>
            <a:off x="1143000" y="3803904"/>
            <a:ext cx="2194560" cy="164592"/>
          </a:xfrm>
          <a:prstGeom prst="rect">
            <a:avLst/>
          </a:prstGeom>
          <a:noFill/>
          <a:ln/>
        </p:spPr>
        <p:txBody>
          <a:bodyPr wrap="square" lIns="0" tIns="0" rIns="0" bIns="0" rtlCol="0" anchor="t"/>
          <a:lstStyle/>
          <a:p>
            <a:pPr indent="0" marL="0">
              <a:buNone/>
            </a:pPr>
            <a:r>
              <a:rPr lang="en-US" sz="1000" dirty="0">
                <a:solidFill>
                  <a:schemeClr val="accent5"/>
                </a:solidFill>
              </a:rPr>
              <a:t>24EARAD050</a:t>
            </a:r>
            <a:endParaRPr lang="en-US" sz="1000" dirty="0"/>
          </a:p>
        </p:txBody>
      </p:sp>
      <p:sp>
        <p:nvSpPr>
          <p:cNvPr id="32" name="Text 30"/>
          <p:cNvSpPr txBox="1"/>
          <p:nvPr/>
        </p:nvSpPr>
        <p:spPr>
          <a:xfrm>
            <a:off x="3383280" y="3502152"/>
            <a:ext cx="2011680" cy="530352"/>
          </a:xfrm>
          <a:prstGeom prst="rect">
            <a:avLst/>
          </a:prstGeom>
          <a:noFill/>
          <a:ln/>
        </p:spPr>
        <p:txBody>
          <a:bodyPr wrap="square" lIns="0" tIns="0" rIns="0" bIns="0" rtlCol="0" anchor="ctr"/>
          <a:lstStyle/>
          <a:p>
            <a:pPr indent="0" marL="0">
              <a:buNone/>
            </a:pPr>
            <a:r>
              <a:rPr lang="en-US" sz="1200" b="1" dirty="0">
                <a:solidFill>
                  <a:schemeClr val="accent5"/>
                </a:solidFill>
              </a:rPr>
              <a:t>Database &amp; Room Management Developer</a:t>
            </a:r>
            <a:endParaRPr lang="en-US" sz="1200" dirty="0"/>
          </a:p>
        </p:txBody>
      </p:sp>
      <p:sp>
        <p:nvSpPr>
          <p:cNvPr id="33" name="Text 31"/>
          <p:cNvSpPr txBox="1"/>
          <p:nvPr/>
        </p:nvSpPr>
        <p:spPr>
          <a:xfrm>
            <a:off x="5440680" y="3502152"/>
            <a:ext cx="3108960" cy="530352"/>
          </a:xfrm>
          <a:prstGeom prst="rect">
            <a:avLst/>
          </a:prstGeom>
          <a:noFill/>
          <a:ln/>
        </p:spPr>
        <p:txBody>
          <a:bodyPr wrap="square" lIns="0" tIns="0" rIns="0" bIns="0" rtlCol="0" anchor="ctr"/>
          <a:lstStyle/>
          <a:p>
            <a:pPr indent="0" marL="0">
              <a:buNone/>
            </a:pPr>
            <a:r>
              <a:rPr lang="en-US" sz="1200" dirty="0">
                <a:solidFill>
                  <a:schemeClr val="tx1"/>
                </a:solidFill>
              </a:rPr>
              <a:t>MySQL, JPA / Hibernate, rooms, allocation</a:t>
            </a:r>
            <a:endParaRPr lang="en-US" sz="1200" dirty="0"/>
          </a:p>
        </p:txBody>
      </p:sp>
      <p:sp>
        <p:nvSpPr>
          <p:cNvPr id="34" name="Member row"/>
          <p:cNvSpPr/>
          <p:nvPr/>
        </p:nvSpPr>
        <p:spPr>
          <a:xfrm>
            <a:off x="457200" y="4114800"/>
            <a:ext cx="8229600" cy="530352"/>
          </a:xfrm>
          <a:prstGeom prst="roundRect">
            <a:avLst>
              <a:gd name="adj" fmla="val 20690"/>
            </a:avLst>
          </a:prstGeom>
          <a:solidFill>
            <a:schemeClr val="bg1"/>
          </a:solidFill>
          <a:ln/>
          <a:effectLst>
            <a:outerShdw sx="100000" sy="100000" kx="0" ky="0" algn="bl" rotWithShape="0" blurRad="101600" dist="25400" dir="5400000">
              <a:srgbClr val="0B1F2A">
                <a:alpha val="14000"/>
              </a:srgbClr>
            </a:outerShdw>
          </a:effectLst>
        </p:spPr>
      </p:sp>
      <p:sp>
        <p:nvSpPr>
          <p:cNvPr id="35" name="Avatar"/>
          <p:cNvSpPr/>
          <p:nvPr/>
        </p:nvSpPr>
        <p:spPr>
          <a:xfrm>
            <a:off x="594360" y="4187952"/>
            <a:ext cx="384048" cy="384048"/>
          </a:xfrm>
          <a:prstGeom prst="ellipse">
            <a:avLst/>
          </a:prstGeom>
          <a:solidFill>
            <a:schemeClr val="tx1"/>
          </a:solidFill>
          <a:ln/>
        </p:spPr>
      </p:sp>
      <p:sp>
        <p:nvSpPr>
          <p:cNvPr id="36" name="Text 34"/>
          <p:cNvSpPr txBox="1"/>
          <p:nvPr/>
        </p:nvSpPr>
        <p:spPr>
          <a:xfrm>
            <a:off x="594360" y="4187952"/>
            <a:ext cx="384048" cy="384048"/>
          </a:xfrm>
          <a:prstGeom prst="rect">
            <a:avLst/>
          </a:prstGeom>
          <a:noFill/>
          <a:ln/>
        </p:spPr>
        <p:txBody>
          <a:bodyPr wrap="square" lIns="0" tIns="0" rIns="0" bIns="0" rtlCol="0" anchor="ctr"/>
          <a:lstStyle/>
          <a:p>
            <a:pPr algn="ctr" indent="0" marL="0">
              <a:buNone/>
            </a:pPr>
            <a:r>
              <a:rPr lang="en-US" sz="1300" b="1" dirty="0">
                <a:solidFill>
                  <a:schemeClr val="accent1"/>
                </a:solidFill>
              </a:rPr>
              <a:t>HS</a:t>
            </a:r>
            <a:endParaRPr lang="en-US" sz="1300" dirty="0"/>
          </a:p>
        </p:txBody>
      </p:sp>
      <p:sp>
        <p:nvSpPr>
          <p:cNvPr id="37" name="Text 35"/>
          <p:cNvSpPr txBox="1"/>
          <p:nvPr/>
        </p:nvSpPr>
        <p:spPr>
          <a:xfrm>
            <a:off x="1143000" y="4178808"/>
            <a:ext cx="2194560" cy="237744"/>
          </a:xfrm>
          <a:prstGeom prst="rect">
            <a:avLst/>
          </a:prstGeom>
          <a:noFill/>
          <a:ln/>
        </p:spPr>
        <p:txBody>
          <a:bodyPr wrap="square" lIns="0" tIns="0" rIns="0" bIns="0" rtlCol="0" anchor="t"/>
          <a:lstStyle/>
          <a:p>
            <a:pPr indent="0" marL="0">
              <a:buNone/>
            </a:pPr>
            <a:r>
              <a:rPr lang="en-US" sz="1400" b="1" dirty="0">
                <a:solidFill>
                  <a:schemeClr val="tx1"/>
                </a:solidFill>
              </a:rPr>
              <a:t>Harsh Sharma</a:t>
            </a:r>
            <a:endParaRPr lang="en-US" sz="1400" dirty="0"/>
          </a:p>
        </p:txBody>
      </p:sp>
      <p:sp>
        <p:nvSpPr>
          <p:cNvPr id="38" name="Text 36"/>
          <p:cNvSpPr txBox="1"/>
          <p:nvPr/>
        </p:nvSpPr>
        <p:spPr>
          <a:xfrm>
            <a:off x="1143000" y="4416552"/>
            <a:ext cx="2194560" cy="164592"/>
          </a:xfrm>
          <a:prstGeom prst="rect">
            <a:avLst/>
          </a:prstGeom>
          <a:noFill/>
          <a:ln/>
        </p:spPr>
        <p:txBody>
          <a:bodyPr wrap="square" lIns="0" tIns="0" rIns="0" bIns="0" rtlCol="0" anchor="t"/>
          <a:lstStyle/>
          <a:p>
            <a:pPr indent="0" marL="0">
              <a:buNone/>
            </a:pPr>
            <a:r>
              <a:rPr lang="en-US" sz="1000" dirty="0">
                <a:solidFill>
                  <a:schemeClr val="accent5"/>
                </a:solidFill>
              </a:rPr>
              <a:t>24EARAD057</a:t>
            </a:r>
            <a:endParaRPr lang="en-US" sz="1000" dirty="0"/>
          </a:p>
        </p:txBody>
      </p:sp>
      <p:sp>
        <p:nvSpPr>
          <p:cNvPr id="39" name="Text 37"/>
          <p:cNvSpPr txBox="1"/>
          <p:nvPr/>
        </p:nvSpPr>
        <p:spPr>
          <a:xfrm>
            <a:off x="3383280" y="4114800"/>
            <a:ext cx="2011680" cy="530352"/>
          </a:xfrm>
          <a:prstGeom prst="rect">
            <a:avLst/>
          </a:prstGeom>
          <a:noFill/>
          <a:ln/>
        </p:spPr>
        <p:txBody>
          <a:bodyPr wrap="square" lIns="0" tIns="0" rIns="0" bIns="0" rtlCol="0" anchor="ctr"/>
          <a:lstStyle/>
          <a:p>
            <a:pPr indent="0" marL="0">
              <a:buNone/>
            </a:pPr>
            <a:r>
              <a:rPr lang="en-US" sz="1200" b="1" dirty="0">
                <a:solidFill>
                  <a:schemeClr val="accent5"/>
                </a:solidFill>
              </a:rPr>
              <a:t>Student &amp; Complaint Module Developer</a:t>
            </a:r>
            <a:endParaRPr lang="en-US" sz="1200" dirty="0"/>
          </a:p>
        </p:txBody>
      </p:sp>
      <p:sp>
        <p:nvSpPr>
          <p:cNvPr id="40" name="Text 38"/>
          <p:cNvSpPr txBox="1"/>
          <p:nvPr/>
        </p:nvSpPr>
        <p:spPr>
          <a:xfrm>
            <a:off x="5440680" y="4114800"/>
            <a:ext cx="3108960" cy="530352"/>
          </a:xfrm>
          <a:prstGeom prst="rect">
            <a:avLst/>
          </a:prstGeom>
          <a:noFill/>
          <a:ln/>
        </p:spPr>
        <p:txBody>
          <a:bodyPr wrap="square" lIns="0" tIns="0" rIns="0" bIns="0" rtlCol="0" anchor="ctr"/>
          <a:lstStyle/>
          <a:p>
            <a:pPr indent="0" marL="0">
              <a:buNone/>
            </a:pPr>
            <a:r>
              <a:rPr lang="en-US" sz="1200" dirty="0">
                <a:solidFill>
                  <a:schemeClr val="tx1"/>
                </a:solidFill>
              </a:rPr>
              <a:t>Students, complaints, visitors, leave</a:t>
            </a:r>
            <a:endParaRPr lang="en-US" sz="1200" dirty="0"/>
          </a:p>
        </p:txBody>
      </p:sp>
      <p:sp>
        <p:nvSpPr>
          <p:cNvPr id="25" name="Slide Number Placeholder 0"/>
          <p:cNvSpPr>
            <a:spLocks noGrp="1"/>
          </p:cNvSpPr>
          <p:nvPr>
            <p:ph type="sldNum" sz="quarter" idx="4294967295"/>
          </p:nvPr>
        </p:nvSpPr>
        <p:spPr>
          <a:xfrm>
            <a:off x="457200" y="4846320"/>
            <a:ext cx="54864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tag"/>
          <p:cNvSpPr/>
          <p:nvPr/>
        </p:nvSpPr>
        <p:spPr>
          <a:xfrm>
            <a:off x="457200" y="292608"/>
            <a:ext cx="2136038" cy="274320"/>
          </a:xfrm>
          <a:prstGeom prst="roundRect">
            <a:avLst>
              <a:gd name="adj" fmla="val 50000"/>
            </a:avLst>
          </a:prstGeom>
          <a:solidFill>
            <a:schemeClr val="accent1"/>
          </a:solidFill>
          <a:ln/>
        </p:spPr>
      </p:sp>
      <p:sp>
        <p:nvSpPr>
          <p:cNvPr id="3" name="Text 1"/>
          <p:cNvSpPr txBox="1"/>
          <p:nvPr/>
        </p:nvSpPr>
        <p:spPr>
          <a:xfrm>
            <a:off x="457200" y="292608"/>
            <a:ext cx="2136038" cy="274320"/>
          </a:xfrm>
          <a:prstGeom prst="rect">
            <a:avLst/>
          </a:prstGeom>
          <a:noFill/>
          <a:ln/>
        </p:spPr>
        <p:txBody>
          <a:bodyPr wrap="square" lIns="0" tIns="0" rIns="0" bIns="0" rtlCol="0" anchor="ctr"/>
          <a:lstStyle/>
          <a:p>
            <a:pPr algn="ctr" indent="0" marL="0">
              <a:buNone/>
            </a:pPr>
            <a:r>
              <a:rPr lang="en-US" sz="1000" b="1" spc="150" kern="0" dirty="0">
                <a:solidFill>
                  <a:schemeClr val="tx1"/>
                </a:solidFill>
              </a:rPr>
              <a:t>FLOOR 1  ·  THE PROBLEM</a:t>
            </a:r>
            <a:endParaRPr lang="en-US" sz="1000" dirty="0"/>
          </a:p>
        </p:txBody>
      </p:sp>
      <p:sp>
        <p:nvSpPr>
          <p:cNvPr id="4" name="Text 2"/>
          <p:cNvSpPr/>
          <p:nvPr>
            <p:ph idx="103" type="title" hasCustomPrompt="1"/>
          </p:nvPr>
        </p:nvSpPr>
        <p:spPr>
          <a:xfrm>
            <a:off x="457200" y="640080"/>
            <a:ext cx="8229600" cy="685800"/>
          </a:xfrm>
          <a:prstGeom prst="rect">
            <a:avLst/>
          </a:prstGeom>
          <a:noFill/>
          <a:ln/>
        </p:spPr>
        <p:txBody>
          <a:bodyPr wrap="square" lIns="0" tIns="0" rIns="0" bIns="0" rtlCol="0" anchor="t"/>
          <a:lstStyle/>
          <a:p>
            <a:pPr algn="l" indent="0" marL="0">
              <a:buNone/>
            </a:pPr>
            <a:r>
              <a:rPr lang="en-US" sz="3600" b="1" dirty="0">
                <a:solidFill>
                  <a:schemeClr val="tx1"/>
                </a:solidFill>
              </a:rPr>
              <a:t>Hostels Run on Paper</a:t>
            </a:r>
            <a:endParaRPr lang="en-US" sz="3600" dirty="0"/>
          </a:p>
        </p:txBody>
      </p:sp>
      <p:sp>
        <p:nvSpPr>
          <p:cNvPr id="5" name="Text 3"/>
          <p:cNvSpPr txBox="1"/>
          <p:nvPr/>
        </p:nvSpPr>
        <p:spPr>
          <a:xfrm>
            <a:off x="457200" y="1325880"/>
            <a:ext cx="3291840" cy="228600"/>
          </a:xfrm>
          <a:prstGeom prst="rect">
            <a:avLst/>
          </a:prstGeom>
          <a:noFill/>
          <a:ln/>
        </p:spPr>
        <p:txBody>
          <a:bodyPr wrap="square" lIns="0" tIns="0" rIns="0" bIns="0" rtlCol="0" anchor="t"/>
          <a:lstStyle/>
          <a:p>
            <a:pPr indent="0" marL="0">
              <a:buNone/>
            </a:pPr>
            <a:r>
              <a:rPr lang="en-US" sz="1200" b="1" spc="200" kern="0" dirty="0">
                <a:solidFill>
                  <a:schemeClr val="accent5"/>
                </a:solidFill>
              </a:rPr>
              <a:t>TODAY</a:t>
            </a:r>
            <a:endParaRPr lang="en-US" sz="1200" dirty="0"/>
          </a:p>
        </p:txBody>
      </p:sp>
      <p:sp>
        <p:nvSpPr>
          <p:cNvPr id="6" name="Text 4"/>
          <p:cNvSpPr txBox="1"/>
          <p:nvPr/>
        </p:nvSpPr>
        <p:spPr>
          <a:xfrm>
            <a:off x="4297680" y="1325880"/>
            <a:ext cx="4389120" cy="228600"/>
          </a:xfrm>
          <a:prstGeom prst="rect">
            <a:avLst/>
          </a:prstGeom>
          <a:noFill/>
          <a:ln/>
        </p:spPr>
        <p:txBody>
          <a:bodyPr wrap="square" lIns="0" tIns="0" rIns="0" bIns="0" rtlCol="0" anchor="t"/>
          <a:lstStyle/>
          <a:p>
            <a:pPr indent="0" marL="0">
              <a:buNone/>
            </a:pPr>
            <a:r>
              <a:rPr lang="en-US" sz="1200" b="1" spc="200" kern="0" dirty="0">
                <a:solidFill>
                  <a:schemeClr val="accent5"/>
                </a:solidFill>
              </a:rPr>
              <a:t>WITH NEXUS</a:t>
            </a:r>
            <a:endParaRPr lang="en-US" sz="1200" dirty="0"/>
          </a:p>
        </p:txBody>
      </p:sp>
      <p:sp>
        <p:nvSpPr>
          <p:cNvPr id="7" name="Pain"/>
          <p:cNvSpPr/>
          <p:nvPr/>
        </p:nvSpPr>
        <p:spPr>
          <a:xfrm>
            <a:off x="457200" y="1627632"/>
            <a:ext cx="3291840" cy="438912"/>
          </a:xfrm>
          <a:prstGeom prst="roundRect">
            <a:avLst>
              <a:gd name="adj" fmla="val 25000"/>
            </a:avLst>
          </a:prstGeom>
          <a:solidFill>
            <a:schemeClr val="bg1"/>
          </a:solidFill>
          <a:ln/>
          <a:effectLst>
            <a:outerShdw sx="100000" sy="100000" kx="0" ky="0" algn="bl" rotWithShape="0" blurRad="101600" dist="25400" dir="5400000">
              <a:srgbClr val="0B1F2A">
                <a:alpha val="14000"/>
              </a:srgbClr>
            </a:outerShdw>
          </a:effectLst>
        </p:spPr>
      </p:sp>
      <p:pic>
        <p:nvPicPr>
          <p:cNvPr id="8" name="Image 0" descr="cross">    </p:cNvPr>
          <p:cNvPicPr>
            <a:picLocks noChangeAspect="1"/>
          </p:cNvPicPr>
          <p:nvPr/>
        </p:nvPicPr>
        <p:blipFill>
          <a:blip r:embed="rId1"/>
          <a:stretch>
            <a:fillRect/>
          </a:stretch>
        </p:blipFill>
        <p:spPr>
          <a:xfrm>
            <a:off x="594360" y="1737360"/>
            <a:ext cx="219456" cy="219456"/>
          </a:xfrm>
          <a:prstGeom prst="rect">
            <a:avLst/>
          </a:prstGeom>
        </p:spPr>
      </p:pic>
      <p:sp>
        <p:nvSpPr>
          <p:cNvPr id="9" name="Text 6"/>
          <p:cNvSpPr txBox="1"/>
          <p:nvPr/>
        </p:nvSpPr>
        <p:spPr>
          <a:xfrm>
            <a:off x="960120" y="1627632"/>
            <a:ext cx="2743200" cy="438912"/>
          </a:xfrm>
          <a:prstGeom prst="rect">
            <a:avLst/>
          </a:prstGeom>
          <a:noFill/>
          <a:ln/>
        </p:spPr>
        <p:txBody>
          <a:bodyPr wrap="square" lIns="0" tIns="0" rIns="0" bIns="0" rtlCol="0" anchor="ctr"/>
          <a:lstStyle/>
          <a:p>
            <a:pPr indent="0" marL="0">
              <a:buNone/>
            </a:pPr>
            <a:r>
              <a:rPr lang="en-US" sz="1400" dirty="0">
                <a:solidFill>
                  <a:schemeClr val="tx1"/>
                </a:solidFill>
              </a:rPr>
              <a:t>Duplicate data entry</a:t>
            </a:r>
            <a:endParaRPr lang="en-US" sz="1400" dirty="0"/>
          </a:p>
        </p:txBody>
      </p:sp>
      <p:sp>
        <p:nvSpPr>
          <p:cNvPr id="10" name="Arrow badge"/>
          <p:cNvSpPr/>
          <p:nvPr/>
        </p:nvSpPr>
        <p:spPr>
          <a:xfrm>
            <a:off x="3840480" y="1691640"/>
            <a:ext cx="310896" cy="310896"/>
          </a:xfrm>
          <a:prstGeom prst="ellipse">
            <a:avLst/>
          </a:prstGeom>
          <a:solidFill>
            <a:schemeClr val="accent1"/>
          </a:solidFill>
          <a:ln/>
        </p:spPr>
      </p:sp>
      <p:pic>
        <p:nvPicPr>
          <p:cNvPr id="11" name="Image 1" descr="arrow">    </p:cNvPr>
          <p:cNvPicPr>
            <a:picLocks noChangeAspect="1"/>
          </p:cNvPicPr>
          <p:nvPr/>
        </p:nvPicPr>
        <p:blipFill>
          <a:blip r:embed="rId2"/>
          <a:stretch>
            <a:fillRect/>
          </a:stretch>
        </p:blipFill>
        <p:spPr>
          <a:xfrm>
            <a:off x="3931920" y="1783080"/>
            <a:ext cx="128016" cy="128016"/>
          </a:xfrm>
          <a:prstGeom prst="rect">
            <a:avLst/>
          </a:prstGeom>
        </p:spPr>
      </p:pic>
      <p:sp>
        <p:nvSpPr>
          <p:cNvPr id="12" name="Fix"/>
          <p:cNvSpPr/>
          <p:nvPr/>
        </p:nvSpPr>
        <p:spPr>
          <a:xfrm>
            <a:off x="4297680" y="1627632"/>
            <a:ext cx="4389120" cy="438912"/>
          </a:xfrm>
          <a:prstGeom prst="roundRect">
            <a:avLst>
              <a:gd name="adj" fmla="val 25000"/>
            </a:avLst>
          </a:prstGeom>
          <a:solidFill>
            <a:schemeClr val="tx1"/>
          </a:solidFill>
          <a:ln/>
        </p:spPr>
      </p:sp>
      <p:pic>
        <p:nvPicPr>
          <p:cNvPr id="13" name="Image 2" descr="check">    </p:cNvPr>
          <p:cNvPicPr>
            <a:picLocks noChangeAspect="1"/>
          </p:cNvPicPr>
          <p:nvPr/>
        </p:nvPicPr>
        <p:blipFill>
          <a:blip r:embed="rId3"/>
          <a:stretch>
            <a:fillRect/>
          </a:stretch>
        </p:blipFill>
        <p:spPr>
          <a:xfrm>
            <a:off x="4434840" y="1737360"/>
            <a:ext cx="219456" cy="219456"/>
          </a:xfrm>
          <a:prstGeom prst="rect">
            <a:avLst/>
          </a:prstGeom>
        </p:spPr>
      </p:pic>
      <p:sp>
        <p:nvSpPr>
          <p:cNvPr id="14" name="Text 9"/>
          <p:cNvSpPr txBox="1"/>
          <p:nvPr/>
        </p:nvSpPr>
        <p:spPr>
          <a:xfrm>
            <a:off x="4800600" y="1627632"/>
            <a:ext cx="3794760" cy="438912"/>
          </a:xfrm>
          <a:prstGeom prst="rect">
            <a:avLst/>
          </a:prstGeom>
          <a:noFill/>
          <a:ln/>
        </p:spPr>
        <p:txBody>
          <a:bodyPr wrap="square" lIns="0" tIns="0" rIns="0" bIns="0" rtlCol="0" anchor="ctr"/>
          <a:lstStyle/>
          <a:p>
            <a:pPr indent="0" marL="0">
              <a:buNone/>
            </a:pPr>
            <a:r>
              <a:rPr lang="en-US" sz="1400" dirty="0">
                <a:solidFill>
                  <a:schemeClr val="bg1"/>
                </a:solidFill>
              </a:rPr>
              <a:t>One record, one source of truth</a:t>
            </a:r>
            <a:endParaRPr lang="en-US" sz="1400" dirty="0"/>
          </a:p>
        </p:txBody>
      </p:sp>
      <p:sp>
        <p:nvSpPr>
          <p:cNvPr id="15" name="Pain"/>
          <p:cNvSpPr/>
          <p:nvPr/>
        </p:nvSpPr>
        <p:spPr>
          <a:xfrm>
            <a:off x="457200" y="2130552"/>
            <a:ext cx="3291840" cy="438912"/>
          </a:xfrm>
          <a:prstGeom prst="roundRect">
            <a:avLst>
              <a:gd name="adj" fmla="val 25000"/>
            </a:avLst>
          </a:prstGeom>
          <a:solidFill>
            <a:schemeClr val="bg1"/>
          </a:solidFill>
          <a:ln/>
          <a:effectLst>
            <a:outerShdw sx="100000" sy="100000" kx="0" ky="0" algn="bl" rotWithShape="0" blurRad="101600" dist="25400" dir="5400000">
              <a:srgbClr val="0B1F2A">
                <a:alpha val="14000"/>
              </a:srgbClr>
            </a:outerShdw>
          </a:effectLst>
        </p:spPr>
      </p:sp>
      <p:pic>
        <p:nvPicPr>
          <p:cNvPr id="16" name="Image 3" descr="cross">    </p:cNvPr>
          <p:cNvPicPr>
            <a:picLocks noChangeAspect="1"/>
          </p:cNvPicPr>
          <p:nvPr/>
        </p:nvPicPr>
        <p:blipFill>
          <a:blip r:embed="rId4"/>
          <a:stretch>
            <a:fillRect/>
          </a:stretch>
        </p:blipFill>
        <p:spPr>
          <a:xfrm>
            <a:off x="594360" y="2240280"/>
            <a:ext cx="219456" cy="219456"/>
          </a:xfrm>
          <a:prstGeom prst="rect">
            <a:avLst/>
          </a:prstGeom>
        </p:spPr>
      </p:pic>
      <p:sp>
        <p:nvSpPr>
          <p:cNvPr id="17" name="Text 11"/>
          <p:cNvSpPr txBox="1"/>
          <p:nvPr/>
        </p:nvSpPr>
        <p:spPr>
          <a:xfrm>
            <a:off x="960120" y="2130552"/>
            <a:ext cx="2743200" cy="438912"/>
          </a:xfrm>
          <a:prstGeom prst="rect">
            <a:avLst/>
          </a:prstGeom>
          <a:noFill/>
          <a:ln/>
        </p:spPr>
        <p:txBody>
          <a:bodyPr wrap="square" lIns="0" tIns="0" rIns="0" bIns="0" rtlCol="0" anchor="ctr"/>
          <a:lstStyle/>
          <a:p>
            <a:pPr indent="0" marL="0">
              <a:buNone/>
            </a:pPr>
            <a:r>
              <a:rPr lang="en-US" sz="1400" dirty="0">
                <a:solidFill>
                  <a:schemeClr val="tx1"/>
                </a:solidFill>
              </a:rPr>
              <a:t>No live room availability</a:t>
            </a:r>
            <a:endParaRPr lang="en-US" sz="1400" dirty="0"/>
          </a:p>
        </p:txBody>
      </p:sp>
      <p:sp>
        <p:nvSpPr>
          <p:cNvPr id="18" name="Arrow badge"/>
          <p:cNvSpPr/>
          <p:nvPr/>
        </p:nvSpPr>
        <p:spPr>
          <a:xfrm>
            <a:off x="3840480" y="2194560"/>
            <a:ext cx="310896" cy="310896"/>
          </a:xfrm>
          <a:prstGeom prst="ellipse">
            <a:avLst/>
          </a:prstGeom>
          <a:solidFill>
            <a:schemeClr val="accent1"/>
          </a:solidFill>
          <a:ln/>
        </p:spPr>
      </p:sp>
      <p:pic>
        <p:nvPicPr>
          <p:cNvPr id="19" name="Image 4" descr="arrow">    </p:cNvPr>
          <p:cNvPicPr>
            <a:picLocks noChangeAspect="1"/>
          </p:cNvPicPr>
          <p:nvPr/>
        </p:nvPicPr>
        <p:blipFill>
          <a:blip r:embed="rId5"/>
          <a:stretch>
            <a:fillRect/>
          </a:stretch>
        </p:blipFill>
        <p:spPr>
          <a:xfrm>
            <a:off x="3931920" y="2286000"/>
            <a:ext cx="128016" cy="128016"/>
          </a:xfrm>
          <a:prstGeom prst="rect">
            <a:avLst/>
          </a:prstGeom>
        </p:spPr>
      </p:pic>
      <p:sp>
        <p:nvSpPr>
          <p:cNvPr id="20" name="Fix"/>
          <p:cNvSpPr/>
          <p:nvPr/>
        </p:nvSpPr>
        <p:spPr>
          <a:xfrm>
            <a:off x="4297680" y="2130552"/>
            <a:ext cx="4389120" cy="438912"/>
          </a:xfrm>
          <a:prstGeom prst="roundRect">
            <a:avLst>
              <a:gd name="adj" fmla="val 25000"/>
            </a:avLst>
          </a:prstGeom>
          <a:solidFill>
            <a:schemeClr val="tx1"/>
          </a:solidFill>
          <a:ln/>
        </p:spPr>
      </p:sp>
      <p:pic>
        <p:nvPicPr>
          <p:cNvPr id="21" name="Image 5" descr="check">    </p:cNvPr>
          <p:cNvPicPr>
            <a:picLocks noChangeAspect="1"/>
          </p:cNvPicPr>
          <p:nvPr/>
        </p:nvPicPr>
        <p:blipFill>
          <a:blip r:embed="rId6"/>
          <a:stretch>
            <a:fillRect/>
          </a:stretch>
        </p:blipFill>
        <p:spPr>
          <a:xfrm>
            <a:off x="4434840" y="2240280"/>
            <a:ext cx="219456" cy="219456"/>
          </a:xfrm>
          <a:prstGeom prst="rect">
            <a:avLst/>
          </a:prstGeom>
        </p:spPr>
      </p:pic>
      <p:sp>
        <p:nvSpPr>
          <p:cNvPr id="22" name="Text 14"/>
          <p:cNvSpPr txBox="1"/>
          <p:nvPr/>
        </p:nvSpPr>
        <p:spPr>
          <a:xfrm>
            <a:off x="4800600" y="2130552"/>
            <a:ext cx="3794760" cy="438912"/>
          </a:xfrm>
          <a:prstGeom prst="rect">
            <a:avLst/>
          </a:prstGeom>
          <a:noFill/>
          <a:ln/>
        </p:spPr>
        <p:txBody>
          <a:bodyPr wrap="square" lIns="0" tIns="0" rIns="0" bIns="0" rtlCol="0" anchor="ctr"/>
          <a:lstStyle/>
          <a:p>
            <a:pPr indent="0" marL="0">
              <a:buNone/>
            </a:pPr>
            <a:r>
              <a:rPr lang="en-US" sz="1400" dirty="0">
                <a:solidFill>
                  <a:schemeClr val="bg1"/>
                </a:solidFill>
              </a:rPr>
              <a:t>Live bed occupancy on every dashboard</a:t>
            </a:r>
            <a:endParaRPr lang="en-US" sz="1400" dirty="0"/>
          </a:p>
        </p:txBody>
      </p:sp>
      <p:sp>
        <p:nvSpPr>
          <p:cNvPr id="23" name="Pain"/>
          <p:cNvSpPr/>
          <p:nvPr/>
        </p:nvSpPr>
        <p:spPr>
          <a:xfrm>
            <a:off x="457200" y="2633472"/>
            <a:ext cx="3291840" cy="438912"/>
          </a:xfrm>
          <a:prstGeom prst="roundRect">
            <a:avLst>
              <a:gd name="adj" fmla="val 25000"/>
            </a:avLst>
          </a:prstGeom>
          <a:solidFill>
            <a:schemeClr val="bg1"/>
          </a:solidFill>
          <a:ln/>
          <a:effectLst>
            <a:outerShdw sx="100000" sy="100000" kx="0" ky="0" algn="bl" rotWithShape="0" blurRad="101600" dist="25400" dir="5400000">
              <a:srgbClr val="0B1F2A">
                <a:alpha val="14000"/>
              </a:srgbClr>
            </a:outerShdw>
          </a:effectLst>
        </p:spPr>
      </p:sp>
      <p:pic>
        <p:nvPicPr>
          <p:cNvPr id="24" name="Image 6" descr="cross">    </p:cNvPr>
          <p:cNvPicPr>
            <a:picLocks noChangeAspect="1"/>
          </p:cNvPicPr>
          <p:nvPr/>
        </p:nvPicPr>
        <p:blipFill>
          <a:blip r:embed="rId7"/>
          <a:stretch>
            <a:fillRect/>
          </a:stretch>
        </p:blipFill>
        <p:spPr>
          <a:xfrm>
            <a:off x="594360" y="2743200"/>
            <a:ext cx="219456" cy="219456"/>
          </a:xfrm>
          <a:prstGeom prst="rect">
            <a:avLst/>
          </a:prstGeom>
        </p:spPr>
      </p:pic>
      <p:sp>
        <p:nvSpPr>
          <p:cNvPr id="25" name="Text 16"/>
          <p:cNvSpPr txBox="1"/>
          <p:nvPr/>
        </p:nvSpPr>
        <p:spPr>
          <a:xfrm>
            <a:off x="960120" y="2633472"/>
            <a:ext cx="2743200" cy="438912"/>
          </a:xfrm>
          <a:prstGeom prst="rect">
            <a:avLst/>
          </a:prstGeom>
          <a:noFill/>
          <a:ln/>
        </p:spPr>
        <p:txBody>
          <a:bodyPr wrap="square" lIns="0" tIns="0" rIns="0" bIns="0" rtlCol="0" anchor="ctr"/>
          <a:lstStyle/>
          <a:p>
            <a:pPr indent="0" marL="0">
              <a:buNone/>
            </a:pPr>
            <a:r>
              <a:rPr lang="en-US" sz="1400" dirty="0">
                <a:solidFill>
                  <a:schemeClr val="tx1"/>
                </a:solidFill>
              </a:rPr>
              <a:t>Delayed fee collection</a:t>
            </a:r>
            <a:endParaRPr lang="en-US" sz="1400" dirty="0"/>
          </a:p>
        </p:txBody>
      </p:sp>
      <p:sp>
        <p:nvSpPr>
          <p:cNvPr id="26" name="Arrow badge"/>
          <p:cNvSpPr/>
          <p:nvPr/>
        </p:nvSpPr>
        <p:spPr>
          <a:xfrm>
            <a:off x="3840480" y="2697480"/>
            <a:ext cx="310896" cy="310896"/>
          </a:xfrm>
          <a:prstGeom prst="ellipse">
            <a:avLst/>
          </a:prstGeom>
          <a:solidFill>
            <a:schemeClr val="accent1"/>
          </a:solidFill>
          <a:ln/>
        </p:spPr>
      </p:sp>
      <p:pic>
        <p:nvPicPr>
          <p:cNvPr id="27" name="Image 7" descr="arrow">    </p:cNvPr>
          <p:cNvPicPr>
            <a:picLocks noChangeAspect="1"/>
          </p:cNvPicPr>
          <p:nvPr/>
        </p:nvPicPr>
        <p:blipFill>
          <a:blip r:embed="rId8"/>
          <a:stretch>
            <a:fillRect/>
          </a:stretch>
        </p:blipFill>
        <p:spPr>
          <a:xfrm>
            <a:off x="3931920" y="2788920"/>
            <a:ext cx="128016" cy="128016"/>
          </a:xfrm>
          <a:prstGeom prst="rect">
            <a:avLst/>
          </a:prstGeom>
        </p:spPr>
      </p:pic>
      <p:sp>
        <p:nvSpPr>
          <p:cNvPr id="28" name="Fix"/>
          <p:cNvSpPr/>
          <p:nvPr/>
        </p:nvSpPr>
        <p:spPr>
          <a:xfrm>
            <a:off x="4297680" y="2633472"/>
            <a:ext cx="4389120" cy="438912"/>
          </a:xfrm>
          <a:prstGeom prst="roundRect">
            <a:avLst>
              <a:gd name="adj" fmla="val 25000"/>
            </a:avLst>
          </a:prstGeom>
          <a:solidFill>
            <a:schemeClr val="tx1"/>
          </a:solidFill>
          <a:ln/>
        </p:spPr>
      </p:sp>
      <p:pic>
        <p:nvPicPr>
          <p:cNvPr id="29" name="Image 8" descr="check">    </p:cNvPr>
          <p:cNvPicPr>
            <a:picLocks noChangeAspect="1"/>
          </p:cNvPicPr>
          <p:nvPr/>
        </p:nvPicPr>
        <p:blipFill>
          <a:blip r:embed="rId9"/>
          <a:stretch>
            <a:fillRect/>
          </a:stretch>
        </p:blipFill>
        <p:spPr>
          <a:xfrm>
            <a:off x="4434840" y="2743200"/>
            <a:ext cx="219456" cy="219456"/>
          </a:xfrm>
          <a:prstGeom prst="rect">
            <a:avLst/>
          </a:prstGeom>
        </p:spPr>
      </p:pic>
      <p:sp>
        <p:nvSpPr>
          <p:cNvPr id="30" name="Text 19"/>
          <p:cNvSpPr txBox="1"/>
          <p:nvPr/>
        </p:nvSpPr>
        <p:spPr>
          <a:xfrm>
            <a:off x="4800600" y="2633472"/>
            <a:ext cx="3794760" cy="438912"/>
          </a:xfrm>
          <a:prstGeom prst="rect">
            <a:avLst/>
          </a:prstGeom>
          <a:noFill/>
          <a:ln/>
        </p:spPr>
        <p:txBody>
          <a:bodyPr wrap="square" lIns="0" tIns="0" rIns="0" bIns="0" rtlCol="0" anchor="ctr"/>
          <a:lstStyle/>
          <a:p>
            <a:pPr indent="0" marL="0">
              <a:buNone/>
            </a:pPr>
            <a:r>
              <a:rPr lang="en-US" sz="1400" dirty="0">
                <a:solidFill>
                  <a:schemeClr val="bg1"/>
                </a:solidFill>
              </a:rPr>
              <a:t>Invoices, part-payments, live status</a:t>
            </a:r>
            <a:endParaRPr lang="en-US" sz="1400" dirty="0"/>
          </a:p>
        </p:txBody>
      </p:sp>
      <p:sp>
        <p:nvSpPr>
          <p:cNvPr id="31" name="Pain"/>
          <p:cNvSpPr/>
          <p:nvPr/>
        </p:nvSpPr>
        <p:spPr>
          <a:xfrm>
            <a:off x="457200" y="3136392"/>
            <a:ext cx="3291840" cy="438912"/>
          </a:xfrm>
          <a:prstGeom prst="roundRect">
            <a:avLst>
              <a:gd name="adj" fmla="val 25000"/>
            </a:avLst>
          </a:prstGeom>
          <a:solidFill>
            <a:schemeClr val="bg1"/>
          </a:solidFill>
          <a:ln/>
          <a:effectLst>
            <a:outerShdw sx="100000" sy="100000" kx="0" ky="0" algn="bl" rotWithShape="0" blurRad="101600" dist="25400" dir="5400000">
              <a:srgbClr val="0B1F2A">
                <a:alpha val="14000"/>
              </a:srgbClr>
            </a:outerShdw>
          </a:effectLst>
        </p:spPr>
      </p:sp>
      <p:pic>
        <p:nvPicPr>
          <p:cNvPr id="32" name="Image 9" descr="cross">    </p:cNvPr>
          <p:cNvPicPr>
            <a:picLocks noChangeAspect="1"/>
          </p:cNvPicPr>
          <p:nvPr/>
        </p:nvPicPr>
        <p:blipFill>
          <a:blip r:embed="rId10"/>
          <a:stretch>
            <a:fillRect/>
          </a:stretch>
        </p:blipFill>
        <p:spPr>
          <a:xfrm>
            <a:off x="594360" y="3246120"/>
            <a:ext cx="219456" cy="219456"/>
          </a:xfrm>
          <a:prstGeom prst="rect">
            <a:avLst/>
          </a:prstGeom>
        </p:spPr>
      </p:pic>
      <p:sp>
        <p:nvSpPr>
          <p:cNvPr id="33" name="Text 21"/>
          <p:cNvSpPr txBox="1"/>
          <p:nvPr/>
        </p:nvSpPr>
        <p:spPr>
          <a:xfrm>
            <a:off x="960120" y="3136392"/>
            <a:ext cx="2743200" cy="438912"/>
          </a:xfrm>
          <a:prstGeom prst="rect">
            <a:avLst/>
          </a:prstGeom>
          <a:noFill/>
          <a:ln/>
        </p:spPr>
        <p:txBody>
          <a:bodyPr wrap="square" lIns="0" tIns="0" rIns="0" bIns="0" rtlCol="0" anchor="ctr"/>
          <a:lstStyle/>
          <a:p>
            <a:pPr indent="0" marL="0">
              <a:buNone/>
            </a:pPr>
            <a:r>
              <a:rPr lang="en-US" sz="1400" dirty="0">
                <a:solidFill>
                  <a:schemeClr val="tx1"/>
                </a:solidFill>
              </a:rPr>
              <a:t>Untracked complaints</a:t>
            </a:r>
            <a:endParaRPr lang="en-US" sz="1400" dirty="0"/>
          </a:p>
        </p:txBody>
      </p:sp>
      <p:sp>
        <p:nvSpPr>
          <p:cNvPr id="34" name="Arrow badge"/>
          <p:cNvSpPr/>
          <p:nvPr/>
        </p:nvSpPr>
        <p:spPr>
          <a:xfrm>
            <a:off x="3840480" y="3200400"/>
            <a:ext cx="310896" cy="310896"/>
          </a:xfrm>
          <a:prstGeom prst="ellipse">
            <a:avLst/>
          </a:prstGeom>
          <a:solidFill>
            <a:schemeClr val="accent1"/>
          </a:solidFill>
          <a:ln/>
        </p:spPr>
      </p:sp>
      <p:pic>
        <p:nvPicPr>
          <p:cNvPr id="35" name="Image 10" descr="arrow">    </p:cNvPr>
          <p:cNvPicPr>
            <a:picLocks noChangeAspect="1"/>
          </p:cNvPicPr>
          <p:nvPr/>
        </p:nvPicPr>
        <p:blipFill>
          <a:blip r:embed="rId11"/>
          <a:stretch>
            <a:fillRect/>
          </a:stretch>
        </p:blipFill>
        <p:spPr>
          <a:xfrm>
            <a:off x="3931920" y="3291840"/>
            <a:ext cx="128016" cy="128016"/>
          </a:xfrm>
          <a:prstGeom prst="rect">
            <a:avLst/>
          </a:prstGeom>
        </p:spPr>
      </p:pic>
      <p:sp>
        <p:nvSpPr>
          <p:cNvPr id="36" name="Fix"/>
          <p:cNvSpPr/>
          <p:nvPr/>
        </p:nvSpPr>
        <p:spPr>
          <a:xfrm>
            <a:off x="4297680" y="3136392"/>
            <a:ext cx="4389120" cy="438912"/>
          </a:xfrm>
          <a:prstGeom prst="roundRect">
            <a:avLst>
              <a:gd name="adj" fmla="val 25000"/>
            </a:avLst>
          </a:prstGeom>
          <a:solidFill>
            <a:schemeClr val="tx1"/>
          </a:solidFill>
          <a:ln/>
        </p:spPr>
      </p:sp>
      <p:pic>
        <p:nvPicPr>
          <p:cNvPr id="37" name="Image 11" descr="check">    </p:cNvPr>
          <p:cNvPicPr>
            <a:picLocks noChangeAspect="1"/>
          </p:cNvPicPr>
          <p:nvPr/>
        </p:nvPicPr>
        <p:blipFill>
          <a:blip r:embed="rId12"/>
          <a:stretch>
            <a:fillRect/>
          </a:stretch>
        </p:blipFill>
        <p:spPr>
          <a:xfrm>
            <a:off x="4434840" y="3246120"/>
            <a:ext cx="219456" cy="219456"/>
          </a:xfrm>
          <a:prstGeom prst="rect">
            <a:avLst/>
          </a:prstGeom>
        </p:spPr>
      </p:pic>
      <p:sp>
        <p:nvSpPr>
          <p:cNvPr id="38" name="Text 24"/>
          <p:cNvSpPr txBox="1"/>
          <p:nvPr/>
        </p:nvSpPr>
        <p:spPr>
          <a:xfrm>
            <a:off x="4800600" y="3136392"/>
            <a:ext cx="3794760" cy="438912"/>
          </a:xfrm>
          <a:prstGeom prst="rect">
            <a:avLst/>
          </a:prstGeom>
          <a:noFill/>
          <a:ln/>
        </p:spPr>
        <p:txBody>
          <a:bodyPr wrap="square" lIns="0" tIns="0" rIns="0" bIns="0" rtlCol="0" anchor="ctr"/>
          <a:lstStyle/>
          <a:p>
            <a:pPr indent="0" marL="0">
              <a:buNone/>
            </a:pPr>
            <a:r>
              <a:rPr lang="en-US" sz="1400" dirty="0">
                <a:solidFill>
                  <a:schemeClr val="bg1"/>
                </a:solidFill>
              </a:rPr>
              <a:t>Auto-routed tickets with SLA timers</a:t>
            </a:r>
            <a:endParaRPr lang="en-US" sz="1400" dirty="0"/>
          </a:p>
        </p:txBody>
      </p:sp>
      <p:sp>
        <p:nvSpPr>
          <p:cNvPr id="39" name="Pain"/>
          <p:cNvSpPr/>
          <p:nvPr/>
        </p:nvSpPr>
        <p:spPr>
          <a:xfrm>
            <a:off x="457200" y="3639312"/>
            <a:ext cx="3291840" cy="438912"/>
          </a:xfrm>
          <a:prstGeom prst="roundRect">
            <a:avLst>
              <a:gd name="adj" fmla="val 25000"/>
            </a:avLst>
          </a:prstGeom>
          <a:solidFill>
            <a:schemeClr val="bg1"/>
          </a:solidFill>
          <a:ln/>
          <a:effectLst>
            <a:outerShdw sx="100000" sy="100000" kx="0" ky="0" algn="bl" rotWithShape="0" blurRad="101600" dist="25400" dir="5400000">
              <a:srgbClr val="0B1F2A">
                <a:alpha val="14000"/>
              </a:srgbClr>
            </a:outerShdw>
          </a:effectLst>
        </p:spPr>
      </p:sp>
      <p:pic>
        <p:nvPicPr>
          <p:cNvPr id="40" name="Image 12" descr="cross">    </p:cNvPr>
          <p:cNvPicPr>
            <a:picLocks noChangeAspect="1"/>
          </p:cNvPicPr>
          <p:nvPr/>
        </p:nvPicPr>
        <p:blipFill>
          <a:blip r:embed="rId13"/>
          <a:stretch>
            <a:fillRect/>
          </a:stretch>
        </p:blipFill>
        <p:spPr>
          <a:xfrm>
            <a:off x="594360" y="3749040"/>
            <a:ext cx="219456" cy="219456"/>
          </a:xfrm>
          <a:prstGeom prst="rect">
            <a:avLst/>
          </a:prstGeom>
        </p:spPr>
      </p:pic>
      <p:sp>
        <p:nvSpPr>
          <p:cNvPr id="41" name="Text 26"/>
          <p:cNvSpPr txBox="1"/>
          <p:nvPr/>
        </p:nvSpPr>
        <p:spPr>
          <a:xfrm>
            <a:off x="960120" y="3639312"/>
            <a:ext cx="2743200" cy="438912"/>
          </a:xfrm>
          <a:prstGeom prst="rect">
            <a:avLst/>
          </a:prstGeom>
          <a:noFill/>
          <a:ln/>
        </p:spPr>
        <p:txBody>
          <a:bodyPr wrap="square" lIns="0" tIns="0" rIns="0" bIns="0" rtlCol="0" anchor="ctr"/>
          <a:lstStyle/>
          <a:p>
            <a:pPr indent="0" marL="0">
              <a:buNone/>
            </a:pPr>
            <a:r>
              <a:rPr lang="en-US" sz="1400" dirty="0">
                <a:solidFill>
                  <a:schemeClr val="tx1"/>
                </a:solidFill>
              </a:rPr>
              <a:t>Uncontrolled visitor entry</a:t>
            </a:r>
            <a:endParaRPr lang="en-US" sz="1400" dirty="0"/>
          </a:p>
        </p:txBody>
      </p:sp>
      <p:sp>
        <p:nvSpPr>
          <p:cNvPr id="42" name="Arrow badge"/>
          <p:cNvSpPr/>
          <p:nvPr/>
        </p:nvSpPr>
        <p:spPr>
          <a:xfrm>
            <a:off x="3840480" y="3703320"/>
            <a:ext cx="310896" cy="310896"/>
          </a:xfrm>
          <a:prstGeom prst="ellipse">
            <a:avLst/>
          </a:prstGeom>
          <a:solidFill>
            <a:schemeClr val="accent1"/>
          </a:solidFill>
          <a:ln/>
        </p:spPr>
      </p:sp>
      <p:pic>
        <p:nvPicPr>
          <p:cNvPr id="43" name="Image 13" descr="arrow">    </p:cNvPr>
          <p:cNvPicPr>
            <a:picLocks noChangeAspect="1"/>
          </p:cNvPicPr>
          <p:nvPr/>
        </p:nvPicPr>
        <p:blipFill>
          <a:blip r:embed="rId14"/>
          <a:stretch>
            <a:fillRect/>
          </a:stretch>
        </p:blipFill>
        <p:spPr>
          <a:xfrm>
            <a:off x="3931920" y="3794760"/>
            <a:ext cx="128016" cy="128016"/>
          </a:xfrm>
          <a:prstGeom prst="rect">
            <a:avLst/>
          </a:prstGeom>
        </p:spPr>
      </p:pic>
      <p:sp>
        <p:nvSpPr>
          <p:cNvPr id="44" name="Fix"/>
          <p:cNvSpPr/>
          <p:nvPr/>
        </p:nvSpPr>
        <p:spPr>
          <a:xfrm>
            <a:off x="4297680" y="3639312"/>
            <a:ext cx="4389120" cy="438912"/>
          </a:xfrm>
          <a:prstGeom prst="roundRect">
            <a:avLst>
              <a:gd name="adj" fmla="val 25000"/>
            </a:avLst>
          </a:prstGeom>
          <a:solidFill>
            <a:schemeClr val="tx1"/>
          </a:solidFill>
          <a:ln/>
        </p:spPr>
      </p:sp>
      <p:pic>
        <p:nvPicPr>
          <p:cNvPr id="45" name="Image 14" descr="check">    </p:cNvPr>
          <p:cNvPicPr>
            <a:picLocks noChangeAspect="1"/>
          </p:cNvPicPr>
          <p:nvPr/>
        </p:nvPicPr>
        <p:blipFill>
          <a:blip r:embed="rId15"/>
          <a:stretch>
            <a:fillRect/>
          </a:stretch>
        </p:blipFill>
        <p:spPr>
          <a:xfrm>
            <a:off x="4434840" y="3749040"/>
            <a:ext cx="219456" cy="219456"/>
          </a:xfrm>
          <a:prstGeom prst="rect">
            <a:avLst/>
          </a:prstGeom>
        </p:spPr>
      </p:pic>
      <p:sp>
        <p:nvSpPr>
          <p:cNvPr id="46" name="Text 29"/>
          <p:cNvSpPr txBox="1"/>
          <p:nvPr/>
        </p:nvSpPr>
        <p:spPr>
          <a:xfrm>
            <a:off x="4800600" y="3639312"/>
            <a:ext cx="3794760" cy="438912"/>
          </a:xfrm>
          <a:prstGeom prst="rect">
            <a:avLst/>
          </a:prstGeom>
          <a:noFill/>
          <a:ln/>
        </p:spPr>
        <p:txBody>
          <a:bodyPr wrap="square" lIns="0" tIns="0" rIns="0" bIns="0" rtlCol="0" anchor="ctr"/>
          <a:lstStyle/>
          <a:p>
            <a:pPr indent="0" marL="0">
              <a:buNone/>
            </a:pPr>
            <a:r>
              <a:rPr lang="en-US" sz="1400" dirty="0">
                <a:solidFill>
                  <a:schemeClr val="bg1"/>
                </a:solidFill>
              </a:rPr>
              <a:t>Pre-registered passes, warden approval</a:t>
            </a:r>
            <a:endParaRPr lang="en-US" sz="1400" dirty="0"/>
          </a:p>
        </p:txBody>
      </p:sp>
      <p:sp>
        <p:nvSpPr>
          <p:cNvPr id="47" name="Pain"/>
          <p:cNvSpPr/>
          <p:nvPr/>
        </p:nvSpPr>
        <p:spPr>
          <a:xfrm>
            <a:off x="457200" y="4142232"/>
            <a:ext cx="3291840" cy="438912"/>
          </a:xfrm>
          <a:prstGeom prst="roundRect">
            <a:avLst>
              <a:gd name="adj" fmla="val 25000"/>
            </a:avLst>
          </a:prstGeom>
          <a:solidFill>
            <a:schemeClr val="bg1"/>
          </a:solidFill>
          <a:ln/>
          <a:effectLst>
            <a:outerShdw sx="100000" sy="100000" kx="0" ky="0" algn="bl" rotWithShape="0" blurRad="101600" dist="25400" dir="5400000">
              <a:srgbClr val="0B1F2A">
                <a:alpha val="14000"/>
              </a:srgbClr>
            </a:outerShdw>
          </a:effectLst>
        </p:spPr>
      </p:sp>
      <p:pic>
        <p:nvPicPr>
          <p:cNvPr id="48" name="Image 15" descr="cross">    </p:cNvPr>
          <p:cNvPicPr>
            <a:picLocks noChangeAspect="1"/>
          </p:cNvPicPr>
          <p:nvPr/>
        </p:nvPicPr>
        <p:blipFill>
          <a:blip r:embed="rId16"/>
          <a:stretch>
            <a:fillRect/>
          </a:stretch>
        </p:blipFill>
        <p:spPr>
          <a:xfrm>
            <a:off x="594360" y="4251960"/>
            <a:ext cx="219456" cy="219456"/>
          </a:xfrm>
          <a:prstGeom prst="rect">
            <a:avLst/>
          </a:prstGeom>
        </p:spPr>
      </p:pic>
      <p:sp>
        <p:nvSpPr>
          <p:cNvPr id="49" name="Text 31"/>
          <p:cNvSpPr txBox="1"/>
          <p:nvPr/>
        </p:nvSpPr>
        <p:spPr>
          <a:xfrm>
            <a:off x="960120" y="4142232"/>
            <a:ext cx="2743200" cy="438912"/>
          </a:xfrm>
          <a:prstGeom prst="rect">
            <a:avLst/>
          </a:prstGeom>
          <a:noFill/>
          <a:ln/>
        </p:spPr>
        <p:txBody>
          <a:bodyPr wrap="square" lIns="0" tIns="0" rIns="0" bIns="0" rtlCol="0" anchor="ctr"/>
          <a:lstStyle/>
          <a:p>
            <a:pPr indent="0" marL="0">
              <a:buNone/>
            </a:pPr>
            <a:r>
              <a:rPr lang="en-US" sz="1400" dirty="0">
                <a:solidFill>
                  <a:schemeClr val="tx1"/>
                </a:solidFill>
              </a:rPr>
              <a:t>No approval history</a:t>
            </a:r>
            <a:endParaRPr lang="en-US" sz="1400" dirty="0"/>
          </a:p>
        </p:txBody>
      </p:sp>
      <p:sp>
        <p:nvSpPr>
          <p:cNvPr id="50" name="Arrow badge"/>
          <p:cNvSpPr/>
          <p:nvPr/>
        </p:nvSpPr>
        <p:spPr>
          <a:xfrm>
            <a:off x="3840480" y="4206240"/>
            <a:ext cx="310896" cy="310896"/>
          </a:xfrm>
          <a:prstGeom prst="ellipse">
            <a:avLst/>
          </a:prstGeom>
          <a:solidFill>
            <a:schemeClr val="accent1"/>
          </a:solidFill>
          <a:ln/>
        </p:spPr>
      </p:sp>
      <p:pic>
        <p:nvPicPr>
          <p:cNvPr id="51" name="Image 16" descr="arrow">    </p:cNvPr>
          <p:cNvPicPr>
            <a:picLocks noChangeAspect="1"/>
          </p:cNvPicPr>
          <p:nvPr/>
        </p:nvPicPr>
        <p:blipFill>
          <a:blip r:embed="rId17"/>
          <a:stretch>
            <a:fillRect/>
          </a:stretch>
        </p:blipFill>
        <p:spPr>
          <a:xfrm>
            <a:off x="3931920" y="4297680"/>
            <a:ext cx="128016" cy="128016"/>
          </a:xfrm>
          <a:prstGeom prst="rect">
            <a:avLst/>
          </a:prstGeom>
        </p:spPr>
      </p:pic>
      <p:sp>
        <p:nvSpPr>
          <p:cNvPr id="52" name="Fix"/>
          <p:cNvSpPr/>
          <p:nvPr/>
        </p:nvSpPr>
        <p:spPr>
          <a:xfrm>
            <a:off x="4297680" y="4142232"/>
            <a:ext cx="4389120" cy="438912"/>
          </a:xfrm>
          <a:prstGeom prst="roundRect">
            <a:avLst>
              <a:gd name="adj" fmla="val 25000"/>
            </a:avLst>
          </a:prstGeom>
          <a:solidFill>
            <a:schemeClr val="tx1"/>
          </a:solidFill>
          <a:ln/>
        </p:spPr>
      </p:sp>
      <p:pic>
        <p:nvPicPr>
          <p:cNvPr id="53" name="Image 17" descr="check">    </p:cNvPr>
          <p:cNvPicPr>
            <a:picLocks noChangeAspect="1"/>
          </p:cNvPicPr>
          <p:nvPr/>
        </p:nvPicPr>
        <p:blipFill>
          <a:blip r:embed="rId18"/>
          <a:stretch>
            <a:fillRect/>
          </a:stretch>
        </p:blipFill>
        <p:spPr>
          <a:xfrm>
            <a:off x="4434840" y="4251960"/>
            <a:ext cx="219456" cy="219456"/>
          </a:xfrm>
          <a:prstGeom prst="rect">
            <a:avLst/>
          </a:prstGeom>
        </p:spPr>
      </p:pic>
      <p:sp>
        <p:nvSpPr>
          <p:cNvPr id="54" name="Text 34"/>
          <p:cNvSpPr txBox="1"/>
          <p:nvPr/>
        </p:nvSpPr>
        <p:spPr>
          <a:xfrm>
            <a:off x="4800600" y="4142232"/>
            <a:ext cx="3794760" cy="438912"/>
          </a:xfrm>
          <a:prstGeom prst="rect">
            <a:avLst/>
          </a:prstGeom>
          <a:noFill/>
          <a:ln/>
        </p:spPr>
        <p:txBody>
          <a:bodyPr wrap="square" lIns="0" tIns="0" rIns="0" bIns="0" rtlCol="0" anchor="ctr"/>
          <a:lstStyle/>
          <a:p>
            <a:pPr indent="0" marL="0">
              <a:buNone/>
            </a:pPr>
            <a:r>
              <a:rPr lang="en-US" sz="1400" dirty="0">
                <a:solidFill>
                  <a:schemeClr val="bg1"/>
                </a:solidFill>
              </a:rPr>
              <a:t>Audit log of who approved what</a:t>
            </a:r>
            <a:endParaRPr lang="en-US" sz="1400" dirty="0"/>
          </a:p>
        </p:txBody>
      </p:sp>
      <p:sp>
        <p:nvSpPr>
          <p:cNvPr id="25" name="Slide Number Placeholder 0"/>
          <p:cNvSpPr>
            <a:spLocks noGrp="1"/>
          </p:cNvSpPr>
          <p:nvPr>
            <p:ph type="sldNum" sz="quarter" idx="4294967295"/>
          </p:nvPr>
        </p:nvSpPr>
        <p:spPr>
          <a:xfrm>
            <a:off x="457200" y="4846320"/>
            <a:ext cx="54864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ection tag"/>
          <p:cNvSpPr/>
          <p:nvPr/>
        </p:nvSpPr>
        <p:spPr>
          <a:xfrm>
            <a:off x="457200" y="292608"/>
            <a:ext cx="2061058" cy="274320"/>
          </a:xfrm>
          <a:prstGeom prst="roundRect">
            <a:avLst>
              <a:gd name="adj" fmla="val 50000"/>
            </a:avLst>
          </a:prstGeom>
          <a:solidFill>
            <a:schemeClr val="accent1"/>
          </a:solidFill>
          <a:ln/>
        </p:spPr>
      </p:sp>
      <p:sp>
        <p:nvSpPr>
          <p:cNvPr id="3" name="Text 1"/>
          <p:cNvSpPr txBox="1"/>
          <p:nvPr/>
        </p:nvSpPr>
        <p:spPr>
          <a:xfrm>
            <a:off x="457200" y="292608"/>
            <a:ext cx="2061058" cy="274320"/>
          </a:xfrm>
          <a:prstGeom prst="rect">
            <a:avLst/>
          </a:prstGeom>
          <a:noFill/>
          <a:ln/>
        </p:spPr>
        <p:txBody>
          <a:bodyPr wrap="square" lIns="0" tIns="0" rIns="0" bIns="0" rtlCol="0" anchor="ctr"/>
          <a:lstStyle/>
          <a:p>
            <a:pPr algn="ctr" indent="0" marL="0">
              <a:buNone/>
            </a:pPr>
            <a:r>
              <a:rPr lang="en-US" sz="1000" b="1" spc="150" kern="0" dirty="0">
                <a:solidFill>
                  <a:schemeClr val="tx1"/>
                </a:solidFill>
              </a:rPr>
              <a:t>FLOOR 1  ·  OBJECTIVES</a:t>
            </a:r>
            <a:endParaRPr lang="en-US" sz="1000" dirty="0"/>
          </a:p>
        </p:txBody>
      </p:sp>
      <p:sp>
        <p:nvSpPr>
          <p:cNvPr id="4" name="Text 2"/>
          <p:cNvSpPr/>
          <p:nvPr>
            <p:ph idx="103" type="title" hasCustomPrompt="1"/>
          </p:nvPr>
        </p:nvSpPr>
        <p:spPr>
          <a:xfrm>
            <a:off x="457200" y="640080"/>
            <a:ext cx="8229600" cy="685800"/>
          </a:xfrm>
          <a:prstGeom prst="rect">
            <a:avLst/>
          </a:prstGeom>
          <a:noFill/>
          <a:ln/>
        </p:spPr>
        <p:txBody>
          <a:bodyPr wrap="square" lIns="0" tIns="0" rIns="0" bIns="0" rtlCol="0" anchor="t"/>
          <a:lstStyle/>
          <a:p>
            <a:pPr algn="l" indent="0" marL="0">
              <a:buNone/>
            </a:pPr>
            <a:r>
              <a:rPr lang="en-US" sz="3600" b="1" dirty="0">
                <a:solidFill>
                  <a:schemeClr val="bg1"/>
                </a:solidFill>
              </a:rPr>
              <a:t>What We Set Out to Build</a:t>
            </a:r>
            <a:endParaRPr lang="en-US" sz="3600" dirty="0"/>
          </a:p>
        </p:txBody>
      </p:sp>
      <p:sp>
        <p:nvSpPr>
          <p:cNvPr id="5" name="Objective tile"/>
          <p:cNvSpPr/>
          <p:nvPr/>
        </p:nvSpPr>
        <p:spPr>
          <a:xfrm>
            <a:off x="457200" y="1417320"/>
            <a:ext cx="2587752" cy="1481328"/>
          </a:xfrm>
          <a:prstGeom prst="roundRect">
            <a:avLst>
              <a:gd name="adj" fmla="val 7407"/>
            </a:avLst>
          </a:prstGeom>
          <a:solidFill>
            <a:schemeClr val="tx2"/>
          </a:solidFill>
          <a:ln/>
        </p:spPr>
      </p:sp>
      <p:sp>
        <p:nvSpPr>
          <p:cNvPr id="6" name="Icon disc"/>
          <p:cNvSpPr/>
          <p:nvPr/>
        </p:nvSpPr>
        <p:spPr>
          <a:xfrm>
            <a:off x="640080" y="1581912"/>
            <a:ext cx="457200" cy="457200"/>
          </a:xfrm>
          <a:prstGeom prst="ellipse">
            <a:avLst/>
          </a:prstGeom>
          <a:solidFill>
            <a:schemeClr val="accent1"/>
          </a:solidFill>
          <a:ln/>
        </p:spPr>
      </p:sp>
      <p:pic>
        <p:nvPicPr>
          <p:cNvPr id="7" name="Image 0" descr="ShieldAlt icon">    </p:cNvPr>
          <p:cNvPicPr>
            <a:picLocks noChangeAspect="1"/>
          </p:cNvPicPr>
          <p:nvPr/>
        </p:nvPicPr>
        <p:blipFill>
          <a:blip r:embed="rId1"/>
          <a:stretch>
            <a:fillRect/>
          </a:stretch>
        </p:blipFill>
        <p:spPr>
          <a:xfrm>
            <a:off x="749808" y="1691640"/>
            <a:ext cx="237744" cy="237744"/>
          </a:xfrm>
          <a:prstGeom prst="rect">
            <a:avLst/>
          </a:prstGeom>
        </p:spPr>
      </p:pic>
      <p:sp>
        <p:nvSpPr>
          <p:cNvPr id="8" name="Text 5"/>
          <p:cNvSpPr txBox="1"/>
          <p:nvPr/>
        </p:nvSpPr>
        <p:spPr>
          <a:xfrm>
            <a:off x="1207008" y="1581912"/>
            <a:ext cx="1737360" cy="457200"/>
          </a:xfrm>
          <a:prstGeom prst="rect">
            <a:avLst/>
          </a:prstGeom>
          <a:noFill/>
          <a:ln/>
        </p:spPr>
        <p:txBody>
          <a:bodyPr wrap="square" lIns="0" tIns="0" rIns="0" bIns="0" rtlCol="0" anchor="ctr"/>
          <a:lstStyle/>
          <a:p>
            <a:pPr indent="0" marL="0">
              <a:buNone/>
            </a:pPr>
            <a:r>
              <a:rPr lang="en-US" sz="1600" b="1" dirty="0">
                <a:solidFill>
                  <a:schemeClr val="bg1"/>
                </a:solidFill>
              </a:rPr>
              <a:t>Secure by role</a:t>
            </a:r>
            <a:endParaRPr lang="en-US" sz="1600" dirty="0"/>
          </a:p>
        </p:txBody>
      </p:sp>
      <p:sp>
        <p:nvSpPr>
          <p:cNvPr id="9" name="Text 6"/>
          <p:cNvSpPr txBox="1"/>
          <p:nvPr/>
        </p:nvSpPr>
        <p:spPr>
          <a:xfrm>
            <a:off x="640080" y="2185416"/>
            <a:ext cx="2240280" cy="640080"/>
          </a:xfrm>
          <a:prstGeom prst="rect">
            <a:avLst/>
          </a:prstGeom>
          <a:noFill/>
          <a:ln/>
        </p:spPr>
        <p:txBody>
          <a:bodyPr wrap="square" lIns="0" tIns="0" rIns="0" bIns="0" rtlCol="0" anchor="t"/>
          <a:lstStyle/>
          <a:p>
            <a:pPr indent="0" marL="0">
              <a:buNone/>
            </a:pPr>
            <a:r>
              <a:rPr lang="en-US" sz="1400" dirty="0">
                <a:solidFill>
                  <a:schemeClr val="accent6"/>
                </a:solidFill>
              </a:rPr>
              <a:t>Four roles guarded by Spring Security + BCrypt</a:t>
            </a:r>
            <a:endParaRPr lang="en-US" sz="1400" dirty="0"/>
          </a:p>
        </p:txBody>
      </p:sp>
      <p:sp>
        <p:nvSpPr>
          <p:cNvPr id="10" name="Objective tile"/>
          <p:cNvSpPr/>
          <p:nvPr/>
        </p:nvSpPr>
        <p:spPr>
          <a:xfrm>
            <a:off x="3278124" y="1417320"/>
            <a:ext cx="2587752" cy="1481328"/>
          </a:xfrm>
          <a:prstGeom prst="roundRect">
            <a:avLst>
              <a:gd name="adj" fmla="val 7407"/>
            </a:avLst>
          </a:prstGeom>
          <a:solidFill>
            <a:schemeClr val="tx2"/>
          </a:solidFill>
          <a:ln/>
        </p:spPr>
      </p:sp>
      <p:sp>
        <p:nvSpPr>
          <p:cNvPr id="11" name="Icon disc"/>
          <p:cNvSpPr/>
          <p:nvPr/>
        </p:nvSpPr>
        <p:spPr>
          <a:xfrm>
            <a:off x="3461004" y="1581912"/>
            <a:ext cx="457200" cy="457200"/>
          </a:xfrm>
          <a:prstGeom prst="ellipse">
            <a:avLst/>
          </a:prstGeom>
          <a:solidFill>
            <a:schemeClr val="accent1"/>
          </a:solidFill>
          <a:ln/>
        </p:spPr>
      </p:sp>
      <p:pic>
        <p:nvPicPr>
          <p:cNvPr id="12" name="Image 1" descr="Bed icon">    </p:cNvPr>
          <p:cNvPicPr>
            <a:picLocks noChangeAspect="1"/>
          </p:cNvPicPr>
          <p:nvPr/>
        </p:nvPicPr>
        <p:blipFill>
          <a:blip r:embed="rId2"/>
          <a:stretch>
            <a:fillRect/>
          </a:stretch>
        </p:blipFill>
        <p:spPr>
          <a:xfrm>
            <a:off x="3570732" y="1691640"/>
            <a:ext cx="237744" cy="237744"/>
          </a:xfrm>
          <a:prstGeom prst="rect">
            <a:avLst/>
          </a:prstGeom>
        </p:spPr>
      </p:pic>
      <p:sp>
        <p:nvSpPr>
          <p:cNvPr id="13" name="Text 9"/>
          <p:cNvSpPr txBox="1"/>
          <p:nvPr/>
        </p:nvSpPr>
        <p:spPr>
          <a:xfrm>
            <a:off x="4027932" y="1581912"/>
            <a:ext cx="1737360" cy="457200"/>
          </a:xfrm>
          <a:prstGeom prst="rect">
            <a:avLst/>
          </a:prstGeom>
          <a:noFill/>
          <a:ln/>
        </p:spPr>
        <p:txBody>
          <a:bodyPr wrap="square" lIns="0" tIns="0" rIns="0" bIns="0" rtlCol="0" anchor="ctr"/>
          <a:lstStyle/>
          <a:p>
            <a:pPr indent="0" marL="0">
              <a:buNone/>
            </a:pPr>
            <a:r>
              <a:rPr lang="en-US" sz="1600" b="1" dirty="0">
                <a:solidFill>
                  <a:schemeClr val="bg1"/>
                </a:solidFill>
              </a:rPr>
              <a:t>No double booking</a:t>
            </a:r>
            <a:endParaRPr lang="en-US" sz="1600" dirty="0"/>
          </a:p>
        </p:txBody>
      </p:sp>
      <p:sp>
        <p:nvSpPr>
          <p:cNvPr id="14" name="Text 10"/>
          <p:cNvSpPr txBox="1"/>
          <p:nvPr/>
        </p:nvSpPr>
        <p:spPr>
          <a:xfrm>
            <a:off x="3461004" y="2185416"/>
            <a:ext cx="2240280" cy="640080"/>
          </a:xfrm>
          <a:prstGeom prst="rect">
            <a:avLst/>
          </a:prstGeom>
          <a:noFill/>
          <a:ln/>
        </p:spPr>
        <p:txBody>
          <a:bodyPr wrap="square" lIns="0" tIns="0" rIns="0" bIns="0" rtlCol="0" anchor="t"/>
          <a:lstStyle/>
          <a:p>
            <a:pPr indent="0" marL="0">
              <a:buNone/>
            </a:pPr>
            <a:r>
              <a:rPr lang="en-US" sz="1400" dirty="0">
                <a:solidFill>
                  <a:schemeClr val="accent6"/>
                </a:solidFill>
              </a:rPr>
              <a:t>Digital room, bed and allocation records</a:t>
            </a:r>
            <a:endParaRPr lang="en-US" sz="1400" dirty="0"/>
          </a:p>
        </p:txBody>
      </p:sp>
      <p:sp>
        <p:nvSpPr>
          <p:cNvPr id="15" name="Objective tile"/>
          <p:cNvSpPr/>
          <p:nvPr/>
        </p:nvSpPr>
        <p:spPr>
          <a:xfrm>
            <a:off x="6099048" y="1417320"/>
            <a:ext cx="2587752" cy="1481328"/>
          </a:xfrm>
          <a:prstGeom prst="roundRect">
            <a:avLst>
              <a:gd name="adj" fmla="val 7407"/>
            </a:avLst>
          </a:prstGeom>
          <a:solidFill>
            <a:schemeClr val="tx2"/>
          </a:solidFill>
          <a:ln/>
        </p:spPr>
      </p:sp>
      <p:sp>
        <p:nvSpPr>
          <p:cNvPr id="16" name="Icon disc"/>
          <p:cNvSpPr/>
          <p:nvPr/>
        </p:nvSpPr>
        <p:spPr>
          <a:xfrm>
            <a:off x="6281928" y="1581912"/>
            <a:ext cx="457200" cy="457200"/>
          </a:xfrm>
          <a:prstGeom prst="ellipse">
            <a:avLst/>
          </a:prstGeom>
          <a:solidFill>
            <a:schemeClr val="accent1"/>
          </a:solidFill>
          <a:ln/>
        </p:spPr>
      </p:sp>
      <p:pic>
        <p:nvPicPr>
          <p:cNvPr id="17" name="Image 2" descr="MoneyCheckAlt icon">    </p:cNvPr>
          <p:cNvPicPr>
            <a:picLocks noChangeAspect="1"/>
          </p:cNvPicPr>
          <p:nvPr/>
        </p:nvPicPr>
        <p:blipFill>
          <a:blip r:embed="rId3"/>
          <a:stretch>
            <a:fillRect/>
          </a:stretch>
        </p:blipFill>
        <p:spPr>
          <a:xfrm>
            <a:off x="6391656" y="1691640"/>
            <a:ext cx="237744" cy="237744"/>
          </a:xfrm>
          <a:prstGeom prst="rect">
            <a:avLst/>
          </a:prstGeom>
        </p:spPr>
      </p:pic>
      <p:sp>
        <p:nvSpPr>
          <p:cNvPr id="18" name="Text 13"/>
          <p:cNvSpPr txBox="1"/>
          <p:nvPr/>
        </p:nvSpPr>
        <p:spPr>
          <a:xfrm>
            <a:off x="6848856" y="1581912"/>
            <a:ext cx="1737360" cy="457200"/>
          </a:xfrm>
          <a:prstGeom prst="rect">
            <a:avLst/>
          </a:prstGeom>
          <a:noFill/>
          <a:ln/>
        </p:spPr>
        <p:txBody>
          <a:bodyPr wrap="square" lIns="0" tIns="0" rIns="0" bIns="0" rtlCol="0" anchor="ctr"/>
          <a:lstStyle/>
          <a:p>
            <a:pPr indent="0" marL="0">
              <a:buNone/>
            </a:pPr>
            <a:r>
              <a:rPr lang="en-US" sz="1600" b="1" dirty="0">
                <a:solidFill>
                  <a:schemeClr val="bg1"/>
                </a:solidFill>
              </a:rPr>
              <a:t>Automated fees</a:t>
            </a:r>
            <a:endParaRPr lang="en-US" sz="1600" dirty="0"/>
          </a:p>
        </p:txBody>
      </p:sp>
      <p:sp>
        <p:nvSpPr>
          <p:cNvPr id="19" name="Text 14"/>
          <p:cNvSpPr txBox="1"/>
          <p:nvPr/>
        </p:nvSpPr>
        <p:spPr>
          <a:xfrm>
            <a:off x="6281928" y="2185416"/>
            <a:ext cx="2240280" cy="640080"/>
          </a:xfrm>
          <a:prstGeom prst="rect">
            <a:avLst/>
          </a:prstGeom>
          <a:noFill/>
          <a:ln/>
        </p:spPr>
        <p:txBody>
          <a:bodyPr wrap="square" lIns="0" tIns="0" rIns="0" bIns="0" rtlCol="0" anchor="t"/>
          <a:lstStyle/>
          <a:p>
            <a:pPr indent="0" marL="0">
              <a:buNone/>
            </a:pPr>
            <a:r>
              <a:rPr lang="en-US" sz="1400" dirty="0">
                <a:solidFill>
                  <a:schemeClr val="accent6"/>
                </a:solidFill>
              </a:rPr>
              <a:t>Invoices, payments, Pending to Paid status</a:t>
            </a:r>
            <a:endParaRPr lang="en-US" sz="1400" dirty="0"/>
          </a:p>
        </p:txBody>
      </p:sp>
      <p:sp>
        <p:nvSpPr>
          <p:cNvPr id="20" name="Objective tile"/>
          <p:cNvSpPr/>
          <p:nvPr/>
        </p:nvSpPr>
        <p:spPr>
          <a:xfrm>
            <a:off x="457200" y="3044952"/>
            <a:ext cx="2587752" cy="1481328"/>
          </a:xfrm>
          <a:prstGeom prst="roundRect">
            <a:avLst>
              <a:gd name="adj" fmla="val 7407"/>
            </a:avLst>
          </a:prstGeom>
          <a:solidFill>
            <a:schemeClr val="tx2"/>
          </a:solidFill>
          <a:ln/>
        </p:spPr>
      </p:sp>
      <p:sp>
        <p:nvSpPr>
          <p:cNvPr id="21" name="Icon disc"/>
          <p:cNvSpPr/>
          <p:nvPr/>
        </p:nvSpPr>
        <p:spPr>
          <a:xfrm>
            <a:off x="640080" y="3209544"/>
            <a:ext cx="457200" cy="457200"/>
          </a:xfrm>
          <a:prstGeom prst="ellipse">
            <a:avLst/>
          </a:prstGeom>
          <a:solidFill>
            <a:schemeClr val="accent1"/>
          </a:solidFill>
          <a:ln/>
        </p:spPr>
      </p:sp>
      <p:pic>
        <p:nvPicPr>
          <p:cNvPr id="22" name="Image 3" descr="ClipboardCheck icon">    </p:cNvPr>
          <p:cNvPicPr>
            <a:picLocks noChangeAspect="1"/>
          </p:cNvPicPr>
          <p:nvPr/>
        </p:nvPicPr>
        <p:blipFill>
          <a:blip r:embed="rId4"/>
          <a:stretch>
            <a:fillRect/>
          </a:stretch>
        </p:blipFill>
        <p:spPr>
          <a:xfrm>
            <a:off x="749808" y="3319272"/>
            <a:ext cx="237744" cy="237744"/>
          </a:xfrm>
          <a:prstGeom prst="rect">
            <a:avLst/>
          </a:prstGeom>
        </p:spPr>
      </p:pic>
      <p:sp>
        <p:nvSpPr>
          <p:cNvPr id="23" name="Text 17"/>
          <p:cNvSpPr txBox="1"/>
          <p:nvPr/>
        </p:nvSpPr>
        <p:spPr>
          <a:xfrm>
            <a:off x="1207008" y="3209544"/>
            <a:ext cx="1737360" cy="457200"/>
          </a:xfrm>
          <a:prstGeom prst="rect">
            <a:avLst/>
          </a:prstGeom>
          <a:noFill/>
          <a:ln/>
        </p:spPr>
        <p:txBody>
          <a:bodyPr wrap="square" lIns="0" tIns="0" rIns="0" bIns="0" rtlCol="0" anchor="ctr"/>
          <a:lstStyle/>
          <a:p>
            <a:pPr indent="0" marL="0">
              <a:buNone/>
            </a:pPr>
            <a:r>
              <a:rPr lang="en-US" sz="1600" b="1" dirty="0">
                <a:solidFill>
                  <a:schemeClr val="bg1"/>
                </a:solidFill>
              </a:rPr>
              <a:t>Accountable repairs</a:t>
            </a:r>
            <a:endParaRPr lang="en-US" sz="1600" dirty="0"/>
          </a:p>
        </p:txBody>
      </p:sp>
      <p:sp>
        <p:nvSpPr>
          <p:cNvPr id="24" name="Text 18"/>
          <p:cNvSpPr txBox="1"/>
          <p:nvPr/>
        </p:nvSpPr>
        <p:spPr>
          <a:xfrm>
            <a:off x="640080" y="3813048"/>
            <a:ext cx="2240280" cy="640080"/>
          </a:xfrm>
          <a:prstGeom prst="rect">
            <a:avLst/>
          </a:prstGeom>
          <a:noFill/>
          <a:ln/>
        </p:spPr>
        <p:txBody>
          <a:bodyPr wrap="square" lIns="0" tIns="0" rIns="0" bIns="0" rtlCol="0" anchor="t"/>
          <a:lstStyle/>
          <a:p>
            <a:pPr indent="0" marL="0">
              <a:buNone/>
            </a:pPr>
            <a:r>
              <a:rPr lang="en-US" sz="1400" dirty="0">
                <a:solidFill>
                  <a:schemeClr val="accent6"/>
                </a:solidFill>
              </a:rPr>
              <a:t>Auto-routing, SLA deadlines, warden check</a:t>
            </a:r>
            <a:endParaRPr lang="en-US" sz="1400" dirty="0"/>
          </a:p>
        </p:txBody>
      </p:sp>
      <p:sp>
        <p:nvSpPr>
          <p:cNvPr id="25" name="Objective tile"/>
          <p:cNvSpPr/>
          <p:nvPr/>
        </p:nvSpPr>
        <p:spPr>
          <a:xfrm>
            <a:off x="3278124" y="3044952"/>
            <a:ext cx="2587752" cy="1481328"/>
          </a:xfrm>
          <a:prstGeom prst="roundRect">
            <a:avLst>
              <a:gd name="adj" fmla="val 7407"/>
            </a:avLst>
          </a:prstGeom>
          <a:solidFill>
            <a:schemeClr val="tx2"/>
          </a:solidFill>
          <a:ln/>
        </p:spPr>
      </p:sp>
      <p:sp>
        <p:nvSpPr>
          <p:cNvPr id="26" name="Icon disc"/>
          <p:cNvSpPr/>
          <p:nvPr/>
        </p:nvSpPr>
        <p:spPr>
          <a:xfrm>
            <a:off x="3461004" y="3209544"/>
            <a:ext cx="457200" cy="457200"/>
          </a:xfrm>
          <a:prstGeom prst="ellipse">
            <a:avLst/>
          </a:prstGeom>
          <a:solidFill>
            <a:schemeClr val="accent1"/>
          </a:solidFill>
          <a:ln/>
        </p:spPr>
      </p:sp>
      <p:pic>
        <p:nvPicPr>
          <p:cNvPr id="27" name="Image 4" descr="IdCard icon">    </p:cNvPr>
          <p:cNvPicPr>
            <a:picLocks noChangeAspect="1"/>
          </p:cNvPicPr>
          <p:nvPr/>
        </p:nvPicPr>
        <p:blipFill>
          <a:blip r:embed="rId5"/>
          <a:stretch>
            <a:fillRect/>
          </a:stretch>
        </p:blipFill>
        <p:spPr>
          <a:xfrm>
            <a:off x="3570732" y="3319272"/>
            <a:ext cx="237744" cy="237744"/>
          </a:xfrm>
          <a:prstGeom prst="rect">
            <a:avLst/>
          </a:prstGeom>
        </p:spPr>
      </p:pic>
      <p:sp>
        <p:nvSpPr>
          <p:cNvPr id="28" name="Text 21"/>
          <p:cNvSpPr txBox="1"/>
          <p:nvPr/>
        </p:nvSpPr>
        <p:spPr>
          <a:xfrm>
            <a:off x="4027932" y="3209544"/>
            <a:ext cx="1737360" cy="457200"/>
          </a:xfrm>
          <a:prstGeom prst="rect">
            <a:avLst/>
          </a:prstGeom>
          <a:noFill/>
          <a:ln/>
        </p:spPr>
        <p:txBody>
          <a:bodyPr wrap="square" lIns="0" tIns="0" rIns="0" bIns="0" rtlCol="0" anchor="ctr"/>
          <a:lstStyle/>
          <a:p>
            <a:pPr indent="0" marL="0">
              <a:buNone/>
            </a:pPr>
            <a:r>
              <a:rPr lang="en-US" sz="1600" b="1" dirty="0">
                <a:solidFill>
                  <a:schemeClr val="bg1"/>
                </a:solidFill>
              </a:rPr>
              <a:t>Digital gate passes</a:t>
            </a:r>
            <a:endParaRPr lang="en-US" sz="1600" dirty="0"/>
          </a:p>
        </p:txBody>
      </p:sp>
      <p:sp>
        <p:nvSpPr>
          <p:cNvPr id="29" name="Text 22"/>
          <p:cNvSpPr txBox="1"/>
          <p:nvPr/>
        </p:nvSpPr>
        <p:spPr>
          <a:xfrm>
            <a:off x="3461004" y="3813048"/>
            <a:ext cx="2240280" cy="640080"/>
          </a:xfrm>
          <a:prstGeom prst="rect">
            <a:avLst/>
          </a:prstGeom>
          <a:noFill/>
          <a:ln/>
        </p:spPr>
        <p:txBody>
          <a:bodyPr wrap="square" lIns="0" tIns="0" rIns="0" bIns="0" rtlCol="0" anchor="t"/>
          <a:lstStyle/>
          <a:p>
            <a:pPr indent="0" marL="0">
              <a:buNone/>
            </a:pPr>
            <a:r>
              <a:rPr lang="en-US" sz="1400" dirty="0">
                <a:solidFill>
                  <a:schemeClr val="accent6"/>
                </a:solidFill>
              </a:rPr>
              <a:t>Leave and visitor approval with check-in/out</a:t>
            </a:r>
            <a:endParaRPr lang="en-US" sz="1400" dirty="0"/>
          </a:p>
        </p:txBody>
      </p:sp>
      <p:sp>
        <p:nvSpPr>
          <p:cNvPr id="30" name="Objective tile"/>
          <p:cNvSpPr/>
          <p:nvPr/>
        </p:nvSpPr>
        <p:spPr>
          <a:xfrm>
            <a:off x="6099048" y="3044952"/>
            <a:ext cx="2587752" cy="1481328"/>
          </a:xfrm>
          <a:prstGeom prst="roundRect">
            <a:avLst>
              <a:gd name="adj" fmla="val 7407"/>
            </a:avLst>
          </a:prstGeom>
          <a:solidFill>
            <a:schemeClr val="tx2"/>
          </a:solidFill>
          <a:ln/>
        </p:spPr>
      </p:sp>
      <p:sp>
        <p:nvSpPr>
          <p:cNvPr id="31" name="Icon disc"/>
          <p:cNvSpPr/>
          <p:nvPr/>
        </p:nvSpPr>
        <p:spPr>
          <a:xfrm>
            <a:off x="6281928" y="3209544"/>
            <a:ext cx="457200" cy="457200"/>
          </a:xfrm>
          <a:prstGeom prst="ellipse">
            <a:avLst/>
          </a:prstGeom>
          <a:solidFill>
            <a:schemeClr val="accent1"/>
          </a:solidFill>
          <a:ln/>
        </p:spPr>
      </p:sp>
      <p:pic>
        <p:nvPicPr>
          <p:cNvPr id="32" name="Image 5" descr="Cloud icon">    </p:cNvPr>
          <p:cNvPicPr>
            <a:picLocks noChangeAspect="1"/>
          </p:cNvPicPr>
          <p:nvPr/>
        </p:nvPicPr>
        <p:blipFill>
          <a:blip r:embed="rId6"/>
          <a:stretch>
            <a:fillRect/>
          </a:stretch>
        </p:blipFill>
        <p:spPr>
          <a:xfrm>
            <a:off x="6391656" y="3319272"/>
            <a:ext cx="237744" cy="237744"/>
          </a:xfrm>
          <a:prstGeom prst="rect">
            <a:avLst/>
          </a:prstGeom>
        </p:spPr>
      </p:pic>
      <p:sp>
        <p:nvSpPr>
          <p:cNvPr id="33" name="Text 25"/>
          <p:cNvSpPr txBox="1"/>
          <p:nvPr/>
        </p:nvSpPr>
        <p:spPr>
          <a:xfrm>
            <a:off x="6848856" y="3209544"/>
            <a:ext cx="1737360" cy="457200"/>
          </a:xfrm>
          <a:prstGeom prst="rect">
            <a:avLst/>
          </a:prstGeom>
          <a:noFill/>
          <a:ln/>
        </p:spPr>
        <p:txBody>
          <a:bodyPr wrap="square" lIns="0" tIns="0" rIns="0" bIns="0" rtlCol="0" anchor="ctr"/>
          <a:lstStyle/>
          <a:p>
            <a:pPr indent="0" marL="0">
              <a:buNone/>
            </a:pPr>
            <a:r>
              <a:rPr lang="en-US" sz="1600" b="1" dirty="0">
                <a:solidFill>
                  <a:schemeClr val="bg1"/>
                </a:solidFill>
              </a:rPr>
              <a:t>Live in the cloud</a:t>
            </a:r>
            <a:endParaRPr lang="en-US" sz="1600" dirty="0"/>
          </a:p>
        </p:txBody>
      </p:sp>
      <p:sp>
        <p:nvSpPr>
          <p:cNvPr id="34" name="Text 26"/>
          <p:cNvSpPr txBox="1"/>
          <p:nvPr/>
        </p:nvSpPr>
        <p:spPr>
          <a:xfrm>
            <a:off x="6281928" y="3813048"/>
            <a:ext cx="2240280" cy="640080"/>
          </a:xfrm>
          <a:prstGeom prst="rect">
            <a:avLst/>
          </a:prstGeom>
          <a:noFill/>
          <a:ln/>
        </p:spPr>
        <p:txBody>
          <a:bodyPr wrap="square" lIns="0" tIns="0" rIns="0" bIns="0" rtlCol="0" anchor="t"/>
          <a:lstStyle/>
          <a:p>
            <a:pPr indent="0" marL="0">
              <a:buNone/>
            </a:pPr>
            <a:r>
              <a:rPr lang="en-US" sz="1400" dirty="0">
                <a:solidFill>
                  <a:schemeClr val="accent6"/>
                </a:solidFill>
              </a:rPr>
              <a:t>Docker on Render with Aiven MySQL</a:t>
            </a:r>
            <a:endParaRPr lang="en-US" sz="1400" dirty="0"/>
          </a:p>
        </p:txBody>
      </p:sp>
      <p:sp>
        <p:nvSpPr>
          <p:cNvPr id="35" name="Text 27"/>
          <p:cNvSpPr txBox="1"/>
          <p:nvPr/>
        </p:nvSpPr>
        <p:spPr>
          <a:xfrm>
            <a:off x="1280160" y="4846320"/>
            <a:ext cx="5943600" cy="201168"/>
          </a:xfrm>
          <a:prstGeom prst="rect">
            <a:avLst/>
          </a:prstGeom>
          <a:noFill/>
          <a:ln/>
        </p:spPr>
        <p:txBody>
          <a:bodyPr wrap="square" lIns="0" tIns="0" rIns="0" bIns="0" rtlCol="0" anchor="t"/>
          <a:lstStyle/>
          <a:p>
            <a:pPr indent="0" marL="0">
              <a:buNone/>
            </a:pPr>
            <a:r>
              <a:rPr lang="en-US" sz="1000" dirty="0">
                <a:solidFill>
                  <a:schemeClr val="accent6"/>
                </a:solidFill>
              </a:rPr>
              <a:t>Out of scope for now: biometric attendance, IoT smart locks, real payment-gateway integration.</a:t>
            </a:r>
            <a:endParaRPr lang="en-US" sz="1000" dirty="0"/>
          </a:p>
        </p:txBody>
      </p:sp>
      <p:sp>
        <p:nvSpPr>
          <p:cNvPr id="25" name="Slide Number Placeholder 0"/>
          <p:cNvSpPr>
            <a:spLocks noGrp="1"/>
          </p:cNvSpPr>
          <p:nvPr>
            <p:ph type="sldNum" sz="quarter" idx="4294967295"/>
          </p:nvPr>
        </p:nvSpPr>
        <p:spPr>
          <a:xfrm>
            <a:off x="457200" y="4846320"/>
            <a:ext cx="54864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ection tag"/>
          <p:cNvSpPr/>
          <p:nvPr/>
        </p:nvSpPr>
        <p:spPr>
          <a:xfrm>
            <a:off x="457200" y="292608"/>
            <a:ext cx="2136038" cy="274320"/>
          </a:xfrm>
          <a:prstGeom prst="roundRect">
            <a:avLst>
              <a:gd name="adj" fmla="val 50000"/>
            </a:avLst>
          </a:prstGeom>
          <a:solidFill>
            <a:schemeClr val="accent1"/>
          </a:solidFill>
          <a:ln/>
        </p:spPr>
      </p:sp>
      <p:sp>
        <p:nvSpPr>
          <p:cNvPr id="3" name="Text 1"/>
          <p:cNvSpPr txBox="1"/>
          <p:nvPr/>
        </p:nvSpPr>
        <p:spPr>
          <a:xfrm>
            <a:off x="457200" y="292608"/>
            <a:ext cx="2136038" cy="274320"/>
          </a:xfrm>
          <a:prstGeom prst="rect">
            <a:avLst/>
          </a:prstGeom>
          <a:noFill/>
          <a:ln/>
        </p:spPr>
        <p:txBody>
          <a:bodyPr wrap="square" lIns="0" tIns="0" rIns="0" bIns="0" rtlCol="0" anchor="ctr"/>
          <a:lstStyle/>
          <a:p>
            <a:pPr algn="ctr" indent="0" marL="0">
              <a:buNone/>
            </a:pPr>
            <a:r>
              <a:rPr lang="en-US" sz="1000" b="1" spc="150" kern="0" dirty="0">
                <a:solidFill>
                  <a:schemeClr val="tx1"/>
                </a:solidFill>
              </a:rPr>
              <a:t>FLOOR 1  ·  WHO USES IT</a:t>
            </a:r>
            <a:endParaRPr lang="en-US" sz="1000" dirty="0"/>
          </a:p>
        </p:txBody>
      </p:sp>
      <p:sp>
        <p:nvSpPr>
          <p:cNvPr id="4" name="Text 2"/>
          <p:cNvSpPr/>
          <p:nvPr>
            <p:ph idx="103" type="title" hasCustomPrompt="1"/>
          </p:nvPr>
        </p:nvSpPr>
        <p:spPr>
          <a:xfrm>
            <a:off x="457200" y="640080"/>
            <a:ext cx="8229600" cy="685800"/>
          </a:xfrm>
          <a:prstGeom prst="rect">
            <a:avLst/>
          </a:prstGeom>
          <a:noFill/>
          <a:ln/>
        </p:spPr>
        <p:txBody>
          <a:bodyPr wrap="square" lIns="0" tIns="0" rIns="0" bIns="0" rtlCol="0" anchor="t"/>
          <a:lstStyle/>
          <a:p>
            <a:pPr algn="l" indent="0" marL="0">
              <a:buNone/>
            </a:pPr>
            <a:r>
              <a:rPr lang="en-US" sz="3600" b="1" dirty="0">
                <a:solidFill>
                  <a:schemeClr val="tx1"/>
                </a:solidFill>
              </a:rPr>
              <a:t>Four Roles, One Platform</a:t>
            </a:r>
            <a:endParaRPr lang="en-US" sz="3600" dirty="0"/>
          </a:p>
        </p:txBody>
      </p:sp>
      <p:sp>
        <p:nvSpPr>
          <p:cNvPr id="5" name="Role card"/>
          <p:cNvSpPr/>
          <p:nvPr/>
        </p:nvSpPr>
        <p:spPr>
          <a:xfrm>
            <a:off x="457200" y="1417320"/>
            <a:ext cx="1920240" cy="3246120"/>
          </a:xfrm>
          <a:prstGeom prst="roundRect">
            <a:avLst>
              <a:gd name="adj" fmla="val 5714"/>
            </a:avLst>
          </a:prstGeom>
          <a:solidFill>
            <a:schemeClr val="bg1"/>
          </a:solidFill>
          <a:ln/>
          <a:effectLst>
            <a:outerShdw sx="100000" sy="100000" kx="0" ky="0" algn="bl" rotWithShape="0" blurRad="101600" dist="25400" dir="5400000">
              <a:srgbClr val="0B1F2A">
                <a:alpha val="14000"/>
              </a:srgbClr>
            </a:outerShdw>
          </a:effectLst>
        </p:spPr>
      </p:sp>
      <p:sp>
        <p:nvSpPr>
          <p:cNvPr id="6" name="Role disc"/>
          <p:cNvSpPr/>
          <p:nvPr/>
        </p:nvSpPr>
        <p:spPr>
          <a:xfrm>
            <a:off x="640080" y="1600200"/>
            <a:ext cx="566928" cy="566928"/>
          </a:xfrm>
          <a:prstGeom prst="ellipse">
            <a:avLst/>
          </a:prstGeom>
          <a:solidFill>
            <a:schemeClr val="tx1"/>
          </a:solidFill>
          <a:ln/>
        </p:spPr>
      </p:sp>
      <p:pic>
        <p:nvPicPr>
          <p:cNvPr id="7" name="Image 0" descr="UserShield icon">    </p:cNvPr>
          <p:cNvPicPr>
            <a:picLocks noChangeAspect="1"/>
          </p:cNvPicPr>
          <p:nvPr/>
        </p:nvPicPr>
        <p:blipFill>
          <a:blip r:embed="rId1"/>
          <a:stretch>
            <a:fillRect/>
          </a:stretch>
        </p:blipFill>
        <p:spPr>
          <a:xfrm>
            <a:off x="795528" y="1755648"/>
            <a:ext cx="256032" cy="256032"/>
          </a:xfrm>
          <a:prstGeom prst="rect">
            <a:avLst/>
          </a:prstGeom>
        </p:spPr>
      </p:pic>
      <p:sp>
        <p:nvSpPr>
          <p:cNvPr id="8" name="Text 5"/>
          <p:cNvSpPr txBox="1"/>
          <p:nvPr/>
        </p:nvSpPr>
        <p:spPr>
          <a:xfrm>
            <a:off x="640080" y="2286000"/>
            <a:ext cx="1554480" cy="292608"/>
          </a:xfrm>
          <a:prstGeom prst="rect">
            <a:avLst/>
          </a:prstGeom>
          <a:noFill/>
          <a:ln/>
        </p:spPr>
        <p:txBody>
          <a:bodyPr wrap="square" lIns="0" tIns="0" rIns="0" bIns="0" rtlCol="0" anchor="t"/>
          <a:lstStyle/>
          <a:p>
            <a:pPr indent="0" marL="0">
              <a:buNone/>
            </a:pPr>
            <a:r>
              <a:rPr lang="en-US" sz="1800" b="1" dirty="0">
                <a:solidFill>
                  <a:schemeClr val="tx1"/>
                </a:solidFill>
              </a:rPr>
              <a:t>Warden</a:t>
            </a:r>
            <a:endParaRPr lang="en-US" sz="1800" dirty="0"/>
          </a:p>
        </p:txBody>
      </p:sp>
      <p:sp>
        <p:nvSpPr>
          <p:cNvPr id="9" name="Route chip"/>
          <p:cNvSpPr/>
          <p:nvPr/>
        </p:nvSpPr>
        <p:spPr>
          <a:xfrm>
            <a:off x="640080" y="2615184"/>
            <a:ext cx="1554480" cy="237744"/>
          </a:xfrm>
          <a:prstGeom prst="roundRect">
            <a:avLst>
              <a:gd name="adj" fmla="val 50000"/>
            </a:avLst>
          </a:prstGeom>
          <a:solidFill>
            <a:schemeClr val="accent6">
              <a:alpha val="55000"/>
            </a:schemeClr>
          </a:solidFill>
          <a:ln/>
        </p:spPr>
      </p:sp>
      <p:sp>
        <p:nvSpPr>
          <p:cNvPr id="10" name="Text 7"/>
          <p:cNvSpPr txBox="1"/>
          <p:nvPr/>
        </p:nvSpPr>
        <p:spPr>
          <a:xfrm>
            <a:off x="640080" y="2615184"/>
            <a:ext cx="1554480" cy="237744"/>
          </a:xfrm>
          <a:prstGeom prst="rect">
            <a:avLst/>
          </a:prstGeom>
          <a:noFill/>
          <a:ln/>
        </p:spPr>
        <p:txBody>
          <a:bodyPr wrap="square" lIns="0" tIns="0" rIns="0" bIns="0" rtlCol="0" anchor="ctr"/>
          <a:lstStyle/>
          <a:p>
            <a:pPr algn="ctr" indent="0" marL="0">
              <a:buNone/>
            </a:pPr>
            <a:r>
              <a:rPr lang="en-US" sz="1000" b="1" dirty="0">
                <a:solidFill>
                  <a:schemeClr val="accent5"/>
                </a:solidFill>
                <a:latin typeface="Courier New" pitchFamily="34" charset="0"/>
                <a:ea typeface="Courier New" pitchFamily="34" charset="-122"/>
                <a:cs typeface="Courier New" pitchFamily="34" charset="-120"/>
              </a:rPr>
              <a:t>/warden</a:t>
            </a:r>
            <a:endParaRPr lang="en-US" sz="1000" dirty="0"/>
          </a:p>
        </p:txBody>
      </p:sp>
      <p:sp>
        <p:nvSpPr>
          <p:cNvPr id="11" name="Text 8"/>
          <p:cNvSpPr txBox="1"/>
          <p:nvPr/>
        </p:nvSpPr>
        <p:spPr>
          <a:xfrm>
            <a:off x="640080" y="2990088"/>
            <a:ext cx="1600200" cy="1600200"/>
          </a:xfrm>
          <a:prstGeom prst="rect">
            <a:avLst/>
          </a:prstGeom>
          <a:noFill/>
          <a:ln/>
        </p:spPr>
        <p:txBody>
          <a:bodyPr wrap="square" lIns="0" tIns="0" rIns="0" bIns="0" rtlCol="0" anchor="t"/>
          <a:lstStyle/>
          <a:p>
            <a:pPr marL="152400" indent="-152400">
              <a:spcAft>
                <a:spcPts val="600"/>
              </a:spcAft>
              <a:buSzPct val="100000"/>
              <a:buChar char="•"/>
            </a:pPr>
            <a:r>
              <a:rPr lang="en-US" sz="1400" dirty="0">
                <a:solidFill>
                  <a:schemeClr val="tx1"/>
                </a:solidFill>
              </a:rPr>
              <a:t>Registers students, rooms</a:t>
            </a:r>
            <a:endParaRPr lang="en-US" sz="1400" dirty="0"/>
          </a:p>
          <a:p>
            <a:pPr marL="152400" indent="-152400">
              <a:spcAft>
                <a:spcPts val="600"/>
              </a:spcAft>
              <a:buSzPct val="100000"/>
              <a:buChar char="•"/>
            </a:pPr>
            <a:r>
              <a:rPr lang="en-US" sz="1400" dirty="0">
                <a:solidFill>
                  <a:schemeClr val="tx1"/>
                </a:solidFill>
              </a:rPr>
              <a:t>Approves allocations, passes</a:t>
            </a:r>
            <a:endParaRPr lang="en-US" sz="1400" dirty="0"/>
          </a:p>
          <a:p>
            <a:pPr marL="152400" indent="-152400">
              <a:spcAft>
                <a:spcPts val="600"/>
              </a:spcAft>
              <a:buSzPct val="100000"/>
              <a:buChar char="•"/>
            </a:pPr>
            <a:r>
              <a:rPr lang="en-US" sz="1400" dirty="0">
                <a:solidFill>
                  <a:schemeClr val="tx1"/>
                </a:solidFill>
              </a:rPr>
              <a:t>Verifies finished repairs</a:t>
            </a:r>
            <a:endParaRPr lang="en-US" sz="1400" dirty="0"/>
          </a:p>
        </p:txBody>
      </p:sp>
      <p:sp>
        <p:nvSpPr>
          <p:cNvPr id="12" name="Role card"/>
          <p:cNvSpPr/>
          <p:nvPr/>
        </p:nvSpPr>
        <p:spPr>
          <a:xfrm>
            <a:off x="2560320" y="1417320"/>
            <a:ext cx="1920240" cy="3246120"/>
          </a:xfrm>
          <a:prstGeom prst="roundRect">
            <a:avLst>
              <a:gd name="adj" fmla="val 5714"/>
            </a:avLst>
          </a:prstGeom>
          <a:solidFill>
            <a:schemeClr val="bg1"/>
          </a:solidFill>
          <a:ln/>
          <a:effectLst>
            <a:outerShdw sx="100000" sy="100000" kx="0" ky="0" algn="bl" rotWithShape="0" blurRad="101600" dist="25400" dir="5400000">
              <a:srgbClr val="0B1F2A">
                <a:alpha val="14000"/>
              </a:srgbClr>
            </a:outerShdw>
          </a:effectLst>
        </p:spPr>
      </p:sp>
      <p:sp>
        <p:nvSpPr>
          <p:cNvPr id="13" name="Role disc"/>
          <p:cNvSpPr/>
          <p:nvPr/>
        </p:nvSpPr>
        <p:spPr>
          <a:xfrm>
            <a:off x="2743200" y="1600200"/>
            <a:ext cx="566928" cy="566928"/>
          </a:xfrm>
          <a:prstGeom prst="ellipse">
            <a:avLst/>
          </a:prstGeom>
          <a:solidFill>
            <a:schemeClr val="tx1"/>
          </a:solidFill>
          <a:ln/>
        </p:spPr>
      </p:sp>
      <p:pic>
        <p:nvPicPr>
          <p:cNvPr id="14" name="Image 1" descr="UserGraduate icon">    </p:cNvPr>
          <p:cNvPicPr>
            <a:picLocks noChangeAspect="1"/>
          </p:cNvPicPr>
          <p:nvPr/>
        </p:nvPicPr>
        <p:blipFill>
          <a:blip r:embed="rId2"/>
          <a:stretch>
            <a:fillRect/>
          </a:stretch>
        </p:blipFill>
        <p:spPr>
          <a:xfrm>
            <a:off x="2898648" y="1755648"/>
            <a:ext cx="256032" cy="256032"/>
          </a:xfrm>
          <a:prstGeom prst="rect">
            <a:avLst/>
          </a:prstGeom>
        </p:spPr>
      </p:pic>
      <p:sp>
        <p:nvSpPr>
          <p:cNvPr id="15" name="Text 11"/>
          <p:cNvSpPr txBox="1"/>
          <p:nvPr/>
        </p:nvSpPr>
        <p:spPr>
          <a:xfrm>
            <a:off x="2743200" y="2286000"/>
            <a:ext cx="1554480" cy="292608"/>
          </a:xfrm>
          <a:prstGeom prst="rect">
            <a:avLst/>
          </a:prstGeom>
          <a:noFill/>
          <a:ln/>
        </p:spPr>
        <p:txBody>
          <a:bodyPr wrap="square" lIns="0" tIns="0" rIns="0" bIns="0" rtlCol="0" anchor="t"/>
          <a:lstStyle/>
          <a:p>
            <a:pPr indent="0" marL="0">
              <a:buNone/>
            </a:pPr>
            <a:r>
              <a:rPr lang="en-US" sz="1800" b="1" dirty="0">
                <a:solidFill>
                  <a:schemeClr val="tx1"/>
                </a:solidFill>
              </a:rPr>
              <a:t>Student</a:t>
            </a:r>
            <a:endParaRPr lang="en-US" sz="1800" dirty="0"/>
          </a:p>
        </p:txBody>
      </p:sp>
      <p:sp>
        <p:nvSpPr>
          <p:cNvPr id="16" name="Route chip"/>
          <p:cNvSpPr/>
          <p:nvPr/>
        </p:nvSpPr>
        <p:spPr>
          <a:xfrm>
            <a:off x="2743200" y="2615184"/>
            <a:ext cx="1554480" cy="237744"/>
          </a:xfrm>
          <a:prstGeom prst="roundRect">
            <a:avLst>
              <a:gd name="adj" fmla="val 50000"/>
            </a:avLst>
          </a:prstGeom>
          <a:solidFill>
            <a:schemeClr val="accent6">
              <a:alpha val="55000"/>
            </a:schemeClr>
          </a:solidFill>
          <a:ln/>
        </p:spPr>
      </p:sp>
      <p:sp>
        <p:nvSpPr>
          <p:cNvPr id="17" name="Text 13"/>
          <p:cNvSpPr txBox="1"/>
          <p:nvPr/>
        </p:nvSpPr>
        <p:spPr>
          <a:xfrm>
            <a:off x="2743200" y="2615184"/>
            <a:ext cx="1554480" cy="237744"/>
          </a:xfrm>
          <a:prstGeom prst="rect">
            <a:avLst/>
          </a:prstGeom>
          <a:noFill/>
          <a:ln/>
        </p:spPr>
        <p:txBody>
          <a:bodyPr wrap="square" lIns="0" tIns="0" rIns="0" bIns="0" rtlCol="0" anchor="ctr"/>
          <a:lstStyle/>
          <a:p>
            <a:pPr algn="ctr" indent="0" marL="0">
              <a:buNone/>
            </a:pPr>
            <a:r>
              <a:rPr lang="en-US" sz="1000" b="1" dirty="0">
                <a:solidFill>
                  <a:schemeClr val="accent5"/>
                </a:solidFill>
                <a:latin typeface="Courier New" pitchFamily="34" charset="0"/>
                <a:ea typeface="Courier New" pitchFamily="34" charset="-122"/>
                <a:cs typeface="Courier New" pitchFamily="34" charset="-120"/>
              </a:rPr>
              <a:t>/student</a:t>
            </a:r>
            <a:endParaRPr lang="en-US" sz="1000" dirty="0"/>
          </a:p>
        </p:txBody>
      </p:sp>
      <p:sp>
        <p:nvSpPr>
          <p:cNvPr id="18" name="Text 14"/>
          <p:cNvSpPr txBox="1"/>
          <p:nvPr/>
        </p:nvSpPr>
        <p:spPr>
          <a:xfrm>
            <a:off x="2743200" y="2990088"/>
            <a:ext cx="1600200" cy="1600200"/>
          </a:xfrm>
          <a:prstGeom prst="rect">
            <a:avLst/>
          </a:prstGeom>
          <a:noFill/>
          <a:ln/>
        </p:spPr>
        <p:txBody>
          <a:bodyPr wrap="square" lIns="0" tIns="0" rIns="0" bIns="0" rtlCol="0" anchor="t"/>
          <a:lstStyle/>
          <a:p>
            <a:pPr marL="152400" indent="-152400">
              <a:spcAft>
                <a:spcPts val="600"/>
              </a:spcAft>
              <a:buSzPct val="100000"/>
              <a:buChar char="•"/>
            </a:pPr>
            <a:r>
              <a:rPr lang="en-US" sz="1400" dirty="0">
                <a:solidFill>
                  <a:schemeClr val="tx1"/>
                </a:solidFill>
              </a:rPr>
              <a:t>Views room and fee dues</a:t>
            </a:r>
            <a:endParaRPr lang="en-US" sz="1400" dirty="0"/>
          </a:p>
          <a:p>
            <a:pPr marL="152400" indent="-152400">
              <a:spcAft>
                <a:spcPts val="600"/>
              </a:spcAft>
              <a:buSzPct val="100000"/>
              <a:buChar char="•"/>
            </a:pPr>
            <a:r>
              <a:rPr lang="en-US" sz="1400" dirty="0">
                <a:solidFill>
                  <a:schemeClr val="tx1"/>
                </a:solidFill>
              </a:rPr>
              <a:t>Pays fees, lodges complaints</a:t>
            </a:r>
            <a:endParaRPr lang="en-US" sz="1400" dirty="0"/>
          </a:p>
          <a:p>
            <a:pPr marL="152400" indent="-152400">
              <a:spcAft>
                <a:spcPts val="600"/>
              </a:spcAft>
              <a:buSzPct val="100000"/>
              <a:buChar char="•"/>
            </a:pPr>
            <a:r>
              <a:rPr lang="en-US" sz="1400" dirty="0">
                <a:solidFill>
                  <a:schemeClr val="tx1"/>
                </a:solidFill>
              </a:rPr>
              <a:t>Requests leave, visitors</a:t>
            </a:r>
            <a:endParaRPr lang="en-US" sz="1400" dirty="0"/>
          </a:p>
        </p:txBody>
      </p:sp>
      <p:sp>
        <p:nvSpPr>
          <p:cNvPr id="19" name="Role card"/>
          <p:cNvSpPr/>
          <p:nvPr/>
        </p:nvSpPr>
        <p:spPr>
          <a:xfrm>
            <a:off x="4663440" y="1417320"/>
            <a:ext cx="1920240" cy="3246120"/>
          </a:xfrm>
          <a:prstGeom prst="roundRect">
            <a:avLst>
              <a:gd name="adj" fmla="val 5714"/>
            </a:avLst>
          </a:prstGeom>
          <a:solidFill>
            <a:schemeClr val="bg1"/>
          </a:solidFill>
          <a:ln/>
          <a:effectLst>
            <a:outerShdw sx="100000" sy="100000" kx="0" ky="0" algn="bl" rotWithShape="0" blurRad="101600" dist="25400" dir="5400000">
              <a:srgbClr val="0B1F2A">
                <a:alpha val="14000"/>
              </a:srgbClr>
            </a:outerShdw>
          </a:effectLst>
        </p:spPr>
      </p:sp>
      <p:sp>
        <p:nvSpPr>
          <p:cNvPr id="20" name="Role disc"/>
          <p:cNvSpPr/>
          <p:nvPr/>
        </p:nvSpPr>
        <p:spPr>
          <a:xfrm>
            <a:off x="4846320" y="1600200"/>
            <a:ext cx="566928" cy="566928"/>
          </a:xfrm>
          <a:prstGeom prst="ellipse">
            <a:avLst/>
          </a:prstGeom>
          <a:solidFill>
            <a:schemeClr val="tx1"/>
          </a:solidFill>
          <a:ln/>
        </p:spPr>
      </p:sp>
      <p:pic>
        <p:nvPicPr>
          <p:cNvPr id="21" name="Image 2" descr="FileInvoiceDollar icon">    </p:cNvPr>
          <p:cNvPicPr>
            <a:picLocks noChangeAspect="1"/>
          </p:cNvPicPr>
          <p:nvPr/>
        </p:nvPicPr>
        <p:blipFill>
          <a:blip r:embed="rId3"/>
          <a:stretch>
            <a:fillRect/>
          </a:stretch>
        </p:blipFill>
        <p:spPr>
          <a:xfrm>
            <a:off x="5001768" y="1755648"/>
            <a:ext cx="256032" cy="256032"/>
          </a:xfrm>
          <a:prstGeom prst="rect">
            <a:avLst/>
          </a:prstGeom>
        </p:spPr>
      </p:pic>
      <p:sp>
        <p:nvSpPr>
          <p:cNvPr id="22" name="Text 17"/>
          <p:cNvSpPr txBox="1"/>
          <p:nvPr/>
        </p:nvSpPr>
        <p:spPr>
          <a:xfrm>
            <a:off x="4846320" y="2286000"/>
            <a:ext cx="1554480" cy="292608"/>
          </a:xfrm>
          <a:prstGeom prst="rect">
            <a:avLst/>
          </a:prstGeom>
          <a:noFill/>
          <a:ln/>
        </p:spPr>
        <p:txBody>
          <a:bodyPr wrap="square" lIns="0" tIns="0" rIns="0" bIns="0" rtlCol="0" anchor="t"/>
          <a:lstStyle/>
          <a:p>
            <a:pPr indent="0" marL="0">
              <a:buNone/>
            </a:pPr>
            <a:r>
              <a:rPr lang="en-US" sz="1800" b="1" dirty="0">
                <a:solidFill>
                  <a:schemeClr val="tx1"/>
                </a:solidFill>
              </a:rPr>
              <a:t>Accountant</a:t>
            </a:r>
            <a:endParaRPr lang="en-US" sz="1800" dirty="0"/>
          </a:p>
        </p:txBody>
      </p:sp>
      <p:sp>
        <p:nvSpPr>
          <p:cNvPr id="23" name="Route chip"/>
          <p:cNvSpPr/>
          <p:nvPr/>
        </p:nvSpPr>
        <p:spPr>
          <a:xfrm>
            <a:off x="4846320" y="2615184"/>
            <a:ext cx="1554480" cy="237744"/>
          </a:xfrm>
          <a:prstGeom prst="roundRect">
            <a:avLst>
              <a:gd name="adj" fmla="val 50000"/>
            </a:avLst>
          </a:prstGeom>
          <a:solidFill>
            <a:schemeClr val="accent6">
              <a:alpha val="55000"/>
            </a:schemeClr>
          </a:solidFill>
          <a:ln/>
        </p:spPr>
      </p:sp>
      <p:sp>
        <p:nvSpPr>
          <p:cNvPr id="24" name="Text 19"/>
          <p:cNvSpPr txBox="1"/>
          <p:nvPr/>
        </p:nvSpPr>
        <p:spPr>
          <a:xfrm>
            <a:off x="4846320" y="2615184"/>
            <a:ext cx="1554480" cy="237744"/>
          </a:xfrm>
          <a:prstGeom prst="rect">
            <a:avLst/>
          </a:prstGeom>
          <a:noFill/>
          <a:ln/>
        </p:spPr>
        <p:txBody>
          <a:bodyPr wrap="square" lIns="0" tIns="0" rIns="0" bIns="0" rtlCol="0" anchor="ctr"/>
          <a:lstStyle/>
          <a:p>
            <a:pPr algn="ctr" indent="0" marL="0">
              <a:buNone/>
            </a:pPr>
            <a:r>
              <a:rPr lang="en-US" sz="1000" b="1" dirty="0">
                <a:solidFill>
                  <a:schemeClr val="accent5"/>
                </a:solidFill>
                <a:latin typeface="Courier New" pitchFamily="34" charset="0"/>
                <a:ea typeface="Courier New" pitchFamily="34" charset="-122"/>
                <a:cs typeface="Courier New" pitchFamily="34" charset="-120"/>
              </a:rPr>
              <a:t>/accountant</a:t>
            </a:r>
            <a:endParaRPr lang="en-US" sz="1000" dirty="0"/>
          </a:p>
        </p:txBody>
      </p:sp>
      <p:sp>
        <p:nvSpPr>
          <p:cNvPr id="25" name="Text 20"/>
          <p:cNvSpPr txBox="1"/>
          <p:nvPr/>
        </p:nvSpPr>
        <p:spPr>
          <a:xfrm>
            <a:off x="4846320" y="2990088"/>
            <a:ext cx="1600200" cy="1600200"/>
          </a:xfrm>
          <a:prstGeom prst="rect">
            <a:avLst/>
          </a:prstGeom>
          <a:noFill/>
          <a:ln/>
        </p:spPr>
        <p:txBody>
          <a:bodyPr wrap="square" lIns="0" tIns="0" rIns="0" bIns="0" rtlCol="0" anchor="t"/>
          <a:lstStyle/>
          <a:p>
            <a:pPr marL="152400" indent="-152400">
              <a:spcAft>
                <a:spcPts val="600"/>
              </a:spcAft>
              <a:buSzPct val="100000"/>
              <a:buChar char="•"/>
            </a:pPr>
            <a:r>
              <a:rPr lang="en-US" sz="1400" dirty="0">
                <a:solidFill>
                  <a:schemeClr val="tx1"/>
                </a:solidFill>
              </a:rPr>
              <a:t>Generates monthly invoices</a:t>
            </a:r>
            <a:endParaRPr lang="en-US" sz="1400" dirty="0"/>
          </a:p>
          <a:p>
            <a:pPr marL="152400" indent="-152400">
              <a:spcAft>
                <a:spcPts val="600"/>
              </a:spcAft>
              <a:buSzPct val="100000"/>
              <a:buChar char="•"/>
            </a:pPr>
            <a:r>
              <a:rPr lang="en-US" sz="1400" dirty="0">
                <a:solidFill>
                  <a:schemeClr val="tx1"/>
                </a:solidFill>
              </a:rPr>
              <a:t>Records counter payments</a:t>
            </a:r>
            <a:endParaRPr lang="en-US" sz="1400" dirty="0"/>
          </a:p>
          <a:p>
            <a:pPr marL="152400" indent="-152400">
              <a:spcAft>
                <a:spcPts val="600"/>
              </a:spcAft>
              <a:buSzPct val="100000"/>
              <a:buChar char="•"/>
            </a:pPr>
            <a:r>
              <a:rPr lang="en-US" sz="1400" dirty="0">
                <a:solidFill>
                  <a:schemeClr val="tx1"/>
                </a:solidFill>
              </a:rPr>
              <a:t>Views collection reports</a:t>
            </a:r>
            <a:endParaRPr lang="en-US" sz="1400" dirty="0"/>
          </a:p>
        </p:txBody>
      </p:sp>
      <p:sp>
        <p:nvSpPr>
          <p:cNvPr id="26" name="Role card"/>
          <p:cNvSpPr/>
          <p:nvPr/>
        </p:nvSpPr>
        <p:spPr>
          <a:xfrm>
            <a:off x="6766560" y="1417320"/>
            <a:ext cx="1920240" cy="3246120"/>
          </a:xfrm>
          <a:prstGeom prst="roundRect">
            <a:avLst>
              <a:gd name="adj" fmla="val 5714"/>
            </a:avLst>
          </a:prstGeom>
          <a:solidFill>
            <a:schemeClr val="bg1"/>
          </a:solidFill>
          <a:ln/>
          <a:effectLst>
            <a:outerShdw sx="100000" sy="100000" kx="0" ky="0" algn="bl" rotWithShape="0" blurRad="101600" dist="25400" dir="5400000">
              <a:srgbClr val="0B1F2A">
                <a:alpha val="14000"/>
              </a:srgbClr>
            </a:outerShdw>
          </a:effectLst>
        </p:spPr>
      </p:sp>
      <p:sp>
        <p:nvSpPr>
          <p:cNvPr id="27" name="Role disc"/>
          <p:cNvSpPr/>
          <p:nvPr/>
        </p:nvSpPr>
        <p:spPr>
          <a:xfrm>
            <a:off x="6949440" y="1600200"/>
            <a:ext cx="566928" cy="566928"/>
          </a:xfrm>
          <a:prstGeom prst="ellipse">
            <a:avLst/>
          </a:prstGeom>
          <a:solidFill>
            <a:schemeClr val="tx1"/>
          </a:solidFill>
          <a:ln/>
        </p:spPr>
      </p:sp>
      <p:pic>
        <p:nvPicPr>
          <p:cNvPr id="28" name="Image 3" descr="Tools icon">    </p:cNvPr>
          <p:cNvPicPr>
            <a:picLocks noChangeAspect="1"/>
          </p:cNvPicPr>
          <p:nvPr/>
        </p:nvPicPr>
        <p:blipFill>
          <a:blip r:embed="rId4"/>
          <a:stretch>
            <a:fillRect/>
          </a:stretch>
        </p:blipFill>
        <p:spPr>
          <a:xfrm>
            <a:off x="7104888" y="1755648"/>
            <a:ext cx="256032" cy="256032"/>
          </a:xfrm>
          <a:prstGeom prst="rect">
            <a:avLst/>
          </a:prstGeom>
        </p:spPr>
      </p:pic>
      <p:sp>
        <p:nvSpPr>
          <p:cNvPr id="29" name="Text 23"/>
          <p:cNvSpPr txBox="1"/>
          <p:nvPr/>
        </p:nvSpPr>
        <p:spPr>
          <a:xfrm>
            <a:off x="6949440" y="2286000"/>
            <a:ext cx="1554480" cy="292608"/>
          </a:xfrm>
          <a:prstGeom prst="rect">
            <a:avLst/>
          </a:prstGeom>
          <a:noFill/>
          <a:ln/>
        </p:spPr>
        <p:txBody>
          <a:bodyPr wrap="square" lIns="0" tIns="0" rIns="0" bIns="0" rtlCol="0" anchor="t"/>
          <a:lstStyle/>
          <a:p>
            <a:pPr indent="0" marL="0">
              <a:buNone/>
            </a:pPr>
            <a:r>
              <a:rPr lang="en-US" sz="1800" b="1" dirty="0">
                <a:solidFill>
                  <a:schemeClr val="tx1"/>
                </a:solidFill>
              </a:rPr>
              <a:t>Maintenance</a:t>
            </a:r>
            <a:endParaRPr lang="en-US" sz="1800" dirty="0"/>
          </a:p>
        </p:txBody>
      </p:sp>
      <p:sp>
        <p:nvSpPr>
          <p:cNvPr id="30" name="Route chip"/>
          <p:cNvSpPr/>
          <p:nvPr/>
        </p:nvSpPr>
        <p:spPr>
          <a:xfrm>
            <a:off x="6949440" y="2615184"/>
            <a:ext cx="1554480" cy="237744"/>
          </a:xfrm>
          <a:prstGeom prst="roundRect">
            <a:avLst>
              <a:gd name="adj" fmla="val 50000"/>
            </a:avLst>
          </a:prstGeom>
          <a:solidFill>
            <a:schemeClr val="accent6">
              <a:alpha val="55000"/>
            </a:schemeClr>
          </a:solidFill>
          <a:ln/>
        </p:spPr>
      </p:sp>
      <p:sp>
        <p:nvSpPr>
          <p:cNvPr id="31" name="Text 25"/>
          <p:cNvSpPr txBox="1"/>
          <p:nvPr/>
        </p:nvSpPr>
        <p:spPr>
          <a:xfrm>
            <a:off x="6949440" y="2615184"/>
            <a:ext cx="1554480" cy="237744"/>
          </a:xfrm>
          <a:prstGeom prst="rect">
            <a:avLst/>
          </a:prstGeom>
          <a:noFill/>
          <a:ln/>
        </p:spPr>
        <p:txBody>
          <a:bodyPr wrap="square" lIns="0" tIns="0" rIns="0" bIns="0" rtlCol="0" anchor="ctr"/>
          <a:lstStyle/>
          <a:p>
            <a:pPr algn="ctr" indent="0" marL="0">
              <a:buNone/>
            </a:pPr>
            <a:r>
              <a:rPr lang="en-US" sz="1000" b="1" dirty="0">
                <a:solidFill>
                  <a:schemeClr val="accent5"/>
                </a:solidFill>
                <a:latin typeface="Courier New" pitchFamily="34" charset="0"/>
                <a:ea typeface="Courier New" pitchFamily="34" charset="-122"/>
                <a:cs typeface="Courier New" pitchFamily="34" charset="-120"/>
              </a:rPr>
              <a:t>/complaint-staff</a:t>
            </a:r>
            <a:endParaRPr lang="en-US" sz="1000" dirty="0"/>
          </a:p>
        </p:txBody>
      </p:sp>
      <p:sp>
        <p:nvSpPr>
          <p:cNvPr id="32" name="Text 26"/>
          <p:cNvSpPr txBox="1"/>
          <p:nvPr/>
        </p:nvSpPr>
        <p:spPr>
          <a:xfrm>
            <a:off x="6949440" y="2990088"/>
            <a:ext cx="1600200" cy="1600200"/>
          </a:xfrm>
          <a:prstGeom prst="rect">
            <a:avLst/>
          </a:prstGeom>
          <a:noFill/>
          <a:ln/>
        </p:spPr>
        <p:txBody>
          <a:bodyPr wrap="square" lIns="0" tIns="0" rIns="0" bIns="0" rtlCol="0" anchor="t"/>
          <a:lstStyle/>
          <a:p>
            <a:pPr marL="152400" indent="-152400">
              <a:spcAft>
                <a:spcPts val="600"/>
              </a:spcAft>
              <a:buSzPct val="100000"/>
              <a:buChar char="•"/>
            </a:pPr>
            <a:r>
              <a:rPr lang="en-US" sz="1400" dirty="0">
                <a:solidFill>
                  <a:schemeClr val="tx1"/>
                </a:solidFill>
              </a:rPr>
              <a:t>Gets tickets automatically</a:t>
            </a:r>
            <a:endParaRPr lang="en-US" sz="1400" dirty="0"/>
          </a:p>
          <a:p>
            <a:pPr marL="152400" indent="-152400">
              <a:spcAft>
                <a:spcPts val="600"/>
              </a:spcAft>
              <a:buSzPct val="100000"/>
              <a:buChar char="•"/>
            </a:pPr>
            <a:r>
              <a:rPr lang="en-US" sz="1400" dirty="0">
                <a:solidFill>
                  <a:schemeClr val="tx1"/>
                </a:solidFill>
              </a:rPr>
              <a:t>Accepts and fixes issues</a:t>
            </a:r>
            <a:endParaRPr lang="en-US" sz="1400" dirty="0"/>
          </a:p>
          <a:p>
            <a:pPr marL="152400" indent="-152400">
              <a:spcAft>
                <a:spcPts val="600"/>
              </a:spcAft>
              <a:buSzPct val="100000"/>
              <a:buChar char="•"/>
            </a:pPr>
            <a:r>
              <a:rPr lang="en-US" sz="1400" dirty="0">
                <a:solidFill>
                  <a:schemeClr val="tx1"/>
                </a:solidFill>
              </a:rPr>
              <a:t>Submits resolution notes</a:t>
            </a:r>
            <a:endParaRPr lang="en-US" sz="1400" dirty="0"/>
          </a:p>
        </p:txBody>
      </p:sp>
      <p:sp>
        <p:nvSpPr>
          <p:cNvPr id="25" name="Slide Number Placeholder 0"/>
          <p:cNvSpPr>
            <a:spLocks noGrp="1"/>
          </p:cNvSpPr>
          <p:nvPr>
            <p:ph type="sldNum" sz="quarter" idx="4294967295"/>
          </p:nvPr>
        </p:nvSpPr>
        <p:spPr>
          <a:xfrm>
            <a:off x="457200" y="4846320"/>
            <a:ext cx="54864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ection tag"/>
          <p:cNvSpPr/>
          <p:nvPr/>
        </p:nvSpPr>
        <p:spPr>
          <a:xfrm>
            <a:off x="457200" y="292608"/>
            <a:ext cx="2061058" cy="274320"/>
          </a:xfrm>
          <a:prstGeom prst="roundRect">
            <a:avLst>
              <a:gd name="adj" fmla="val 50000"/>
            </a:avLst>
          </a:prstGeom>
          <a:solidFill>
            <a:schemeClr val="accent1"/>
          </a:solidFill>
          <a:ln/>
        </p:spPr>
      </p:sp>
      <p:sp>
        <p:nvSpPr>
          <p:cNvPr id="3" name="Text 1"/>
          <p:cNvSpPr txBox="1"/>
          <p:nvPr/>
        </p:nvSpPr>
        <p:spPr>
          <a:xfrm>
            <a:off x="457200" y="292608"/>
            <a:ext cx="2061058" cy="274320"/>
          </a:xfrm>
          <a:prstGeom prst="rect">
            <a:avLst/>
          </a:prstGeom>
          <a:noFill/>
          <a:ln/>
        </p:spPr>
        <p:txBody>
          <a:bodyPr wrap="square" lIns="0" tIns="0" rIns="0" bIns="0" rtlCol="0" anchor="ctr"/>
          <a:lstStyle/>
          <a:p>
            <a:pPr algn="ctr" indent="0" marL="0">
              <a:buNone/>
            </a:pPr>
            <a:r>
              <a:rPr lang="en-US" sz="1000" b="1" spc="150" kern="0" dirty="0">
                <a:solidFill>
                  <a:schemeClr val="tx1"/>
                </a:solidFill>
              </a:rPr>
              <a:t>FLOOR 2  ·  TECH STACK</a:t>
            </a:r>
            <a:endParaRPr lang="en-US" sz="1000" dirty="0"/>
          </a:p>
        </p:txBody>
      </p:sp>
      <p:sp>
        <p:nvSpPr>
          <p:cNvPr id="4" name="Text 2"/>
          <p:cNvSpPr/>
          <p:nvPr>
            <p:ph idx="103" type="title" hasCustomPrompt="1"/>
          </p:nvPr>
        </p:nvSpPr>
        <p:spPr>
          <a:xfrm>
            <a:off x="457200" y="640080"/>
            <a:ext cx="8229600" cy="685800"/>
          </a:xfrm>
          <a:prstGeom prst="rect">
            <a:avLst/>
          </a:prstGeom>
          <a:noFill/>
          <a:ln/>
        </p:spPr>
        <p:txBody>
          <a:bodyPr wrap="square" lIns="0" tIns="0" rIns="0" bIns="0" rtlCol="0" anchor="t"/>
          <a:lstStyle/>
          <a:p>
            <a:pPr algn="l" indent="0" marL="0">
              <a:buNone/>
            </a:pPr>
            <a:r>
              <a:rPr lang="en-US" sz="3600" b="1" dirty="0">
                <a:solidFill>
                  <a:schemeClr val="bg1"/>
                </a:solidFill>
              </a:rPr>
              <a:t>Technology Stack</a:t>
            </a:r>
            <a:endParaRPr lang="en-US" sz="3600" dirty="0"/>
          </a:p>
        </p:txBody>
      </p:sp>
      <p:sp>
        <p:nvSpPr>
          <p:cNvPr id="5" name="Stack band"/>
          <p:cNvSpPr/>
          <p:nvPr/>
        </p:nvSpPr>
        <p:spPr>
          <a:xfrm>
            <a:off x="457200" y="1417320"/>
            <a:ext cx="8229600" cy="548640"/>
          </a:xfrm>
          <a:prstGeom prst="roundRect">
            <a:avLst>
              <a:gd name="adj" fmla="val 20000"/>
            </a:avLst>
          </a:prstGeom>
          <a:solidFill>
            <a:schemeClr val="tx2"/>
          </a:solidFill>
          <a:ln/>
        </p:spPr>
      </p:sp>
      <p:sp>
        <p:nvSpPr>
          <p:cNvPr id="6" name="Text 4"/>
          <p:cNvSpPr txBox="1"/>
          <p:nvPr/>
        </p:nvSpPr>
        <p:spPr>
          <a:xfrm>
            <a:off x="640080" y="1417320"/>
            <a:ext cx="1463040" cy="548640"/>
          </a:xfrm>
          <a:prstGeom prst="rect">
            <a:avLst/>
          </a:prstGeom>
          <a:noFill/>
          <a:ln/>
        </p:spPr>
        <p:txBody>
          <a:bodyPr wrap="square" lIns="0" tIns="0" rIns="0" bIns="0" rtlCol="0" anchor="ctr"/>
          <a:lstStyle/>
          <a:p>
            <a:pPr indent="0" marL="0">
              <a:buNone/>
            </a:pPr>
            <a:r>
              <a:rPr lang="en-US" sz="1100" b="1" spc="150" kern="0" dirty="0">
                <a:solidFill>
                  <a:schemeClr val="accent1"/>
                </a:solidFill>
              </a:rPr>
              <a:t>PRESENTATION</a:t>
            </a:r>
            <a:endParaRPr lang="en-US" sz="1100" dirty="0"/>
          </a:p>
        </p:txBody>
      </p:sp>
      <p:sp>
        <p:nvSpPr>
          <p:cNvPr id="7" name="Chip"/>
          <p:cNvSpPr/>
          <p:nvPr/>
        </p:nvSpPr>
        <p:spPr>
          <a:xfrm>
            <a:off x="2194560" y="1508760"/>
            <a:ext cx="1188720" cy="365760"/>
          </a:xfrm>
          <a:prstGeom prst="roundRect">
            <a:avLst>
              <a:gd name="adj" fmla="val 50000"/>
            </a:avLst>
          </a:prstGeom>
          <a:solidFill>
            <a:schemeClr val="tx1"/>
          </a:solidFill>
          <a:ln w="12700">
            <a:solidFill>
              <a:schemeClr val="accent2"/>
            </a:solidFill>
            <a:prstDash val="solid"/>
          </a:ln>
        </p:spPr>
      </p:sp>
      <p:sp>
        <p:nvSpPr>
          <p:cNvPr id="8" name="Text 6"/>
          <p:cNvSpPr txBox="1"/>
          <p:nvPr/>
        </p:nvSpPr>
        <p:spPr>
          <a:xfrm>
            <a:off x="2194560" y="1508760"/>
            <a:ext cx="1188720" cy="365760"/>
          </a:xfrm>
          <a:prstGeom prst="rect">
            <a:avLst/>
          </a:prstGeom>
          <a:noFill/>
          <a:ln/>
        </p:spPr>
        <p:txBody>
          <a:bodyPr wrap="square" lIns="0" tIns="0" rIns="0" bIns="0" rtlCol="0" anchor="ctr"/>
          <a:lstStyle/>
          <a:p>
            <a:pPr algn="ctr" indent="0" marL="0">
              <a:buNone/>
            </a:pPr>
            <a:r>
              <a:rPr lang="en-US" sz="1400" dirty="0">
                <a:solidFill>
                  <a:schemeClr val="bg1"/>
                </a:solidFill>
              </a:rPr>
              <a:t>Thymeleaf</a:t>
            </a:r>
            <a:endParaRPr lang="en-US" sz="1400" dirty="0"/>
          </a:p>
        </p:txBody>
      </p:sp>
      <p:sp>
        <p:nvSpPr>
          <p:cNvPr id="9" name="Chip"/>
          <p:cNvSpPr/>
          <p:nvPr/>
        </p:nvSpPr>
        <p:spPr>
          <a:xfrm>
            <a:off x="3493008" y="1508760"/>
            <a:ext cx="1371600" cy="365760"/>
          </a:xfrm>
          <a:prstGeom prst="roundRect">
            <a:avLst>
              <a:gd name="adj" fmla="val 50000"/>
            </a:avLst>
          </a:prstGeom>
          <a:solidFill>
            <a:schemeClr val="tx1"/>
          </a:solidFill>
          <a:ln w="12700">
            <a:solidFill>
              <a:schemeClr val="accent2"/>
            </a:solidFill>
            <a:prstDash val="solid"/>
          </a:ln>
        </p:spPr>
      </p:sp>
      <p:sp>
        <p:nvSpPr>
          <p:cNvPr id="10" name="Text 8"/>
          <p:cNvSpPr txBox="1"/>
          <p:nvPr/>
        </p:nvSpPr>
        <p:spPr>
          <a:xfrm>
            <a:off x="3493008" y="1508760"/>
            <a:ext cx="1371600" cy="365760"/>
          </a:xfrm>
          <a:prstGeom prst="rect">
            <a:avLst/>
          </a:prstGeom>
          <a:noFill/>
          <a:ln/>
        </p:spPr>
        <p:txBody>
          <a:bodyPr wrap="square" lIns="0" tIns="0" rIns="0" bIns="0" rtlCol="0" anchor="ctr"/>
          <a:lstStyle/>
          <a:p>
            <a:pPr algn="ctr" indent="0" marL="0">
              <a:buNone/>
            </a:pPr>
            <a:r>
              <a:rPr lang="en-US" sz="1400" dirty="0">
                <a:solidFill>
                  <a:schemeClr val="bg1"/>
                </a:solidFill>
              </a:rPr>
              <a:t>Bootstrap 5</a:t>
            </a:r>
            <a:endParaRPr lang="en-US" sz="1400" dirty="0"/>
          </a:p>
        </p:txBody>
      </p:sp>
      <p:sp>
        <p:nvSpPr>
          <p:cNvPr id="11" name="Chip"/>
          <p:cNvSpPr/>
          <p:nvPr/>
        </p:nvSpPr>
        <p:spPr>
          <a:xfrm>
            <a:off x="4974336" y="1508760"/>
            <a:ext cx="1097280" cy="365760"/>
          </a:xfrm>
          <a:prstGeom prst="roundRect">
            <a:avLst>
              <a:gd name="adj" fmla="val 50000"/>
            </a:avLst>
          </a:prstGeom>
          <a:solidFill>
            <a:schemeClr val="tx1"/>
          </a:solidFill>
          <a:ln w="12700">
            <a:solidFill>
              <a:schemeClr val="accent2"/>
            </a:solidFill>
            <a:prstDash val="solid"/>
          </a:ln>
        </p:spPr>
      </p:sp>
      <p:sp>
        <p:nvSpPr>
          <p:cNvPr id="12" name="Text 10"/>
          <p:cNvSpPr txBox="1"/>
          <p:nvPr/>
        </p:nvSpPr>
        <p:spPr>
          <a:xfrm>
            <a:off x="4974336" y="1508760"/>
            <a:ext cx="1097280" cy="365760"/>
          </a:xfrm>
          <a:prstGeom prst="rect">
            <a:avLst/>
          </a:prstGeom>
          <a:noFill/>
          <a:ln/>
        </p:spPr>
        <p:txBody>
          <a:bodyPr wrap="square" lIns="0" tIns="0" rIns="0" bIns="0" rtlCol="0" anchor="ctr"/>
          <a:lstStyle/>
          <a:p>
            <a:pPr algn="ctr" indent="0" marL="0">
              <a:buNone/>
            </a:pPr>
            <a:r>
              <a:rPr lang="en-US" sz="1400" dirty="0">
                <a:solidFill>
                  <a:schemeClr val="bg1"/>
                </a:solidFill>
              </a:rPr>
              <a:t>55 views</a:t>
            </a:r>
            <a:endParaRPr lang="en-US" sz="1400" dirty="0"/>
          </a:p>
        </p:txBody>
      </p:sp>
      <p:sp>
        <p:nvSpPr>
          <p:cNvPr id="13" name="Chip"/>
          <p:cNvSpPr/>
          <p:nvPr/>
        </p:nvSpPr>
        <p:spPr>
          <a:xfrm>
            <a:off x="6181344" y="1508760"/>
            <a:ext cx="1188720" cy="365760"/>
          </a:xfrm>
          <a:prstGeom prst="roundRect">
            <a:avLst>
              <a:gd name="adj" fmla="val 50000"/>
            </a:avLst>
          </a:prstGeom>
          <a:solidFill>
            <a:schemeClr val="tx1"/>
          </a:solidFill>
          <a:ln w="12700">
            <a:solidFill>
              <a:schemeClr val="accent2"/>
            </a:solidFill>
            <a:prstDash val="solid"/>
          </a:ln>
        </p:spPr>
      </p:sp>
      <p:sp>
        <p:nvSpPr>
          <p:cNvPr id="14" name="Text 12"/>
          <p:cNvSpPr txBox="1"/>
          <p:nvPr/>
        </p:nvSpPr>
        <p:spPr>
          <a:xfrm>
            <a:off x="6181344" y="1508760"/>
            <a:ext cx="1188720" cy="365760"/>
          </a:xfrm>
          <a:prstGeom prst="rect">
            <a:avLst/>
          </a:prstGeom>
          <a:noFill/>
          <a:ln/>
        </p:spPr>
        <p:txBody>
          <a:bodyPr wrap="square" lIns="0" tIns="0" rIns="0" bIns="0" rtlCol="0" anchor="ctr"/>
          <a:lstStyle/>
          <a:p>
            <a:pPr algn="ctr" indent="0" marL="0">
              <a:buNone/>
            </a:pPr>
            <a:r>
              <a:rPr lang="en-US" sz="1400" dirty="0">
                <a:solidFill>
                  <a:schemeClr val="bg1"/>
                </a:solidFill>
              </a:rPr>
              <a:t>Dark mode</a:t>
            </a:r>
            <a:endParaRPr lang="en-US" sz="1400" dirty="0"/>
          </a:p>
        </p:txBody>
      </p:sp>
      <p:sp>
        <p:nvSpPr>
          <p:cNvPr id="15" name="Stack band"/>
          <p:cNvSpPr/>
          <p:nvPr/>
        </p:nvSpPr>
        <p:spPr>
          <a:xfrm>
            <a:off x="457200" y="2057400"/>
            <a:ext cx="8229600" cy="548640"/>
          </a:xfrm>
          <a:prstGeom prst="roundRect">
            <a:avLst>
              <a:gd name="adj" fmla="val 20000"/>
            </a:avLst>
          </a:prstGeom>
          <a:solidFill>
            <a:schemeClr val="tx2"/>
          </a:solidFill>
          <a:ln/>
        </p:spPr>
      </p:sp>
      <p:sp>
        <p:nvSpPr>
          <p:cNvPr id="16" name="Text 14"/>
          <p:cNvSpPr txBox="1"/>
          <p:nvPr/>
        </p:nvSpPr>
        <p:spPr>
          <a:xfrm>
            <a:off x="640080" y="2057400"/>
            <a:ext cx="1463040" cy="548640"/>
          </a:xfrm>
          <a:prstGeom prst="rect">
            <a:avLst/>
          </a:prstGeom>
          <a:noFill/>
          <a:ln/>
        </p:spPr>
        <p:txBody>
          <a:bodyPr wrap="square" lIns="0" tIns="0" rIns="0" bIns="0" rtlCol="0" anchor="ctr"/>
          <a:lstStyle/>
          <a:p>
            <a:pPr indent="0" marL="0">
              <a:buNone/>
            </a:pPr>
            <a:r>
              <a:rPr lang="en-US" sz="1100" b="1" spc="150" kern="0" dirty="0">
                <a:solidFill>
                  <a:schemeClr val="accent1"/>
                </a:solidFill>
              </a:rPr>
              <a:t>WEB &amp; SECURITY</a:t>
            </a:r>
            <a:endParaRPr lang="en-US" sz="1100" dirty="0"/>
          </a:p>
        </p:txBody>
      </p:sp>
      <p:sp>
        <p:nvSpPr>
          <p:cNvPr id="17" name="Chip"/>
          <p:cNvSpPr/>
          <p:nvPr/>
        </p:nvSpPr>
        <p:spPr>
          <a:xfrm>
            <a:off x="2194560" y="2148840"/>
            <a:ext cx="1280160" cy="365760"/>
          </a:xfrm>
          <a:prstGeom prst="roundRect">
            <a:avLst>
              <a:gd name="adj" fmla="val 50000"/>
            </a:avLst>
          </a:prstGeom>
          <a:solidFill>
            <a:schemeClr val="tx1"/>
          </a:solidFill>
          <a:ln w="12700">
            <a:solidFill>
              <a:schemeClr val="accent2"/>
            </a:solidFill>
            <a:prstDash val="solid"/>
          </a:ln>
        </p:spPr>
      </p:sp>
      <p:sp>
        <p:nvSpPr>
          <p:cNvPr id="18" name="Text 16"/>
          <p:cNvSpPr txBox="1"/>
          <p:nvPr/>
        </p:nvSpPr>
        <p:spPr>
          <a:xfrm>
            <a:off x="2194560" y="2148840"/>
            <a:ext cx="1280160" cy="365760"/>
          </a:xfrm>
          <a:prstGeom prst="rect">
            <a:avLst/>
          </a:prstGeom>
          <a:noFill/>
          <a:ln/>
        </p:spPr>
        <p:txBody>
          <a:bodyPr wrap="square" lIns="0" tIns="0" rIns="0" bIns="0" rtlCol="0" anchor="ctr"/>
          <a:lstStyle/>
          <a:p>
            <a:pPr algn="ctr" indent="0" marL="0">
              <a:buNone/>
            </a:pPr>
            <a:r>
              <a:rPr lang="en-US" sz="1400" dirty="0">
                <a:solidFill>
                  <a:schemeClr val="bg1"/>
                </a:solidFill>
              </a:rPr>
              <a:t>Spring MVC</a:t>
            </a:r>
            <a:endParaRPr lang="en-US" sz="1400" dirty="0"/>
          </a:p>
        </p:txBody>
      </p:sp>
      <p:sp>
        <p:nvSpPr>
          <p:cNvPr id="19" name="Chip"/>
          <p:cNvSpPr/>
          <p:nvPr/>
        </p:nvSpPr>
        <p:spPr>
          <a:xfrm>
            <a:off x="3584448" y="2148840"/>
            <a:ext cx="1920240" cy="365760"/>
          </a:xfrm>
          <a:prstGeom prst="roundRect">
            <a:avLst>
              <a:gd name="adj" fmla="val 50000"/>
            </a:avLst>
          </a:prstGeom>
          <a:solidFill>
            <a:schemeClr val="tx1"/>
          </a:solidFill>
          <a:ln w="12700">
            <a:solidFill>
              <a:schemeClr val="accent2"/>
            </a:solidFill>
            <a:prstDash val="solid"/>
          </a:ln>
        </p:spPr>
      </p:sp>
      <p:sp>
        <p:nvSpPr>
          <p:cNvPr id="20" name="Text 18"/>
          <p:cNvSpPr txBox="1"/>
          <p:nvPr/>
        </p:nvSpPr>
        <p:spPr>
          <a:xfrm>
            <a:off x="3584448" y="2148840"/>
            <a:ext cx="1920240" cy="365760"/>
          </a:xfrm>
          <a:prstGeom prst="rect">
            <a:avLst/>
          </a:prstGeom>
          <a:noFill/>
          <a:ln/>
        </p:spPr>
        <p:txBody>
          <a:bodyPr wrap="square" lIns="0" tIns="0" rIns="0" bIns="0" rtlCol="0" anchor="ctr"/>
          <a:lstStyle/>
          <a:p>
            <a:pPr algn="ctr" indent="0" marL="0">
              <a:buNone/>
            </a:pPr>
            <a:r>
              <a:rPr lang="en-US" sz="1400" dirty="0">
                <a:solidFill>
                  <a:schemeClr val="bg1"/>
                </a:solidFill>
              </a:rPr>
              <a:t>Spring Security 6</a:t>
            </a:r>
            <a:endParaRPr lang="en-US" sz="1400" dirty="0"/>
          </a:p>
        </p:txBody>
      </p:sp>
      <p:sp>
        <p:nvSpPr>
          <p:cNvPr id="21" name="Chip"/>
          <p:cNvSpPr/>
          <p:nvPr/>
        </p:nvSpPr>
        <p:spPr>
          <a:xfrm>
            <a:off x="5614416" y="2148840"/>
            <a:ext cx="1463040" cy="365760"/>
          </a:xfrm>
          <a:prstGeom prst="roundRect">
            <a:avLst>
              <a:gd name="adj" fmla="val 50000"/>
            </a:avLst>
          </a:prstGeom>
          <a:solidFill>
            <a:schemeClr val="tx1"/>
          </a:solidFill>
          <a:ln w="12700">
            <a:solidFill>
              <a:schemeClr val="accent2"/>
            </a:solidFill>
            <a:prstDash val="solid"/>
          </a:ln>
        </p:spPr>
      </p:sp>
      <p:sp>
        <p:nvSpPr>
          <p:cNvPr id="22" name="Text 20"/>
          <p:cNvSpPr txBox="1"/>
          <p:nvPr/>
        </p:nvSpPr>
        <p:spPr>
          <a:xfrm>
            <a:off x="5614416" y="2148840"/>
            <a:ext cx="1463040" cy="365760"/>
          </a:xfrm>
          <a:prstGeom prst="rect">
            <a:avLst/>
          </a:prstGeom>
          <a:noFill/>
          <a:ln/>
        </p:spPr>
        <p:txBody>
          <a:bodyPr wrap="square" lIns="0" tIns="0" rIns="0" bIns="0" rtlCol="0" anchor="ctr"/>
          <a:lstStyle/>
          <a:p>
            <a:pPr algn="ctr" indent="0" marL="0">
              <a:buNone/>
            </a:pPr>
            <a:r>
              <a:rPr lang="en-US" sz="1400" dirty="0">
                <a:solidFill>
                  <a:schemeClr val="bg1"/>
                </a:solidFill>
              </a:rPr>
              <a:t>JWT for REST</a:t>
            </a:r>
            <a:endParaRPr lang="en-US" sz="1400" dirty="0"/>
          </a:p>
        </p:txBody>
      </p:sp>
      <p:sp>
        <p:nvSpPr>
          <p:cNvPr id="23" name="Stack band"/>
          <p:cNvSpPr/>
          <p:nvPr/>
        </p:nvSpPr>
        <p:spPr>
          <a:xfrm>
            <a:off x="457200" y="2697480"/>
            <a:ext cx="8229600" cy="548640"/>
          </a:xfrm>
          <a:prstGeom prst="roundRect">
            <a:avLst>
              <a:gd name="adj" fmla="val 20000"/>
            </a:avLst>
          </a:prstGeom>
          <a:solidFill>
            <a:schemeClr val="tx2"/>
          </a:solidFill>
          <a:ln/>
        </p:spPr>
      </p:sp>
      <p:sp>
        <p:nvSpPr>
          <p:cNvPr id="24" name="Text 22"/>
          <p:cNvSpPr txBox="1"/>
          <p:nvPr/>
        </p:nvSpPr>
        <p:spPr>
          <a:xfrm>
            <a:off x="640080" y="2697480"/>
            <a:ext cx="1463040" cy="548640"/>
          </a:xfrm>
          <a:prstGeom prst="rect">
            <a:avLst/>
          </a:prstGeom>
          <a:noFill/>
          <a:ln/>
        </p:spPr>
        <p:txBody>
          <a:bodyPr wrap="square" lIns="0" tIns="0" rIns="0" bIns="0" rtlCol="0" anchor="ctr"/>
          <a:lstStyle/>
          <a:p>
            <a:pPr indent="0" marL="0">
              <a:buNone/>
            </a:pPr>
            <a:r>
              <a:rPr lang="en-US" sz="1100" b="1" spc="150" kern="0" dirty="0">
                <a:solidFill>
                  <a:schemeClr val="accent1"/>
                </a:solidFill>
              </a:rPr>
              <a:t>BUSINESS</a:t>
            </a:r>
            <a:endParaRPr lang="en-US" sz="1100" dirty="0"/>
          </a:p>
        </p:txBody>
      </p:sp>
      <p:sp>
        <p:nvSpPr>
          <p:cNvPr id="25" name="Chip"/>
          <p:cNvSpPr/>
          <p:nvPr/>
        </p:nvSpPr>
        <p:spPr>
          <a:xfrm>
            <a:off x="2194560" y="2788920"/>
            <a:ext cx="1920240" cy="365760"/>
          </a:xfrm>
          <a:prstGeom prst="roundRect">
            <a:avLst>
              <a:gd name="adj" fmla="val 50000"/>
            </a:avLst>
          </a:prstGeom>
          <a:solidFill>
            <a:schemeClr val="tx1"/>
          </a:solidFill>
          <a:ln w="12700">
            <a:solidFill>
              <a:schemeClr val="accent2"/>
            </a:solidFill>
            <a:prstDash val="solid"/>
          </a:ln>
        </p:spPr>
      </p:sp>
      <p:sp>
        <p:nvSpPr>
          <p:cNvPr id="26" name="Text 24"/>
          <p:cNvSpPr txBox="1"/>
          <p:nvPr/>
        </p:nvSpPr>
        <p:spPr>
          <a:xfrm>
            <a:off x="2194560" y="2788920"/>
            <a:ext cx="1920240" cy="365760"/>
          </a:xfrm>
          <a:prstGeom prst="rect">
            <a:avLst/>
          </a:prstGeom>
          <a:noFill/>
          <a:ln/>
        </p:spPr>
        <p:txBody>
          <a:bodyPr wrap="square" lIns="0" tIns="0" rIns="0" bIns="0" rtlCol="0" anchor="ctr"/>
          <a:lstStyle/>
          <a:p>
            <a:pPr algn="ctr" indent="0" marL="0">
              <a:buNone/>
            </a:pPr>
            <a:r>
              <a:rPr lang="en-US" sz="1400" dirty="0">
                <a:solidFill>
                  <a:schemeClr val="bg1"/>
                </a:solidFill>
              </a:rPr>
              <a:t>Spring Boot 3.3.4</a:t>
            </a:r>
            <a:endParaRPr lang="en-US" sz="1400" dirty="0"/>
          </a:p>
        </p:txBody>
      </p:sp>
      <p:sp>
        <p:nvSpPr>
          <p:cNvPr id="27" name="Chip"/>
          <p:cNvSpPr/>
          <p:nvPr/>
        </p:nvSpPr>
        <p:spPr>
          <a:xfrm>
            <a:off x="4224528" y="2788920"/>
            <a:ext cx="1005840" cy="365760"/>
          </a:xfrm>
          <a:prstGeom prst="roundRect">
            <a:avLst>
              <a:gd name="adj" fmla="val 50000"/>
            </a:avLst>
          </a:prstGeom>
          <a:solidFill>
            <a:schemeClr val="tx1"/>
          </a:solidFill>
          <a:ln w="12700">
            <a:solidFill>
              <a:schemeClr val="accent2"/>
            </a:solidFill>
            <a:prstDash val="solid"/>
          </a:ln>
        </p:spPr>
      </p:sp>
      <p:sp>
        <p:nvSpPr>
          <p:cNvPr id="28" name="Text 26"/>
          <p:cNvSpPr txBox="1"/>
          <p:nvPr/>
        </p:nvSpPr>
        <p:spPr>
          <a:xfrm>
            <a:off x="4224528" y="2788920"/>
            <a:ext cx="1005840" cy="365760"/>
          </a:xfrm>
          <a:prstGeom prst="rect">
            <a:avLst/>
          </a:prstGeom>
          <a:noFill/>
          <a:ln/>
        </p:spPr>
        <p:txBody>
          <a:bodyPr wrap="square" lIns="0" tIns="0" rIns="0" bIns="0" rtlCol="0" anchor="ctr"/>
          <a:lstStyle/>
          <a:p>
            <a:pPr algn="ctr" indent="0" marL="0">
              <a:buNone/>
            </a:pPr>
            <a:r>
              <a:rPr lang="en-US" sz="1400" dirty="0">
                <a:solidFill>
                  <a:schemeClr val="bg1"/>
                </a:solidFill>
              </a:rPr>
              <a:t>Java 17</a:t>
            </a:r>
            <a:endParaRPr lang="en-US" sz="1400" dirty="0"/>
          </a:p>
        </p:txBody>
      </p:sp>
      <p:sp>
        <p:nvSpPr>
          <p:cNvPr id="29" name="Chip"/>
          <p:cNvSpPr/>
          <p:nvPr/>
        </p:nvSpPr>
        <p:spPr>
          <a:xfrm>
            <a:off x="5340096" y="2788920"/>
            <a:ext cx="1280160" cy="365760"/>
          </a:xfrm>
          <a:prstGeom prst="roundRect">
            <a:avLst>
              <a:gd name="adj" fmla="val 50000"/>
            </a:avLst>
          </a:prstGeom>
          <a:solidFill>
            <a:schemeClr val="tx1"/>
          </a:solidFill>
          <a:ln w="12700">
            <a:solidFill>
              <a:schemeClr val="accent2"/>
            </a:solidFill>
            <a:prstDash val="solid"/>
          </a:ln>
        </p:spPr>
      </p:sp>
      <p:sp>
        <p:nvSpPr>
          <p:cNvPr id="30" name="Text 28"/>
          <p:cNvSpPr txBox="1"/>
          <p:nvPr/>
        </p:nvSpPr>
        <p:spPr>
          <a:xfrm>
            <a:off x="5340096" y="2788920"/>
            <a:ext cx="1280160" cy="365760"/>
          </a:xfrm>
          <a:prstGeom prst="rect">
            <a:avLst/>
          </a:prstGeom>
          <a:noFill/>
          <a:ln/>
        </p:spPr>
        <p:txBody>
          <a:bodyPr wrap="square" lIns="0" tIns="0" rIns="0" bIns="0" rtlCol="0" anchor="ctr"/>
          <a:lstStyle/>
          <a:p>
            <a:pPr algn="ctr" indent="0" marL="0">
              <a:buNone/>
            </a:pPr>
            <a:r>
              <a:rPr lang="en-US" sz="1400" dirty="0">
                <a:solidFill>
                  <a:schemeClr val="bg1"/>
                </a:solidFill>
              </a:rPr>
              <a:t>Validation</a:t>
            </a:r>
            <a:endParaRPr lang="en-US" sz="1400" dirty="0"/>
          </a:p>
        </p:txBody>
      </p:sp>
      <p:sp>
        <p:nvSpPr>
          <p:cNvPr id="31" name="Chip"/>
          <p:cNvSpPr/>
          <p:nvPr/>
        </p:nvSpPr>
        <p:spPr>
          <a:xfrm>
            <a:off x="6729984" y="2788920"/>
            <a:ext cx="1005840" cy="365760"/>
          </a:xfrm>
          <a:prstGeom prst="roundRect">
            <a:avLst>
              <a:gd name="adj" fmla="val 50000"/>
            </a:avLst>
          </a:prstGeom>
          <a:solidFill>
            <a:schemeClr val="tx1"/>
          </a:solidFill>
          <a:ln w="12700">
            <a:solidFill>
              <a:schemeClr val="accent2"/>
            </a:solidFill>
            <a:prstDash val="solid"/>
          </a:ln>
        </p:spPr>
      </p:sp>
      <p:sp>
        <p:nvSpPr>
          <p:cNvPr id="32" name="Text 30"/>
          <p:cNvSpPr txBox="1"/>
          <p:nvPr/>
        </p:nvSpPr>
        <p:spPr>
          <a:xfrm>
            <a:off x="6729984" y="2788920"/>
            <a:ext cx="1005840" cy="365760"/>
          </a:xfrm>
          <a:prstGeom prst="rect">
            <a:avLst/>
          </a:prstGeom>
          <a:noFill/>
          <a:ln/>
        </p:spPr>
        <p:txBody>
          <a:bodyPr wrap="square" lIns="0" tIns="0" rIns="0" bIns="0" rtlCol="0" anchor="ctr"/>
          <a:lstStyle/>
          <a:p>
            <a:pPr algn="ctr" indent="0" marL="0">
              <a:buNone/>
            </a:pPr>
            <a:r>
              <a:rPr lang="en-US" sz="1400" dirty="0">
                <a:solidFill>
                  <a:schemeClr val="bg1"/>
                </a:solidFill>
              </a:rPr>
              <a:t>OpenPDF</a:t>
            </a:r>
            <a:endParaRPr lang="en-US" sz="1400" dirty="0"/>
          </a:p>
        </p:txBody>
      </p:sp>
      <p:sp>
        <p:nvSpPr>
          <p:cNvPr id="33" name="Stack band"/>
          <p:cNvSpPr/>
          <p:nvPr/>
        </p:nvSpPr>
        <p:spPr>
          <a:xfrm>
            <a:off x="457200" y="3337560"/>
            <a:ext cx="8229600" cy="548640"/>
          </a:xfrm>
          <a:prstGeom prst="roundRect">
            <a:avLst>
              <a:gd name="adj" fmla="val 20000"/>
            </a:avLst>
          </a:prstGeom>
          <a:solidFill>
            <a:schemeClr val="tx2"/>
          </a:solidFill>
          <a:ln/>
        </p:spPr>
      </p:sp>
      <p:sp>
        <p:nvSpPr>
          <p:cNvPr id="34" name="Text 32"/>
          <p:cNvSpPr txBox="1"/>
          <p:nvPr/>
        </p:nvSpPr>
        <p:spPr>
          <a:xfrm>
            <a:off x="640080" y="3337560"/>
            <a:ext cx="1463040" cy="548640"/>
          </a:xfrm>
          <a:prstGeom prst="rect">
            <a:avLst/>
          </a:prstGeom>
          <a:noFill/>
          <a:ln/>
        </p:spPr>
        <p:txBody>
          <a:bodyPr wrap="square" lIns="0" tIns="0" rIns="0" bIns="0" rtlCol="0" anchor="ctr"/>
          <a:lstStyle/>
          <a:p>
            <a:pPr indent="0" marL="0">
              <a:buNone/>
            </a:pPr>
            <a:r>
              <a:rPr lang="en-US" sz="1100" b="1" spc="150" kern="0" dirty="0">
                <a:solidFill>
                  <a:schemeClr val="accent1"/>
                </a:solidFill>
              </a:rPr>
              <a:t>PERSISTENCE</a:t>
            </a:r>
            <a:endParaRPr lang="en-US" sz="1100" dirty="0"/>
          </a:p>
        </p:txBody>
      </p:sp>
      <p:sp>
        <p:nvSpPr>
          <p:cNvPr id="35" name="Chip"/>
          <p:cNvSpPr/>
          <p:nvPr/>
        </p:nvSpPr>
        <p:spPr>
          <a:xfrm>
            <a:off x="2194560" y="3429000"/>
            <a:ext cx="1737360" cy="365760"/>
          </a:xfrm>
          <a:prstGeom prst="roundRect">
            <a:avLst>
              <a:gd name="adj" fmla="val 50000"/>
            </a:avLst>
          </a:prstGeom>
          <a:solidFill>
            <a:schemeClr val="tx1"/>
          </a:solidFill>
          <a:ln w="12700">
            <a:solidFill>
              <a:schemeClr val="accent2"/>
            </a:solidFill>
            <a:prstDash val="solid"/>
          </a:ln>
        </p:spPr>
      </p:sp>
      <p:sp>
        <p:nvSpPr>
          <p:cNvPr id="36" name="Text 34"/>
          <p:cNvSpPr txBox="1"/>
          <p:nvPr/>
        </p:nvSpPr>
        <p:spPr>
          <a:xfrm>
            <a:off x="2194560" y="3429000"/>
            <a:ext cx="1737360" cy="365760"/>
          </a:xfrm>
          <a:prstGeom prst="rect">
            <a:avLst/>
          </a:prstGeom>
          <a:noFill/>
          <a:ln/>
        </p:spPr>
        <p:txBody>
          <a:bodyPr wrap="square" lIns="0" tIns="0" rIns="0" bIns="0" rtlCol="0" anchor="ctr"/>
          <a:lstStyle/>
          <a:p>
            <a:pPr algn="ctr" indent="0" marL="0">
              <a:buNone/>
            </a:pPr>
            <a:r>
              <a:rPr lang="en-US" sz="1400" dirty="0">
                <a:solidFill>
                  <a:schemeClr val="bg1"/>
                </a:solidFill>
              </a:rPr>
              <a:t>Spring Data JPA</a:t>
            </a:r>
            <a:endParaRPr lang="en-US" sz="1400" dirty="0"/>
          </a:p>
        </p:txBody>
      </p:sp>
      <p:sp>
        <p:nvSpPr>
          <p:cNvPr id="37" name="Chip"/>
          <p:cNvSpPr/>
          <p:nvPr/>
        </p:nvSpPr>
        <p:spPr>
          <a:xfrm>
            <a:off x="4041648" y="3429000"/>
            <a:ext cx="1371600" cy="365760"/>
          </a:xfrm>
          <a:prstGeom prst="roundRect">
            <a:avLst>
              <a:gd name="adj" fmla="val 50000"/>
            </a:avLst>
          </a:prstGeom>
          <a:solidFill>
            <a:schemeClr val="tx1"/>
          </a:solidFill>
          <a:ln w="12700">
            <a:solidFill>
              <a:schemeClr val="accent2"/>
            </a:solidFill>
            <a:prstDash val="solid"/>
          </a:ln>
        </p:spPr>
      </p:sp>
      <p:sp>
        <p:nvSpPr>
          <p:cNvPr id="38" name="Text 36"/>
          <p:cNvSpPr txBox="1"/>
          <p:nvPr/>
        </p:nvSpPr>
        <p:spPr>
          <a:xfrm>
            <a:off x="4041648" y="3429000"/>
            <a:ext cx="1371600" cy="365760"/>
          </a:xfrm>
          <a:prstGeom prst="rect">
            <a:avLst/>
          </a:prstGeom>
          <a:noFill/>
          <a:ln/>
        </p:spPr>
        <p:txBody>
          <a:bodyPr wrap="square" lIns="0" tIns="0" rIns="0" bIns="0" rtlCol="0" anchor="ctr"/>
          <a:lstStyle/>
          <a:p>
            <a:pPr algn="ctr" indent="0" marL="0">
              <a:buNone/>
            </a:pPr>
            <a:r>
              <a:rPr lang="en-US" sz="1400" dirty="0">
                <a:solidFill>
                  <a:schemeClr val="bg1"/>
                </a:solidFill>
              </a:rPr>
              <a:t>Hibernate 6</a:t>
            </a:r>
            <a:endParaRPr lang="en-US" sz="1400" dirty="0"/>
          </a:p>
        </p:txBody>
      </p:sp>
      <p:sp>
        <p:nvSpPr>
          <p:cNvPr id="39" name="Chip"/>
          <p:cNvSpPr/>
          <p:nvPr/>
        </p:nvSpPr>
        <p:spPr>
          <a:xfrm>
            <a:off x="5522976" y="3429000"/>
            <a:ext cx="1005840" cy="365760"/>
          </a:xfrm>
          <a:prstGeom prst="roundRect">
            <a:avLst>
              <a:gd name="adj" fmla="val 50000"/>
            </a:avLst>
          </a:prstGeom>
          <a:solidFill>
            <a:schemeClr val="tx1"/>
          </a:solidFill>
          <a:ln w="12700">
            <a:solidFill>
              <a:schemeClr val="accent2"/>
            </a:solidFill>
            <a:prstDash val="solid"/>
          </a:ln>
        </p:spPr>
      </p:sp>
      <p:sp>
        <p:nvSpPr>
          <p:cNvPr id="40" name="Text 38"/>
          <p:cNvSpPr txBox="1"/>
          <p:nvPr/>
        </p:nvSpPr>
        <p:spPr>
          <a:xfrm>
            <a:off x="5522976" y="3429000"/>
            <a:ext cx="1005840" cy="365760"/>
          </a:xfrm>
          <a:prstGeom prst="rect">
            <a:avLst/>
          </a:prstGeom>
          <a:noFill/>
          <a:ln/>
        </p:spPr>
        <p:txBody>
          <a:bodyPr wrap="square" lIns="0" tIns="0" rIns="0" bIns="0" rtlCol="0" anchor="ctr"/>
          <a:lstStyle/>
          <a:p>
            <a:pPr algn="ctr" indent="0" marL="0">
              <a:buNone/>
            </a:pPr>
            <a:r>
              <a:rPr lang="en-US" sz="1400" dirty="0">
                <a:solidFill>
                  <a:schemeClr val="bg1"/>
                </a:solidFill>
              </a:rPr>
              <a:t>MySQL 8</a:t>
            </a:r>
            <a:endParaRPr lang="en-US" sz="1400" dirty="0"/>
          </a:p>
        </p:txBody>
      </p:sp>
      <p:sp>
        <p:nvSpPr>
          <p:cNvPr id="41" name="Stack band"/>
          <p:cNvSpPr/>
          <p:nvPr/>
        </p:nvSpPr>
        <p:spPr>
          <a:xfrm>
            <a:off x="457200" y="3977640"/>
            <a:ext cx="8229600" cy="548640"/>
          </a:xfrm>
          <a:prstGeom prst="roundRect">
            <a:avLst>
              <a:gd name="adj" fmla="val 20000"/>
            </a:avLst>
          </a:prstGeom>
          <a:solidFill>
            <a:schemeClr val="tx2"/>
          </a:solidFill>
          <a:ln/>
        </p:spPr>
      </p:sp>
      <p:sp>
        <p:nvSpPr>
          <p:cNvPr id="42" name="Text 40"/>
          <p:cNvSpPr txBox="1"/>
          <p:nvPr/>
        </p:nvSpPr>
        <p:spPr>
          <a:xfrm>
            <a:off x="640080" y="3977640"/>
            <a:ext cx="1463040" cy="548640"/>
          </a:xfrm>
          <a:prstGeom prst="rect">
            <a:avLst/>
          </a:prstGeom>
          <a:noFill/>
          <a:ln/>
        </p:spPr>
        <p:txBody>
          <a:bodyPr wrap="square" lIns="0" tIns="0" rIns="0" bIns="0" rtlCol="0" anchor="ctr"/>
          <a:lstStyle/>
          <a:p>
            <a:pPr indent="0" marL="0">
              <a:buNone/>
            </a:pPr>
            <a:r>
              <a:rPr lang="en-US" sz="1100" b="1" spc="150" kern="0" dirty="0">
                <a:solidFill>
                  <a:schemeClr val="accent1"/>
                </a:solidFill>
              </a:rPr>
              <a:t>DELIVERY</a:t>
            </a:r>
            <a:endParaRPr lang="en-US" sz="1100" dirty="0"/>
          </a:p>
        </p:txBody>
      </p:sp>
      <p:sp>
        <p:nvSpPr>
          <p:cNvPr id="43" name="Chip"/>
          <p:cNvSpPr/>
          <p:nvPr/>
        </p:nvSpPr>
        <p:spPr>
          <a:xfrm>
            <a:off x="2194560" y="4069080"/>
            <a:ext cx="822960" cy="365760"/>
          </a:xfrm>
          <a:prstGeom prst="roundRect">
            <a:avLst>
              <a:gd name="adj" fmla="val 50000"/>
            </a:avLst>
          </a:prstGeom>
          <a:solidFill>
            <a:schemeClr val="tx1"/>
          </a:solidFill>
          <a:ln w="12700">
            <a:solidFill>
              <a:schemeClr val="accent2"/>
            </a:solidFill>
            <a:prstDash val="solid"/>
          </a:ln>
        </p:spPr>
      </p:sp>
      <p:sp>
        <p:nvSpPr>
          <p:cNvPr id="44" name="Text 42"/>
          <p:cNvSpPr txBox="1"/>
          <p:nvPr/>
        </p:nvSpPr>
        <p:spPr>
          <a:xfrm>
            <a:off x="2194560" y="4069080"/>
            <a:ext cx="822960" cy="365760"/>
          </a:xfrm>
          <a:prstGeom prst="rect">
            <a:avLst/>
          </a:prstGeom>
          <a:noFill/>
          <a:ln/>
        </p:spPr>
        <p:txBody>
          <a:bodyPr wrap="square" lIns="0" tIns="0" rIns="0" bIns="0" rtlCol="0" anchor="ctr"/>
          <a:lstStyle/>
          <a:p>
            <a:pPr algn="ctr" indent="0" marL="0">
              <a:buNone/>
            </a:pPr>
            <a:r>
              <a:rPr lang="en-US" sz="1400" dirty="0">
                <a:solidFill>
                  <a:schemeClr val="bg1"/>
                </a:solidFill>
              </a:rPr>
              <a:t>Maven</a:t>
            </a:r>
            <a:endParaRPr lang="en-US" sz="1400" dirty="0"/>
          </a:p>
        </p:txBody>
      </p:sp>
      <p:sp>
        <p:nvSpPr>
          <p:cNvPr id="45" name="Chip"/>
          <p:cNvSpPr/>
          <p:nvPr/>
        </p:nvSpPr>
        <p:spPr>
          <a:xfrm>
            <a:off x="3127248" y="4069080"/>
            <a:ext cx="914400" cy="365760"/>
          </a:xfrm>
          <a:prstGeom prst="roundRect">
            <a:avLst>
              <a:gd name="adj" fmla="val 50000"/>
            </a:avLst>
          </a:prstGeom>
          <a:solidFill>
            <a:schemeClr val="tx1"/>
          </a:solidFill>
          <a:ln w="12700">
            <a:solidFill>
              <a:schemeClr val="accent2"/>
            </a:solidFill>
            <a:prstDash val="solid"/>
          </a:ln>
        </p:spPr>
      </p:sp>
      <p:sp>
        <p:nvSpPr>
          <p:cNvPr id="46" name="Text 44"/>
          <p:cNvSpPr txBox="1"/>
          <p:nvPr/>
        </p:nvSpPr>
        <p:spPr>
          <a:xfrm>
            <a:off x="3127248" y="4069080"/>
            <a:ext cx="914400" cy="365760"/>
          </a:xfrm>
          <a:prstGeom prst="rect">
            <a:avLst/>
          </a:prstGeom>
          <a:noFill/>
          <a:ln/>
        </p:spPr>
        <p:txBody>
          <a:bodyPr wrap="square" lIns="0" tIns="0" rIns="0" bIns="0" rtlCol="0" anchor="ctr"/>
          <a:lstStyle/>
          <a:p>
            <a:pPr algn="ctr" indent="0" marL="0">
              <a:buNone/>
            </a:pPr>
            <a:r>
              <a:rPr lang="en-US" sz="1400" dirty="0">
                <a:solidFill>
                  <a:schemeClr val="bg1"/>
                </a:solidFill>
              </a:rPr>
              <a:t>Docker</a:t>
            </a:r>
            <a:endParaRPr lang="en-US" sz="1400" dirty="0"/>
          </a:p>
        </p:txBody>
      </p:sp>
      <p:sp>
        <p:nvSpPr>
          <p:cNvPr id="47" name="Chip"/>
          <p:cNvSpPr/>
          <p:nvPr/>
        </p:nvSpPr>
        <p:spPr>
          <a:xfrm>
            <a:off x="4151376" y="4069080"/>
            <a:ext cx="914400" cy="365760"/>
          </a:xfrm>
          <a:prstGeom prst="roundRect">
            <a:avLst>
              <a:gd name="adj" fmla="val 50000"/>
            </a:avLst>
          </a:prstGeom>
          <a:solidFill>
            <a:schemeClr val="tx1"/>
          </a:solidFill>
          <a:ln w="12700">
            <a:solidFill>
              <a:schemeClr val="accent2"/>
            </a:solidFill>
            <a:prstDash val="solid"/>
          </a:ln>
        </p:spPr>
      </p:sp>
      <p:sp>
        <p:nvSpPr>
          <p:cNvPr id="48" name="Text 46"/>
          <p:cNvSpPr txBox="1"/>
          <p:nvPr/>
        </p:nvSpPr>
        <p:spPr>
          <a:xfrm>
            <a:off x="4151376" y="4069080"/>
            <a:ext cx="914400" cy="365760"/>
          </a:xfrm>
          <a:prstGeom prst="rect">
            <a:avLst/>
          </a:prstGeom>
          <a:noFill/>
          <a:ln/>
        </p:spPr>
        <p:txBody>
          <a:bodyPr wrap="square" lIns="0" tIns="0" rIns="0" bIns="0" rtlCol="0" anchor="ctr"/>
          <a:lstStyle/>
          <a:p>
            <a:pPr algn="ctr" indent="0" marL="0">
              <a:buNone/>
            </a:pPr>
            <a:r>
              <a:rPr lang="en-US" sz="1400" dirty="0">
                <a:solidFill>
                  <a:schemeClr val="bg1"/>
                </a:solidFill>
              </a:rPr>
              <a:t>Render</a:t>
            </a:r>
            <a:endParaRPr lang="en-US" sz="1400" dirty="0"/>
          </a:p>
        </p:txBody>
      </p:sp>
      <p:sp>
        <p:nvSpPr>
          <p:cNvPr id="49" name="Chip"/>
          <p:cNvSpPr/>
          <p:nvPr/>
        </p:nvSpPr>
        <p:spPr>
          <a:xfrm>
            <a:off x="5175504" y="4069080"/>
            <a:ext cx="914400" cy="365760"/>
          </a:xfrm>
          <a:prstGeom prst="roundRect">
            <a:avLst>
              <a:gd name="adj" fmla="val 50000"/>
            </a:avLst>
          </a:prstGeom>
          <a:solidFill>
            <a:schemeClr val="tx1"/>
          </a:solidFill>
          <a:ln w="12700">
            <a:solidFill>
              <a:schemeClr val="accent2"/>
            </a:solidFill>
            <a:prstDash val="solid"/>
          </a:ln>
        </p:spPr>
      </p:sp>
      <p:sp>
        <p:nvSpPr>
          <p:cNvPr id="50" name="Text 48"/>
          <p:cNvSpPr txBox="1"/>
          <p:nvPr/>
        </p:nvSpPr>
        <p:spPr>
          <a:xfrm>
            <a:off x="5175504" y="4069080"/>
            <a:ext cx="914400" cy="365760"/>
          </a:xfrm>
          <a:prstGeom prst="rect">
            <a:avLst/>
          </a:prstGeom>
          <a:noFill/>
          <a:ln/>
        </p:spPr>
        <p:txBody>
          <a:bodyPr wrap="square" lIns="0" tIns="0" rIns="0" bIns="0" rtlCol="0" anchor="ctr"/>
          <a:lstStyle/>
          <a:p>
            <a:pPr algn="ctr" indent="0" marL="0">
              <a:buNone/>
            </a:pPr>
            <a:r>
              <a:rPr lang="en-US" sz="1400" dirty="0">
                <a:solidFill>
                  <a:schemeClr val="bg1"/>
                </a:solidFill>
              </a:rPr>
              <a:t>GitHub</a:t>
            </a:r>
            <a:endParaRPr lang="en-US" sz="1400" dirty="0"/>
          </a:p>
        </p:txBody>
      </p:sp>
      <p:sp>
        <p:nvSpPr>
          <p:cNvPr id="51" name="Chip"/>
          <p:cNvSpPr/>
          <p:nvPr/>
        </p:nvSpPr>
        <p:spPr>
          <a:xfrm>
            <a:off x="6199632" y="4069080"/>
            <a:ext cx="1005840" cy="365760"/>
          </a:xfrm>
          <a:prstGeom prst="roundRect">
            <a:avLst>
              <a:gd name="adj" fmla="val 50000"/>
            </a:avLst>
          </a:prstGeom>
          <a:solidFill>
            <a:schemeClr val="tx1"/>
          </a:solidFill>
          <a:ln w="12700">
            <a:solidFill>
              <a:schemeClr val="accent2"/>
            </a:solidFill>
            <a:prstDash val="solid"/>
          </a:ln>
        </p:spPr>
      </p:sp>
      <p:sp>
        <p:nvSpPr>
          <p:cNvPr id="52" name="Text 50"/>
          <p:cNvSpPr txBox="1"/>
          <p:nvPr/>
        </p:nvSpPr>
        <p:spPr>
          <a:xfrm>
            <a:off x="6199632" y="4069080"/>
            <a:ext cx="1005840" cy="365760"/>
          </a:xfrm>
          <a:prstGeom prst="rect">
            <a:avLst/>
          </a:prstGeom>
          <a:noFill/>
          <a:ln/>
        </p:spPr>
        <p:txBody>
          <a:bodyPr wrap="square" lIns="0" tIns="0" rIns="0" bIns="0" rtlCol="0" anchor="ctr"/>
          <a:lstStyle/>
          <a:p>
            <a:pPr algn="ctr" indent="0" marL="0">
              <a:buNone/>
            </a:pPr>
            <a:r>
              <a:rPr lang="en-US" sz="1400" dirty="0">
                <a:solidFill>
                  <a:schemeClr val="bg1"/>
                </a:solidFill>
              </a:rPr>
              <a:t>Postman</a:t>
            </a:r>
            <a:endParaRPr lang="en-US" sz="1400" dirty="0"/>
          </a:p>
        </p:txBody>
      </p:sp>
      <p:sp>
        <p:nvSpPr>
          <p:cNvPr id="25" name="Slide Number Placeholder 0"/>
          <p:cNvSpPr>
            <a:spLocks noGrp="1"/>
          </p:cNvSpPr>
          <p:nvPr>
            <p:ph type="sldNum" sz="quarter" idx="4294967295"/>
          </p:nvPr>
        </p:nvSpPr>
        <p:spPr>
          <a:xfrm>
            <a:off x="457200" y="4846320"/>
            <a:ext cx="54864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ection tag"/>
          <p:cNvSpPr/>
          <p:nvPr/>
        </p:nvSpPr>
        <p:spPr>
          <a:xfrm>
            <a:off x="457200" y="292608"/>
            <a:ext cx="2211019" cy="274320"/>
          </a:xfrm>
          <a:prstGeom prst="roundRect">
            <a:avLst>
              <a:gd name="adj" fmla="val 50000"/>
            </a:avLst>
          </a:prstGeom>
          <a:solidFill>
            <a:schemeClr val="accent1"/>
          </a:solidFill>
          <a:ln/>
        </p:spPr>
      </p:sp>
      <p:sp>
        <p:nvSpPr>
          <p:cNvPr id="3" name="Text 1"/>
          <p:cNvSpPr txBox="1"/>
          <p:nvPr/>
        </p:nvSpPr>
        <p:spPr>
          <a:xfrm>
            <a:off x="457200" y="292608"/>
            <a:ext cx="2211019" cy="274320"/>
          </a:xfrm>
          <a:prstGeom prst="rect">
            <a:avLst/>
          </a:prstGeom>
          <a:noFill/>
          <a:ln/>
        </p:spPr>
        <p:txBody>
          <a:bodyPr wrap="square" lIns="0" tIns="0" rIns="0" bIns="0" rtlCol="0" anchor="ctr"/>
          <a:lstStyle/>
          <a:p>
            <a:pPr algn="ctr" indent="0" marL="0">
              <a:buNone/>
            </a:pPr>
            <a:r>
              <a:rPr lang="en-US" sz="1000" b="1" spc="150" kern="0" dirty="0">
                <a:solidFill>
                  <a:schemeClr val="tx1"/>
                </a:solidFill>
              </a:rPr>
              <a:t>FLOOR 2  ·  ARCHITECTURE</a:t>
            </a:r>
            <a:endParaRPr lang="en-US" sz="1000" dirty="0"/>
          </a:p>
        </p:txBody>
      </p:sp>
      <p:sp>
        <p:nvSpPr>
          <p:cNvPr id="4" name="Text 2"/>
          <p:cNvSpPr/>
          <p:nvPr>
            <p:ph idx="103" type="title" hasCustomPrompt="1"/>
          </p:nvPr>
        </p:nvSpPr>
        <p:spPr>
          <a:xfrm>
            <a:off x="457200" y="640080"/>
            <a:ext cx="8229600" cy="685800"/>
          </a:xfrm>
          <a:prstGeom prst="rect">
            <a:avLst/>
          </a:prstGeom>
          <a:noFill/>
          <a:ln/>
        </p:spPr>
        <p:txBody>
          <a:bodyPr wrap="square" lIns="0" tIns="0" rIns="0" bIns="0" rtlCol="0" anchor="t"/>
          <a:lstStyle/>
          <a:p>
            <a:pPr algn="l" indent="0" marL="0">
              <a:buNone/>
            </a:pPr>
            <a:r>
              <a:rPr lang="en-US" sz="3600" b="1" dirty="0">
                <a:solidFill>
                  <a:schemeClr val="tx1"/>
                </a:solidFill>
              </a:rPr>
              <a:t>Layered Architecture</a:t>
            </a:r>
            <a:endParaRPr lang="en-US" sz="3600" dirty="0"/>
          </a:p>
        </p:txBody>
      </p:sp>
      <p:sp>
        <p:nvSpPr>
          <p:cNvPr id="5" name="Layer"/>
          <p:cNvSpPr/>
          <p:nvPr/>
        </p:nvSpPr>
        <p:spPr>
          <a:xfrm>
            <a:off x="457200" y="1417320"/>
            <a:ext cx="1188720" cy="1554480"/>
          </a:xfrm>
          <a:prstGeom prst="roundRect">
            <a:avLst>
              <a:gd name="adj" fmla="val 9231"/>
            </a:avLst>
          </a:prstGeom>
          <a:solidFill>
            <a:schemeClr val="bg1"/>
          </a:solidFill>
          <a:ln/>
          <a:effectLst>
            <a:outerShdw sx="100000" sy="100000" kx="0" ky="0" algn="bl" rotWithShape="0" blurRad="101600" dist="25400" dir="5400000">
              <a:srgbClr val="0B1F2A">
                <a:alpha val="14000"/>
              </a:srgbClr>
            </a:outerShdw>
          </a:effectLst>
        </p:spPr>
      </p:sp>
      <p:sp>
        <p:nvSpPr>
          <p:cNvPr id="6" name="Layer disc"/>
          <p:cNvSpPr/>
          <p:nvPr/>
        </p:nvSpPr>
        <p:spPr>
          <a:xfrm>
            <a:off x="868680" y="1554480"/>
            <a:ext cx="365760" cy="365760"/>
          </a:xfrm>
          <a:prstGeom prst="ellipse">
            <a:avLst/>
          </a:prstGeom>
          <a:solidFill>
            <a:schemeClr val="tx1"/>
          </a:solidFill>
          <a:ln/>
        </p:spPr>
      </p:sp>
      <p:pic>
        <p:nvPicPr>
          <p:cNvPr id="7" name="Image 0" descr="Desktop icon">    </p:cNvPr>
          <p:cNvPicPr>
            <a:picLocks noChangeAspect="1"/>
          </p:cNvPicPr>
          <p:nvPr/>
        </p:nvPicPr>
        <p:blipFill>
          <a:blip r:embed="rId1"/>
          <a:stretch>
            <a:fillRect/>
          </a:stretch>
        </p:blipFill>
        <p:spPr>
          <a:xfrm>
            <a:off x="955548" y="1641348"/>
            <a:ext cx="192024" cy="192024"/>
          </a:xfrm>
          <a:prstGeom prst="rect">
            <a:avLst/>
          </a:prstGeom>
        </p:spPr>
      </p:pic>
      <p:sp>
        <p:nvSpPr>
          <p:cNvPr id="8" name="Text 5"/>
          <p:cNvSpPr txBox="1"/>
          <p:nvPr/>
        </p:nvSpPr>
        <p:spPr>
          <a:xfrm>
            <a:off x="530352" y="1993392"/>
            <a:ext cx="1042416" cy="256032"/>
          </a:xfrm>
          <a:prstGeom prst="rect">
            <a:avLst/>
          </a:prstGeom>
          <a:noFill/>
          <a:ln/>
        </p:spPr>
        <p:txBody>
          <a:bodyPr wrap="square" lIns="0" tIns="0" rIns="0" bIns="0" rtlCol="0" anchor="t"/>
          <a:lstStyle/>
          <a:p>
            <a:pPr algn="ctr" indent="0" marL="0">
              <a:buNone/>
            </a:pPr>
            <a:r>
              <a:rPr lang="en-US" sz="1400" b="1" dirty="0">
                <a:solidFill>
                  <a:schemeClr val="tx1"/>
                </a:solidFill>
              </a:rPr>
              <a:t>Browser</a:t>
            </a:r>
            <a:endParaRPr lang="en-US" sz="1400" dirty="0"/>
          </a:p>
        </p:txBody>
      </p:sp>
      <p:sp>
        <p:nvSpPr>
          <p:cNvPr id="9" name="Text 6"/>
          <p:cNvSpPr txBox="1"/>
          <p:nvPr/>
        </p:nvSpPr>
        <p:spPr>
          <a:xfrm>
            <a:off x="548640" y="2286000"/>
            <a:ext cx="1005840" cy="640080"/>
          </a:xfrm>
          <a:prstGeom prst="rect">
            <a:avLst/>
          </a:prstGeom>
          <a:noFill/>
          <a:ln/>
        </p:spPr>
        <p:txBody>
          <a:bodyPr wrap="square" lIns="0" tIns="0" rIns="0" bIns="0" rtlCol="0" anchor="t"/>
          <a:lstStyle/>
          <a:p>
            <a:pPr algn="ctr" indent="0" marL="0">
              <a:buNone/>
            </a:pPr>
            <a:r>
              <a:rPr lang="en-US" sz="1200" dirty="0">
                <a:solidFill>
                  <a:schemeClr val="accent5"/>
                </a:solidFill>
              </a:rPr>
              <a:t>HTML5, Bootstrap 5</a:t>
            </a:r>
            <a:endParaRPr lang="en-US" sz="1200" dirty="0"/>
          </a:p>
        </p:txBody>
      </p:sp>
      <p:sp>
        <p:nvSpPr>
          <p:cNvPr id="10" name="Arrow"/>
          <p:cNvSpPr/>
          <p:nvPr/>
        </p:nvSpPr>
        <p:spPr>
          <a:xfrm>
            <a:off x="1673352" y="2194560"/>
            <a:ext cx="164592" cy="0"/>
          </a:xfrm>
          <a:prstGeom prst="line">
            <a:avLst/>
          </a:prstGeom>
          <a:noFill/>
          <a:ln w="25400">
            <a:solidFill>
              <a:srgbClr val="F5A623"/>
            </a:solidFill>
            <a:prstDash val="solid"/>
            <a:tailEnd type="triangle"/>
          </a:ln>
        </p:spPr>
      </p:sp>
      <p:sp>
        <p:nvSpPr>
          <p:cNvPr id="11" name="Layer"/>
          <p:cNvSpPr/>
          <p:nvPr/>
        </p:nvSpPr>
        <p:spPr>
          <a:xfrm>
            <a:off x="1865376" y="1417320"/>
            <a:ext cx="1188720" cy="1554480"/>
          </a:xfrm>
          <a:prstGeom prst="roundRect">
            <a:avLst>
              <a:gd name="adj" fmla="val 9231"/>
            </a:avLst>
          </a:prstGeom>
          <a:solidFill>
            <a:schemeClr val="tx1"/>
          </a:solidFill>
          <a:ln/>
          <a:effectLst>
            <a:outerShdw sx="100000" sy="100000" kx="0" ky="0" algn="bl" rotWithShape="0" blurRad="101600" dist="25400" dir="5400000">
              <a:srgbClr val="0B1F2A">
                <a:alpha val="14000"/>
              </a:srgbClr>
            </a:outerShdw>
          </a:effectLst>
        </p:spPr>
      </p:sp>
      <p:sp>
        <p:nvSpPr>
          <p:cNvPr id="12" name="Layer disc"/>
          <p:cNvSpPr/>
          <p:nvPr/>
        </p:nvSpPr>
        <p:spPr>
          <a:xfrm>
            <a:off x="2276856" y="1554480"/>
            <a:ext cx="365760" cy="365760"/>
          </a:xfrm>
          <a:prstGeom prst="ellipse">
            <a:avLst/>
          </a:prstGeom>
          <a:solidFill>
            <a:schemeClr val="accent1"/>
          </a:solidFill>
          <a:ln/>
        </p:spPr>
      </p:sp>
      <p:pic>
        <p:nvPicPr>
          <p:cNvPr id="13" name="Image 1" descr="ShieldAlt icon">    </p:cNvPr>
          <p:cNvPicPr>
            <a:picLocks noChangeAspect="1"/>
          </p:cNvPicPr>
          <p:nvPr/>
        </p:nvPicPr>
        <p:blipFill>
          <a:blip r:embed="rId2"/>
          <a:stretch>
            <a:fillRect/>
          </a:stretch>
        </p:blipFill>
        <p:spPr>
          <a:xfrm>
            <a:off x="2363724" y="1641348"/>
            <a:ext cx="192024" cy="192024"/>
          </a:xfrm>
          <a:prstGeom prst="rect">
            <a:avLst/>
          </a:prstGeom>
        </p:spPr>
      </p:pic>
      <p:sp>
        <p:nvSpPr>
          <p:cNvPr id="14" name="Text 10"/>
          <p:cNvSpPr txBox="1"/>
          <p:nvPr/>
        </p:nvSpPr>
        <p:spPr>
          <a:xfrm>
            <a:off x="1938528" y="1993392"/>
            <a:ext cx="1042416" cy="256032"/>
          </a:xfrm>
          <a:prstGeom prst="rect">
            <a:avLst/>
          </a:prstGeom>
          <a:noFill/>
          <a:ln/>
        </p:spPr>
        <p:txBody>
          <a:bodyPr wrap="square" lIns="0" tIns="0" rIns="0" bIns="0" rtlCol="0" anchor="t"/>
          <a:lstStyle/>
          <a:p>
            <a:pPr algn="ctr" indent="0" marL="0">
              <a:buNone/>
            </a:pPr>
            <a:r>
              <a:rPr lang="en-US" sz="1400" b="1" dirty="0">
                <a:solidFill>
                  <a:schemeClr val="bg1"/>
                </a:solidFill>
              </a:rPr>
              <a:t>Security</a:t>
            </a:r>
            <a:endParaRPr lang="en-US" sz="1400" dirty="0"/>
          </a:p>
        </p:txBody>
      </p:sp>
      <p:sp>
        <p:nvSpPr>
          <p:cNvPr id="15" name="Text 11"/>
          <p:cNvSpPr txBox="1"/>
          <p:nvPr/>
        </p:nvSpPr>
        <p:spPr>
          <a:xfrm>
            <a:off x="1956816" y="2286000"/>
            <a:ext cx="1005840" cy="640080"/>
          </a:xfrm>
          <a:prstGeom prst="rect">
            <a:avLst/>
          </a:prstGeom>
          <a:noFill/>
          <a:ln/>
        </p:spPr>
        <p:txBody>
          <a:bodyPr wrap="square" lIns="0" tIns="0" rIns="0" bIns="0" rtlCol="0" anchor="t"/>
          <a:lstStyle/>
          <a:p>
            <a:pPr algn="ctr" indent="0" marL="0">
              <a:buNone/>
            </a:pPr>
            <a:r>
              <a:rPr lang="en-US" sz="1200" dirty="0">
                <a:solidFill>
                  <a:schemeClr val="accent6"/>
                </a:solidFill>
              </a:rPr>
              <a:t>Login, BCrypt, role filter</a:t>
            </a:r>
            <a:endParaRPr lang="en-US" sz="1200" dirty="0"/>
          </a:p>
        </p:txBody>
      </p:sp>
      <p:sp>
        <p:nvSpPr>
          <p:cNvPr id="16" name="Arrow"/>
          <p:cNvSpPr/>
          <p:nvPr/>
        </p:nvSpPr>
        <p:spPr>
          <a:xfrm>
            <a:off x="3081528" y="2194560"/>
            <a:ext cx="164592" cy="0"/>
          </a:xfrm>
          <a:prstGeom prst="line">
            <a:avLst/>
          </a:prstGeom>
          <a:noFill/>
          <a:ln w="25400">
            <a:solidFill>
              <a:srgbClr val="F5A623"/>
            </a:solidFill>
            <a:prstDash val="solid"/>
            <a:tailEnd type="triangle"/>
          </a:ln>
        </p:spPr>
      </p:sp>
      <p:sp>
        <p:nvSpPr>
          <p:cNvPr id="17" name="Layer"/>
          <p:cNvSpPr/>
          <p:nvPr/>
        </p:nvSpPr>
        <p:spPr>
          <a:xfrm>
            <a:off x="3273552" y="1417320"/>
            <a:ext cx="1188720" cy="1554480"/>
          </a:xfrm>
          <a:prstGeom prst="roundRect">
            <a:avLst>
              <a:gd name="adj" fmla="val 9231"/>
            </a:avLst>
          </a:prstGeom>
          <a:solidFill>
            <a:schemeClr val="bg1"/>
          </a:solidFill>
          <a:ln/>
          <a:effectLst>
            <a:outerShdw sx="100000" sy="100000" kx="0" ky="0" algn="bl" rotWithShape="0" blurRad="101600" dist="25400" dir="5400000">
              <a:srgbClr val="0B1F2A">
                <a:alpha val="14000"/>
              </a:srgbClr>
            </a:outerShdw>
          </a:effectLst>
        </p:spPr>
      </p:sp>
      <p:sp>
        <p:nvSpPr>
          <p:cNvPr id="18" name="Layer disc"/>
          <p:cNvSpPr/>
          <p:nvPr/>
        </p:nvSpPr>
        <p:spPr>
          <a:xfrm>
            <a:off x="3685032" y="1554480"/>
            <a:ext cx="365760" cy="365760"/>
          </a:xfrm>
          <a:prstGeom prst="ellipse">
            <a:avLst/>
          </a:prstGeom>
          <a:solidFill>
            <a:schemeClr val="tx1"/>
          </a:solidFill>
          <a:ln/>
        </p:spPr>
      </p:sp>
      <p:pic>
        <p:nvPicPr>
          <p:cNvPr id="19" name="Image 2" descr="Sitemap icon">    </p:cNvPr>
          <p:cNvPicPr>
            <a:picLocks noChangeAspect="1"/>
          </p:cNvPicPr>
          <p:nvPr/>
        </p:nvPicPr>
        <p:blipFill>
          <a:blip r:embed="rId3"/>
          <a:stretch>
            <a:fillRect/>
          </a:stretch>
        </p:blipFill>
        <p:spPr>
          <a:xfrm>
            <a:off x="3771900" y="1641348"/>
            <a:ext cx="192024" cy="192024"/>
          </a:xfrm>
          <a:prstGeom prst="rect">
            <a:avLst/>
          </a:prstGeom>
        </p:spPr>
      </p:pic>
      <p:sp>
        <p:nvSpPr>
          <p:cNvPr id="20" name="Text 15"/>
          <p:cNvSpPr txBox="1"/>
          <p:nvPr/>
        </p:nvSpPr>
        <p:spPr>
          <a:xfrm>
            <a:off x="3346704" y="1993392"/>
            <a:ext cx="1042416" cy="256032"/>
          </a:xfrm>
          <a:prstGeom prst="rect">
            <a:avLst/>
          </a:prstGeom>
          <a:noFill/>
          <a:ln/>
        </p:spPr>
        <p:txBody>
          <a:bodyPr wrap="square" lIns="0" tIns="0" rIns="0" bIns="0" rtlCol="0" anchor="t"/>
          <a:lstStyle/>
          <a:p>
            <a:pPr algn="ctr" indent="0" marL="0">
              <a:buNone/>
            </a:pPr>
            <a:r>
              <a:rPr lang="en-US" sz="1400" b="1" dirty="0">
                <a:solidFill>
                  <a:schemeClr val="tx1"/>
                </a:solidFill>
              </a:rPr>
              <a:t>Controller</a:t>
            </a:r>
            <a:endParaRPr lang="en-US" sz="1400" dirty="0"/>
          </a:p>
        </p:txBody>
      </p:sp>
      <p:sp>
        <p:nvSpPr>
          <p:cNvPr id="21" name="Text 16"/>
          <p:cNvSpPr txBox="1"/>
          <p:nvPr/>
        </p:nvSpPr>
        <p:spPr>
          <a:xfrm>
            <a:off x="3364992" y="2286000"/>
            <a:ext cx="1005840" cy="640080"/>
          </a:xfrm>
          <a:prstGeom prst="rect">
            <a:avLst/>
          </a:prstGeom>
          <a:noFill/>
          <a:ln/>
        </p:spPr>
        <p:txBody>
          <a:bodyPr wrap="square" lIns="0" tIns="0" rIns="0" bIns="0" rtlCol="0" anchor="t"/>
          <a:lstStyle/>
          <a:p>
            <a:pPr algn="ctr" indent="0" marL="0">
              <a:buNone/>
            </a:pPr>
            <a:r>
              <a:rPr lang="en-US" sz="1200" dirty="0">
                <a:solidFill>
                  <a:schemeClr val="accent5"/>
                </a:solidFill>
              </a:rPr>
              <a:t>Web pages + /api</a:t>
            </a:r>
            <a:endParaRPr lang="en-US" sz="1200" dirty="0"/>
          </a:p>
        </p:txBody>
      </p:sp>
      <p:sp>
        <p:nvSpPr>
          <p:cNvPr id="22" name="Arrow"/>
          <p:cNvSpPr/>
          <p:nvPr/>
        </p:nvSpPr>
        <p:spPr>
          <a:xfrm>
            <a:off x="4489704" y="2194560"/>
            <a:ext cx="164592" cy="0"/>
          </a:xfrm>
          <a:prstGeom prst="line">
            <a:avLst/>
          </a:prstGeom>
          <a:noFill/>
          <a:ln w="25400">
            <a:solidFill>
              <a:srgbClr val="F5A623"/>
            </a:solidFill>
            <a:prstDash val="solid"/>
            <a:tailEnd type="triangle"/>
          </a:ln>
        </p:spPr>
      </p:sp>
      <p:sp>
        <p:nvSpPr>
          <p:cNvPr id="23" name="Layer"/>
          <p:cNvSpPr/>
          <p:nvPr/>
        </p:nvSpPr>
        <p:spPr>
          <a:xfrm>
            <a:off x="4681728" y="1417320"/>
            <a:ext cx="1188720" cy="1554480"/>
          </a:xfrm>
          <a:prstGeom prst="roundRect">
            <a:avLst>
              <a:gd name="adj" fmla="val 9231"/>
            </a:avLst>
          </a:prstGeom>
          <a:solidFill>
            <a:schemeClr val="tx1"/>
          </a:solidFill>
          <a:ln/>
          <a:effectLst>
            <a:outerShdw sx="100000" sy="100000" kx="0" ky="0" algn="bl" rotWithShape="0" blurRad="101600" dist="25400" dir="5400000">
              <a:srgbClr val="0B1F2A">
                <a:alpha val="14000"/>
              </a:srgbClr>
            </a:outerShdw>
          </a:effectLst>
        </p:spPr>
      </p:sp>
      <p:sp>
        <p:nvSpPr>
          <p:cNvPr id="24" name="Layer disc"/>
          <p:cNvSpPr/>
          <p:nvPr/>
        </p:nvSpPr>
        <p:spPr>
          <a:xfrm>
            <a:off x="5093208" y="1554480"/>
            <a:ext cx="365760" cy="365760"/>
          </a:xfrm>
          <a:prstGeom prst="ellipse">
            <a:avLst/>
          </a:prstGeom>
          <a:solidFill>
            <a:schemeClr val="accent1"/>
          </a:solidFill>
          <a:ln/>
        </p:spPr>
      </p:sp>
      <p:pic>
        <p:nvPicPr>
          <p:cNvPr id="25" name="Image 3" descr="Cogs icon">    </p:cNvPr>
          <p:cNvPicPr>
            <a:picLocks noChangeAspect="1"/>
          </p:cNvPicPr>
          <p:nvPr/>
        </p:nvPicPr>
        <p:blipFill>
          <a:blip r:embed="rId4"/>
          <a:stretch>
            <a:fillRect/>
          </a:stretch>
        </p:blipFill>
        <p:spPr>
          <a:xfrm>
            <a:off x="5180076" y="1641348"/>
            <a:ext cx="192024" cy="192024"/>
          </a:xfrm>
          <a:prstGeom prst="rect">
            <a:avLst/>
          </a:prstGeom>
        </p:spPr>
      </p:pic>
      <p:sp>
        <p:nvSpPr>
          <p:cNvPr id="26" name="Text 20"/>
          <p:cNvSpPr txBox="1"/>
          <p:nvPr/>
        </p:nvSpPr>
        <p:spPr>
          <a:xfrm>
            <a:off x="4754880" y="1993392"/>
            <a:ext cx="1042416" cy="256032"/>
          </a:xfrm>
          <a:prstGeom prst="rect">
            <a:avLst/>
          </a:prstGeom>
          <a:noFill/>
          <a:ln/>
        </p:spPr>
        <p:txBody>
          <a:bodyPr wrap="square" lIns="0" tIns="0" rIns="0" bIns="0" rtlCol="0" anchor="t"/>
          <a:lstStyle/>
          <a:p>
            <a:pPr algn="ctr" indent="0" marL="0">
              <a:buNone/>
            </a:pPr>
            <a:r>
              <a:rPr lang="en-US" sz="1400" b="1" dirty="0">
                <a:solidFill>
                  <a:schemeClr val="bg1"/>
                </a:solidFill>
              </a:rPr>
              <a:t>Service</a:t>
            </a:r>
            <a:endParaRPr lang="en-US" sz="1400" dirty="0"/>
          </a:p>
        </p:txBody>
      </p:sp>
      <p:sp>
        <p:nvSpPr>
          <p:cNvPr id="27" name="Text 21"/>
          <p:cNvSpPr txBox="1"/>
          <p:nvPr/>
        </p:nvSpPr>
        <p:spPr>
          <a:xfrm>
            <a:off x="4773168" y="2286000"/>
            <a:ext cx="1005840" cy="640080"/>
          </a:xfrm>
          <a:prstGeom prst="rect">
            <a:avLst/>
          </a:prstGeom>
          <a:noFill/>
          <a:ln/>
        </p:spPr>
        <p:txBody>
          <a:bodyPr wrap="square" lIns="0" tIns="0" rIns="0" bIns="0" rtlCol="0" anchor="t"/>
          <a:lstStyle/>
          <a:p>
            <a:pPr algn="ctr" indent="0" marL="0">
              <a:buNone/>
            </a:pPr>
            <a:r>
              <a:rPr lang="en-US" sz="1200" dirty="0">
                <a:solidFill>
                  <a:schemeClr val="accent6"/>
                </a:solidFill>
              </a:rPr>
              <a:t>Rules, @Transactional</a:t>
            </a:r>
            <a:endParaRPr lang="en-US" sz="1200" dirty="0"/>
          </a:p>
        </p:txBody>
      </p:sp>
      <p:sp>
        <p:nvSpPr>
          <p:cNvPr id="28" name="Arrow"/>
          <p:cNvSpPr/>
          <p:nvPr/>
        </p:nvSpPr>
        <p:spPr>
          <a:xfrm>
            <a:off x="5897880" y="2194560"/>
            <a:ext cx="164592" cy="0"/>
          </a:xfrm>
          <a:prstGeom prst="line">
            <a:avLst/>
          </a:prstGeom>
          <a:noFill/>
          <a:ln w="25400">
            <a:solidFill>
              <a:srgbClr val="F5A623"/>
            </a:solidFill>
            <a:prstDash val="solid"/>
            <a:tailEnd type="triangle"/>
          </a:ln>
        </p:spPr>
      </p:sp>
      <p:sp>
        <p:nvSpPr>
          <p:cNvPr id="29" name="Layer"/>
          <p:cNvSpPr/>
          <p:nvPr/>
        </p:nvSpPr>
        <p:spPr>
          <a:xfrm>
            <a:off x="6089904" y="1417320"/>
            <a:ext cx="1188720" cy="1554480"/>
          </a:xfrm>
          <a:prstGeom prst="roundRect">
            <a:avLst>
              <a:gd name="adj" fmla="val 9231"/>
            </a:avLst>
          </a:prstGeom>
          <a:solidFill>
            <a:schemeClr val="bg1"/>
          </a:solidFill>
          <a:ln/>
          <a:effectLst>
            <a:outerShdw sx="100000" sy="100000" kx="0" ky="0" algn="bl" rotWithShape="0" blurRad="101600" dist="25400" dir="5400000">
              <a:srgbClr val="0B1F2A">
                <a:alpha val="14000"/>
              </a:srgbClr>
            </a:outerShdw>
          </a:effectLst>
        </p:spPr>
      </p:sp>
      <p:sp>
        <p:nvSpPr>
          <p:cNvPr id="30" name="Layer disc"/>
          <p:cNvSpPr/>
          <p:nvPr/>
        </p:nvSpPr>
        <p:spPr>
          <a:xfrm>
            <a:off x="6501384" y="1554480"/>
            <a:ext cx="365760" cy="365760"/>
          </a:xfrm>
          <a:prstGeom prst="ellipse">
            <a:avLst/>
          </a:prstGeom>
          <a:solidFill>
            <a:schemeClr val="tx1"/>
          </a:solidFill>
          <a:ln/>
        </p:spPr>
      </p:sp>
      <p:pic>
        <p:nvPicPr>
          <p:cNvPr id="31" name="Image 4" descr="LayerGroup icon">    </p:cNvPr>
          <p:cNvPicPr>
            <a:picLocks noChangeAspect="1"/>
          </p:cNvPicPr>
          <p:nvPr/>
        </p:nvPicPr>
        <p:blipFill>
          <a:blip r:embed="rId5"/>
          <a:stretch>
            <a:fillRect/>
          </a:stretch>
        </p:blipFill>
        <p:spPr>
          <a:xfrm>
            <a:off x="6588252" y="1641348"/>
            <a:ext cx="192024" cy="192024"/>
          </a:xfrm>
          <a:prstGeom prst="rect">
            <a:avLst/>
          </a:prstGeom>
        </p:spPr>
      </p:pic>
      <p:sp>
        <p:nvSpPr>
          <p:cNvPr id="32" name="Text 25"/>
          <p:cNvSpPr txBox="1"/>
          <p:nvPr/>
        </p:nvSpPr>
        <p:spPr>
          <a:xfrm>
            <a:off x="6163056" y="1993392"/>
            <a:ext cx="1042416" cy="256032"/>
          </a:xfrm>
          <a:prstGeom prst="rect">
            <a:avLst/>
          </a:prstGeom>
          <a:noFill/>
          <a:ln/>
        </p:spPr>
        <p:txBody>
          <a:bodyPr wrap="square" lIns="0" tIns="0" rIns="0" bIns="0" rtlCol="0" anchor="t"/>
          <a:lstStyle/>
          <a:p>
            <a:pPr algn="ctr" indent="0" marL="0">
              <a:buNone/>
            </a:pPr>
            <a:r>
              <a:rPr lang="en-US" sz="1400" b="1" dirty="0">
                <a:solidFill>
                  <a:schemeClr val="tx1"/>
                </a:solidFill>
              </a:rPr>
              <a:t>Repository</a:t>
            </a:r>
            <a:endParaRPr lang="en-US" sz="1400" dirty="0"/>
          </a:p>
        </p:txBody>
      </p:sp>
      <p:sp>
        <p:nvSpPr>
          <p:cNvPr id="33" name="Text 26"/>
          <p:cNvSpPr txBox="1"/>
          <p:nvPr/>
        </p:nvSpPr>
        <p:spPr>
          <a:xfrm>
            <a:off x="6181344" y="2286000"/>
            <a:ext cx="1005840" cy="640080"/>
          </a:xfrm>
          <a:prstGeom prst="rect">
            <a:avLst/>
          </a:prstGeom>
          <a:noFill/>
          <a:ln/>
        </p:spPr>
        <p:txBody>
          <a:bodyPr wrap="square" lIns="0" tIns="0" rIns="0" bIns="0" rtlCol="0" anchor="t"/>
          <a:lstStyle/>
          <a:p>
            <a:pPr algn="ctr" indent="0" marL="0">
              <a:buNone/>
            </a:pPr>
            <a:r>
              <a:rPr lang="en-US" sz="1200" dirty="0">
                <a:solidFill>
                  <a:schemeClr val="accent5"/>
                </a:solidFill>
              </a:rPr>
              <a:t>14 Spring Data JPA</a:t>
            </a:r>
            <a:endParaRPr lang="en-US" sz="1200" dirty="0"/>
          </a:p>
        </p:txBody>
      </p:sp>
      <p:sp>
        <p:nvSpPr>
          <p:cNvPr id="34" name="Arrow"/>
          <p:cNvSpPr/>
          <p:nvPr/>
        </p:nvSpPr>
        <p:spPr>
          <a:xfrm>
            <a:off x="7306056" y="2194560"/>
            <a:ext cx="164592" cy="0"/>
          </a:xfrm>
          <a:prstGeom prst="line">
            <a:avLst/>
          </a:prstGeom>
          <a:noFill/>
          <a:ln w="25400">
            <a:solidFill>
              <a:srgbClr val="F5A623"/>
            </a:solidFill>
            <a:prstDash val="solid"/>
            <a:tailEnd type="triangle"/>
          </a:ln>
        </p:spPr>
      </p:sp>
      <p:sp>
        <p:nvSpPr>
          <p:cNvPr id="35" name="Layer"/>
          <p:cNvSpPr/>
          <p:nvPr/>
        </p:nvSpPr>
        <p:spPr>
          <a:xfrm>
            <a:off x="7498080" y="1417320"/>
            <a:ext cx="1188720" cy="1554480"/>
          </a:xfrm>
          <a:prstGeom prst="roundRect">
            <a:avLst>
              <a:gd name="adj" fmla="val 9231"/>
            </a:avLst>
          </a:prstGeom>
          <a:solidFill>
            <a:schemeClr val="bg1"/>
          </a:solidFill>
          <a:ln/>
          <a:effectLst>
            <a:outerShdw sx="100000" sy="100000" kx="0" ky="0" algn="bl" rotWithShape="0" blurRad="101600" dist="25400" dir="5400000">
              <a:srgbClr val="0B1F2A">
                <a:alpha val="14000"/>
              </a:srgbClr>
            </a:outerShdw>
          </a:effectLst>
        </p:spPr>
      </p:sp>
      <p:sp>
        <p:nvSpPr>
          <p:cNvPr id="36" name="Layer disc"/>
          <p:cNvSpPr/>
          <p:nvPr/>
        </p:nvSpPr>
        <p:spPr>
          <a:xfrm>
            <a:off x="7909560" y="1554480"/>
            <a:ext cx="365760" cy="365760"/>
          </a:xfrm>
          <a:prstGeom prst="ellipse">
            <a:avLst/>
          </a:prstGeom>
          <a:solidFill>
            <a:schemeClr val="tx1"/>
          </a:solidFill>
          <a:ln/>
        </p:spPr>
      </p:sp>
      <p:pic>
        <p:nvPicPr>
          <p:cNvPr id="37" name="Image 5" descr="Database icon">    </p:cNvPr>
          <p:cNvPicPr>
            <a:picLocks noChangeAspect="1"/>
          </p:cNvPicPr>
          <p:nvPr/>
        </p:nvPicPr>
        <p:blipFill>
          <a:blip r:embed="rId6"/>
          <a:stretch>
            <a:fillRect/>
          </a:stretch>
        </p:blipFill>
        <p:spPr>
          <a:xfrm>
            <a:off x="7996428" y="1641348"/>
            <a:ext cx="192024" cy="192024"/>
          </a:xfrm>
          <a:prstGeom prst="rect">
            <a:avLst/>
          </a:prstGeom>
        </p:spPr>
      </p:pic>
      <p:sp>
        <p:nvSpPr>
          <p:cNvPr id="38" name="Text 30"/>
          <p:cNvSpPr txBox="1"/>
          <p:nvPr/>
        </p:nvSpPr>
        <p:spPr>
          <a:xfrm>
            <a:off x="7571232" y="1993392"/>
            <a:ext cx="1042416" cy="256032"/>
          </a:xfrm>
          <a:prstGeom prst="rect">
            <a:avLst/>
          </a:prstGeom>
          <a:noFill/>
          <a:ln/>
        </p:spPr>
        <p:txBody>
          <a:bodyPr wrap="square" lIns="0" tIns="0" rIns="0" bIns="0" rtlCol="0" anchor="t"/>
          <a:lstStyle/>
          <a:p>
            <a:pPr algn="ctr" indent="0" marL="0">
              <a:buNone/>
            </a:pPr>
            <a:r>
              <a:rPr lang="en-US" sz="1400" b="1" dirty="0">
                <a:solidFill>
                  <a:schemeClr val="tx1"/>
                </a:solidFill>
              </a:rPr>
              <a:t>MySQL 8</a:t>
            </a:r>
            <a:endParaRPr lang="en-US" sz="1400" dirty="0"/>
          </a:p>
        </p:txBody>
      </p:sp>
      <p:sp>
        <p:nvSpPr>
          <p:cNvPr id="39" name="Text 31"/>
          <p:cNvSpPr txBox="1"/>
          <p:nvPr/>
        </p:nvSpPr>
        <p:spPr>
          <a:xfrm>
            <a:off x="7589520" y="2286000"/>
            <a:ext cx="1005840" cy="640080"/>
          </a:xfrm>
          <a:prstGeom prst="rect">
            <a:avLst/>
          </a:prstGeom>
          <a:noFill/>
          <a:ln/>
        </p:spPr>
        <p:txBody>
          <a:bodyPr wrap="square" lIns="0" tIns="0" rIns="0" bIns="0" rtlCol="0" anchor="t"/>
          <a:lstStyle/>
          <a:p>
            <a:pPr algn="ctr" indent="0" marL="0">
              <a:buNone/>
            </a:pPr>
            <a:r>
              <a:rPr lang="en-US" sz="1200" dirty="0">
                <a:solidFill>
                  <a:schemeClr val="accent5"/>
                </a:solidFill>
              </a:rPr>
              <a:t>14 tables, SSL</a:t>
            </a:r>
            <a:endParaRPr lang="en-US" sz="1200" dirty="0"/>
          </a:p>
        </p:txBody>
      </p:sp>
      <p:sp>
        <p:nvSpPr>
          <p:cNvPr id="40" name="Insight"/>
          <p:cNvSpPr/>
          <p:nvPr/>
        </p:nvSpPr>
        <p:spPr>
          <a:xfrm>
            <a:off x="457200" y="3246120"/>
            <a:ext cx="2587752" cy="1371600"/>
          </a:xfrm>
          <a:prstGeom prst="roundRect">
            <a:avLst>
              <a:gd name="adj" fmla="val 8000"/>
            </a:avLst>
          </a:prstGeom>
          <a:solidFill>
            <a:schemeClr val="tx1"/>
          </a:solidFill>
          <a:ln/>
        </p:spPr>
      </p:sp>
      <p:sp>
        <p:nvSpPr>
          <p:cNvPr id="41" name="Text 33"/>
          <p:cNvSpPr txBox="1"/>
          <p:nvPr/>
        </p:nvSpPr>
        <p:spPr>
          <a:xfrm>
            <a:off x="640080" y="3383280"/>
            <a:ext cx="2240280" cy="274320"/>
          </a:xfrm>
          <a:prstGeom prst="rect">
            <a:avLst/>
          </a:prstGeom>
          <a:noFill/>
          <a:ln/>
        </p:spPr>
        <p:txBody>
          <a:bodyPr wrap="square" lIns="0" tIns="0" rIns="0" bIns="0" rtlCol="0" anchor="t"/>
          <a:lstStyle/>
          <a:p>
            <a:pPr indent="0" marL="0">
              <a:buNone/>
            </a:pPr>
            <a:r>
              <a:rPr lang="en-US" sz="1600" b="1" dirty="0">
                <a:solidFill>
                  <a:schemeClr val="accent1"/>
                </a:solidFill>
              </a:rPr>
              <a:t>Security first</a:t>
            </a:r>
            <a:endParaRPr lang="en-US" sz="1600" dirty="0"/>
          </a:p>
        </p:txBody>
      </p:sp>
      <p:sp>
        <p:nvSpPr>
          <p:cNvPr id="42" name="Text 34"/>
          <p:cNvSpPr txBox="1"/>
          <p:nvPr/>
        </p:nvSpPr>
        <p:spPr>
          <a:xfrm>
            <a:off x="640080" y="3703320"/>
            <a:ext cx="2240280" cy="868680"/>
          </a:xfrm>
          <a:prstGeom prst="rect">
            <a:avLst/>
          </a:prstGeom>
          <a:noFill/>
          <a:ln/>
        </p:spPr>
        <p:txBody>
          <a:bodyPr wrap="square" lIns="0" tIns="0" rIns="0" bIns="0" rtlCol="0" anchor="t"/>
          <a:lstStyle/>
          <a:p>
            <a:pPr indent="0" marL="0">
              <a:buNone/>
            </a:pPr>
            <a:r>
              <a:rPr lang="en-US" sz="1400" dirty="0">
                <a:solidFill>
                  <a:schemeClr val="bg1"/>
                </a:solidFill>
              </a:rPr>
              <a:t>Every request passes the Spring Security filter chain before any controller runs.</a:t>
            </a:r>
            <a:endParaRPr lang="en-US" sz="1400" dirty="0"/>
          </a:p>
        </p:txBody>
      </p:sp>
      <p:sp>
        <p:nvSpPr>
          <p:cNvPr id="43" name="Insight"/>
          <p:cNvSpPr/>
          <p:nvPr/>
        </p:nvSpPr>
        <p:spPr>
          <a:xfrm>
            <a:off x="3278124" y="3246120"/>
            <a:ext cx="2587752" cy="1371600"/>
          </a:xfrm>
          <a:prstGeom prst="roundRect">
            <a:avLst>
              <a:gd name="adj" fmla="val 8000"/>
            </a:avLst>
          </a:prstGeom>
          <a:solidFill>
            <a:schemeClr val="tx1"/>
          </a:solidFill>
          <a:ln/>
        </p:spPr>
      </p:sp>
      <p:sp>
        <p:nvSpPr>
          <p:cNvPr id="44" name="Text 36"/>
          <p:cNvSpPr txBox="1"/>
          <p:nvPr/>
        </p:nvSpPr>
        <p:spPr>
          <a:xfrm>
            <a:off x="3461004" y="3383280"/>
            <a:ext cx="2240280" cy="274320"/>
          </a:xfrm>
          <a:prstGeom prst="rect">
            <a:avLst/>
          </a:prstGeom>
          <a:noFill/>
          <a:ln/>
        </p:spPr>
        <p:txBody>
          <a:bodyPr wrap="square" lIns="0" tIns="0" rIns="0" bIns="0" rtlCol="0" anchor="t"/>
          <a:lstStyle/>
          <a:p>
            <a:pPr indent="0" marL="0">
              <a:buNone/>
            </a:pPr>
            <a:r>
              <a:rPr lang="en-US" sz="1600" b="1" dirty="0">
                <a:solidFill>
                  <a:schemeClr val="accent1"/>
                </a:solidFill>
              </a:rPr>
              <a:t>Rules live in services</a:t>
            </a:r>
            <a:endParaRPr lang="en-US" sz="1600" dirty="0"/>
          </a:p>
        </p:txBody>
      </p:sp>
      <p:sp>
        <p:nvSpPr>
          <p:cNvPr id="45" name="Text 37"/>
          <p:cNvSpPr txBox="1"/>
          <p:nvPr/>
        </p:nvSpPr>
        <p:spPr>
          <a:xfrm>
            <a:off x="3461004" y="3703320"/>
            <a:ext cx="2240280" cy="868680"/>
          </a:xfrm>
          <a:prstGeom prst="rect">
            <a:avLst/>
          </a:prstGeom>
          <a:noFill/>
          <a:ln/>
        </p:spPr>
        <p:txBody>
          <a:bodyPr wrap="square" lIns="0" tIns="0" rIns="0" bIns="0" rtlCol="0" anchor="t"/>
          <a:lstStyle/>
          <a:p>
            <a:pPr indent="0" marL="0">
              <a:buNone/>
            </a:pPr>
            <a:r>
              <a:rPr lang="en-US" sz="1400" dirty="0">
                <a:solidFill>
                  <a:schemeClr val="bg1"/>
                </a:solidFill>
              </a:rPr>
              <a:t>Allocation, fees and complaints run inside @Transactional methods.</a:t>
            </a:r>
            <a:endParaRPr lang="en-US" sz="1400" dirty="0"/>
          </a:p>
        </p:txBody>
      </p:sp>
      <p:sp>
        <p:nvSpPr>
          <p:cNvPr id="46" name="Insight"/>
          <p:cNvSpPr/>
          <p:nvPr/>
        </p:nvSpPr>
        <p:spPr>
          <a:xfrm>
            <a:off x="6099048" y="3246120"/>
            <a:ext cx="2587752" cy="1371600"/>
          </a:xfrm>
          <a:prstGeom prst="roundRect">
            <a:avLst>
              <a:gd name="adj" fmla="val 8000"/>
            </a:avLst>
          </a:prstGeom>
          <a:solidFill>
            <a:schemeClr val="tx1"/>
          </a:solidFill>
          <a:ln/>
        </p:spPr>
      </p:sp>
      <p:sp>
        <p:nvSpPr>
          <p:cNvPr id="47" name="Text 39"/>
          <p:cNvSpPr txBox="1"/>
          <p:nvPr/>
        </p:nvSpPr>
        <p:spPr>
          <a:xfrm>
            <a:off x="6281928" y="3383280"/>
            <a:ext cx="2240280" cy="274320"/>
          </a:xfrm>
          <a:prstGeom prst="rect">
            <a:avLst/>
          </a:prstGeom>
          <a:noFill/>
          <a:ln/>
        </p:spPr>
        <p:txBody>
          <a:bodyPr wrap="square" lIns="0" tIns="0" rIns="0" bIns="0" rtlCol="0" anchor="t"/>
          <a:lstStyle/>
          <a:p>
            <a:pPr indent="0" marL="0">
              <a:buNone/>
            </a:pPr>
            <a:r>
              <a:rPr lang="en-US" sz="1600" b="1" dirty="0">
                <a:solidFill>
                  <a:schemeClr val="accent1"/>
                </a:solidFill>
              </a:rPr>
              <a:t>Two front doors</a:t>
            </a:r>
            <a:endParaRPr lang="en-US" sz="1600" dirty="0"/>
          </a:p>
        </p:txBody>
      </p:sp>
      <p:sp>
        <p:nvSpPr>
          <p:cNvPr id="48" name="Text 40"/>
          <p:cNvSpPr txBox="1"/>
          <p:nvPr/>
        </p:nvSpPr>
        <p:spPr>
          <a:xfrm>
            <a:off x="6281928" y="3703320"/>
            <a:ext cx="2240280" cy="868680"/>
          </a:xfrm>
          <a:prstGeom prst="rect">
            <a:avLst/>
          </a:prstGeom>
          <a:noFill/>
          <a:ln/>
        </p:spPr>
        <p:txBody>
          <a:bodyPr wrap="square" lIns="0" tIns="0" rIns="0" bIns="0" rtlCol="0" anchor="t"/>
          <a:lstStyle/>
          <a:p>
            <a:pPr indent="0" marL="0">
              <a:buNone/>
            </a:pPr>
            <a:r>
              <a:rPr lang="en-US" sz="1400" dirty="0">
                <a:solidFill>
                  <a:schemeClr val="bg1"/>
                </a:solidFill>
              </a:rPr>
              <a:t>55 Thymeleaf pages for people, a JWT-secured REST API for apps.</a:t>
            </a:r>
            <a:endParaRPr lang="en-US" sz="1400" dirty="0"/>
          </a:p>
        </p:txBody>
      </p:sp>
      <p:sp>
        <p:nvSpPr>
          <p:cNvPr id="25" name="Slide Number Placeholder 0"/>
          <p:cNvSpPr>
            <a:spLocks noGrp="1"/>
          </p:cNvSpPr>
          <p:nvPr>
            <p:ph type="sldNum" sz="quarter" idx="4294967295"/>
          </p:nvPr>
        </p:nvSpPr>
        <p:spPr>
          <a:xfrm>
            <a:off x="457200" y="4846320"/>
            <a:ext cx="54864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ection tag"/>
          <p:cNvSpPr/>
          <p:nvPr/>
        </p:nvSpPr>
        <p:spPr>
          <a:xfrm>
            <a:off x="457200" y="292608"/>
            <a:ext cx="2435962" cy="274320"/>
          </a:xfrm>
          <a:prstGeom prst="roundRect">
            <a:avLst>
              <a:gd name="adj" fmla="val 50000"/>
            </a:avLst>
          </a:prstGeom>
          <a:solidFill>
            <a:schemeClr val="accent1"/>
          </a:solidFill>
          <a:ln/>
        </p:spPr>
      </p:sp>
      <p:sp>
        <p:nvSpPr>
          <p:cNvPr id="3" name="Text 1"/>
          <p:cNvSpPr txBox="1"/>
          <p:nvPr/>
        </p:nvSpPr>
        <p:spPr>
          <a:xfrm>
            <a:off x="457200" y="292608"/>
            <a:ext cx="2435962" cy="274320"/>
          </a:xfrm>
          <a:prstGeom prst="rect">
            <a:avLst/>
          </a:prstGeom>
          <a:noFill/>
          <a:ln/>
        </p:spPr>
        <p:txBody>
          <a:bodyPr wrap="square" lIns="0" tIns="0" rIns="0" bIns="0" rtlCol="0" anchor="ctr"/>
          <a:lstStyle/>
          <a:p>
            <a:pPr algn="ctr" indent="0" marL="0">
              <a:buNone/>
            </a:pPr>
            <a:r>
              <a:rPr lang="en-US" sz="1000" b="1" spc="150" kern="0" dirty="0">
                <a:solidFill>
                  <a:schemeClr val="tx1"/>
                </a:solidFill>
              </a:rPr>
              <a:t>FLOOR 3  ·  ROOM ALLOCATION</a:t>
            </a:r>
            <a:endParaRPr lang="en-US" sz="1000" dirty="0"/>
          </a:p>
        </p:txBody>
      </p:sp>
      <p:sp>
        <p:nvSpPr>
          <p:cNvPr id="4" name="Text 2"/>
          <p:cNvSpPr/>
          <p:nvPr>
            <p:ph idx="103" type="title" hasCustomPrompt="1"/>
          </p:nvPr>
        </p:nvSpPr>
        <p:spPr>
          <a:xfrm>
            <a:off x="457200" y="640080"/>
            <a:ext cx="8229600" cy="685800"/>
          </a:xfrm>
          <a:prstGeom prst="rect">
            <a:avLst/>
          </a:prstGeom>
          <a:noFill/>
          <a:ln/>
        </p:spPr>
        <p:txBody>
          <a:bodyPr wrap="square" lIns="0" tIns="0" rIns="0" bIns="0" rtlCol="0" anchor="t"/>
          <a:lstStyle/>
          <a:p>
            <a:pPr algn="l" indent="0" marL="0">
              <a:buNone/>
            </a:pPr>
            <a:r>
              <a:rPr lang="en-US" sz="3600" b="1" dirty="0">
                <a:solidFill>
                  <a:schemeClr val="bg1"/>
                </a:solidFill>
              </a:rPr>
              <a:t>Smart Room Allocation</a:t>
            </a:r>
            <a:endParaRPr lang="en-US" sz="3600" dirty="0"/>
          </a:p>
        </p:txBody>
      </p:sp>
      <p:sp>
        <p:nvSpPr>
          <p:cNvPr id="5" name="Step"/>
          <p:cNvSpPr/>
          <p:nvPr/>
        </p:nvSpPr>
        <p:spPr>
          <a:xfrm>
            <a:off x="457200" y="1417320"/>
            <a:ext cx="1371600" cy="2514600"/>
          </a:xfrm>
          <a:prstGeom prst="roundRect">
            <a:avLst>
              <a:gd name="adj" fmla="val 8000"/>
            </a:avLst>
          </a:prstGeom>
          <a:solidFill>
            <a:schemeClr val="tx2"/>
          </a:solidFill>
          <a:ln/>
        </p:spPr>
      </p:sp>
      <p:sp>
        <p:nvSpPr>
          <p:cNvPr id="6" name="Step no"/>
          <p:cNvSpPr/>
          <p:nvPr/>
        </p:nvSpPr>
        <p:spPr>
          <a:xfrm>
            <a:off x="594360" y="1554480"/>
            <a:ext cx="329184" cy="329184"/>
          </a:xfrm>
          <a:prstGeom prst="ellipse">
            <a:avLst/>
          </a:prstGeom>
          <a:solidFill>
            <a:schemeClr val="accent1"/>
          </a:solidFill>
          <a:ln/>
        </p:spPr>
      </p:sp>
      <p:sp>
        <p:nvSpPr>
          <p:cNvPr id="7" name="Text 5"/>
          <p:cNvSpPr txBox="1"/>
          <p:nvPr/>
        </p:nvSpPr>
        <p:spPr>
          <a:xfrm>
            <a:off x="594360" y="155448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8" name="Text 6"/>
          <p:cNvSpPr txBox="1"/>
          <p:nvPr/>
        </p:nvSpPr>
        <p:spPr>
          <a:xfrm>
            <a:off x="594360" y="2011680"/>
            <a:ext cx="1143000" cy="274320"/>
          </a:xfrm>
          <a:prstGeom prst="rect">
            <a:avLst/>
          </a:prstGeom>
          <a:noFill/>
          <a:ln/>
        </p:spPr>
        <p:txBody>
          <a:bodyPr wrap="square" lIns="0" tIns="0" rIns="0" bIns="0" rtlCol="0" anchor="t"/>
          <a:lstStyle/>
          <a:p>
            <a:pPr indent="0" marL="0">
              <a:buNone/>
            </a:pPr>
            <a:r>
              <a:rPr lang="en-US" sz="1600" b="1" dirty="0">
                <a:solidFill>
                  <a:schemeClr val="bg1"/>
                </a:solidFill>
              </a:rPr>
              <a:t>Request</a:t>
            </a:r>
            <a:endParaRPr lang="en-US" sz="1600" dirty="0"/>
          </a:p>
        </p:txBody>
      </p:sp>
      <p:sp>
        <p:nvSpPr>
          <p:cNvPr id="9" name="Text 7"/>
          <p:cNvSpPr txBox="1"/>
          <p:nvPr/>
        </p:nvSpPr>
        <p:spPr>
          <a:xfrm>
            <a:off x="594360" y="2377440"/>
            <a:ext cx="1115568" cy="1463040"/>
          </a:xfrm>
          <a:prstGeom prst="rect">
            <a:avLst/>
          </a:prstGeom>
          <a:noFill/>
          <a:ln/>
        </p:spPr>
        <p:txBody>
          <a:bodyPr wrap="square" lIns="0" tIns="0" rIns="0" bIns="0" rtlCol="0" anchor="t"/>
          <a:lstStyle/>
          <a:p>
            <a:pPr indent="0" marL="0">
              <a:buNone/>
            </a:pPr>
            <a:r>
              <a:rPr lang="en-US" sz="1400" dirty="0">
                <a:solidFill>
                  <a:schemeClr val="accent6"/>
                </a:solidFill>
              </a:rPr>
              <a:t>Student asks for a room. Saved as PENDING</a:t>
            </a:r>
            <a:endParaRPr lang="en-US" sz="1400" dirty="0"/>
          </a:p>
        </p:txBody>
      </p:sp>
      <p:sp>
        <p:nvSpPr>
          <p:cNvPr id="10" name="Step"/>
          <p:cNvSpPr/>
          <p:nvPr/>
        </p:nvSpPr>
        <p:spPr>
          <a:xfrm>
            <a:off x="1943100" y="1417320"/>
            <a:ext cx="1371600" cy="2514600"/>
          </a:xfrm>
          <a:prstGeom prst="roundRect">
            <a:avLst>
              <a:gd name="adj" fmla="val 8000"/>
            </a:avLst>
          </a:prstGeom>
          <a:solidFill>
            <a:schemeClr val="tx2"/>
          </a:solidFill>
          <a:ln/>
        </p:spPr>
      </p:sp>
      <p:sp>
        <p:nvSpPr>
          <p:cNvPr id="11" name="Step no"/>
          <p:cNvSpPr/>
          <p:nvPr/>
        </p:nvSpPr>
        <p:spPr>
          <a:xfrm>
            <a:off x="2080260" y="1554480"/>
            <a:ext cx="329184" cy="329184"/>
          </a:xfrm>
          <a:prstGeom prst="ellipse">
            <a:avLst/>
          </a:prstGeom>
          <a:solidFill>
            <a:schemeClr val="accent1"/>
          </a:solidFill>
          <a:ln/>
        </p:spPr>
      </p:sp>
      <p:sp>
        <p:nvSpPr>
          <p:cNvPr id="12" name="Text 10"/>
          <p:cNvSpPr txBox="1"/>
          <p:nvPr/>
        </p:nvSpPr>
        <p:spPr>
          <a:xfrm>
            <a:off x="2080260" y="155448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3" name="Text 11"/>
          <p:cNvSpPr txBox="1"/>
          <p:nvPr/>
        </p:nvSpPr>
        <p:spPr>
          <a:xfrm>
            <a:off x="2080260" y="2011680"/>
            <a:ext cx="1143000" cy="274320"/>
          </a:xfrm>
          <a:prstGeom prst="rect">
            <a:avLst/>
          </a:prstGeom>
          <a:noFill/>
          <a:ln/>
        </p:spPr>
        <p:txBody>
          <a:bodyPr wrap="square" lIns="0" tIns="0" rIns="0" bIns="0" rtlCol="0" anchor="t"/>
          <a:lstStyle/>
          <a:p>
            <a:pPr indent="0" marL="0">
              <a:buNone/>
            </a:pPr>
            <a:r>
              <a:rPr lang="en-US" sz="1600" b="1" dirty="0">
                <a:solidFill>
                  <a:schemeClr val="bg1"/>
                </a:solidFill>
              </a:rPr>
              <a:t>Approve</a:t>
            </a:r>
            <a:endParaRPr lang="en-US" sz="1600" dirty="0"/>
          </a:p>
        </p:txBody>
      </p:sp>
      <p:sp>
        <p:nvSpPr>
          <p:cNvPr id="14" name="Text 12"/>
          <p:cNvSpPr txBox="1"/>
          <p:nvPr/>
        </p:nvSpPr>
        <p:spPr>
          <a:xfrm>
            <a:off x="2080260" y="2377440"/>
            <a:ext cx="1115568" cy="1463040"/>
          </a:xfrm>
          <a:prstGeom prst="rect">
            <a:avLst/>
          </a:prstGeom>
          <a:noFill/>
          <a:ln/>
        </p:spPr>
        <p:txBody>
          <a:bodyPr wrap="square" lIns="0" tIns="0" rIns="0" bIns="0" rtlCol="0" anchor="t"/>
          <a:lstStyle/>
          <a:p>
            <a:pPr indent="0" marL="0">
              <a:buNone/>
            </a:pPr>
            <a:r>
              <a:rPr lang="en-US" sz="1400" dirty="0">
                <a:solidFill>
                  <a:schemeClr val="accent6"/>
                </a:solidFill>
              </a:rPr>
              <a:t>Warden reviews it, picks a bed number</a:t>
            </a:r>
            <a:endParaRPr lang="en-US" sz="1400" dirty="0"/>
          </a:p>
        </p:txBody>
      </p:sp>
      <p:sp>
        <p:nvSpPr>
          <p:cNvPr id="15" name="Step"/>
          <p:cNvSpPr/>
          <p:nvPr/>
        </p:nvSpPr>
        <p:spPr>
          <a:xfrm>
            <a:off x="5600700" y="1417320"/>
            <a:ext cx="1508760" cy="2514600"/>
          </a:xfrm>
          <a:prstGeom prst="roundRect">
            <a:avLst>
              <a:gd name="adj" fmla="val 7273"/>
            </a:avLst>
          </a:prstGeom>
          <a:solidFill>
            <a:schemeClr val="tx2"/>
          </a:solidFill>
          <a:ln/>
        </p:spPr>
      </p:sp>
      <p:sp>
        <p:nvSpPr>
          <p:cNvPr id="16" name="Step no"/>
          <p:cNvSpPr/>
          <p:nvPr/>
        </p:nvSpPr>
        <p:spPr>
          <a:xfrm>
            <a:off x="5737860" y="1554480"/>
            <a:ext cx="329184" cy="329184"/>
          </a:xfrm>
          <a:prstGeom prst="ellipse">
            <a:avLst/>
          </a:prstGeom>
          <a:solidFill>
            <a:schemeClr val="accent1"/>
          </a:solidFill>
          <a:ln/>
        </p:spPr>
      </p:sp>
      <p:sp>
        <p:nvSpPr>
          <p:cNvPr id="17" name="Text 15"/>
          <p:cNvSpPr txBox="1"/>
          <p:nvPr/>
        </p:nvSpPr>
        <p:spPr>
          <a:xfrm>
            <a:off x="5737860" y="155448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18" name="Text 16"/>
          <p:cNvSpPr txBox="1"/>
          <p:nvPr/>
        </p:nvSpPr>
        <p:spPr>
          <a:xfrm>
            <a:off x="5737860" y="2011680"/>
            <a:ext cx="1280160" cy="274320"/>
          </a:xfrm>
          <a:prstGeom prst="rect">
            <a:avLst/>
          </a:prstGeom>
          <a:noFill/>
          <a:ln/>
        </p:spPr>
        <p:txBody>
          <a:bodyPr wrap="square" lIns="0" tIns="0" rIns="0" bIns="0" rtlCol="0" anchor="t"/>
          <a:lstStyle/>
          <a:p>
            <a:pPr indent="0" marL="0">
              <a:buNone/>
            </a:pPr>
            <a:r>
              <a:rPr lang="en-US" sz="1600" b="1" dirty="0">
                <a:solidFill>
                  <a:schemeClr val="bg1"/>
                </a:solidFill>
              </a:rPr>
              <a:t>Commit</a:t>
            </a:r>
            <a:endParaRPr lang="en-US" sz="1600" dirty="0"/>
          </a:p>
        </p:txBody>
      </p:sp>
      <p:sp>
        <p:nvSpPr>
          <p:cNvPr id="19" name="Text 17"/>
          <p:cNvSpPr txBox="1"/>
          <p:nvPr/>
        </p:nvSpPr>
        <p:spPr>
          <a:xfrm>
            <a:off x="5737860" y="2377440"/>
            <a:ext cx="1252728" cy="1463040"/>
          </a:xfrm>
          <a:prstGeom prst="rect">
            <a:avLst/>
          </a:prstGeom>
          <a:noFill/>
          <a:ln/>
        </p:spPr>
        <p:txBody>
          <a:bodyPr wrap="square" lIns="0" tIns="0" rIns="0" bIns="0" rtlCol="0" anchor="t"/>
          <a:lstStyle/>
          <a:p>
            <a:pPr indent="0" marL="0">
              <a:buNone/>
            </a:pPr>
            <a:r>
              <a:rPr lang="en-US" sz="1400" dirty="0">
                <a:solidFill>
                  <a:schemeClr val="accent6"/>
                </a:solidFill>
              </a:rPr>
              <a:t>occupied +1, room AVAILABLE or FULL, allocation ACTIVE</a:t>
            </a:r>
            <a:endParaRPr lang="en-US" sz="1400" dirty="0"/>
          </a:p>
        </p:txBody>
      </p:sp>
      <p:sp>
        <p:nvSpPr>
          <p:cNvPr id="20" name="Step"/>
          <p:cNvSpPr/>
          <p:nvPr/>
        </p:nvSpPr>
        <p:spPr>
          <a:xfrm>
            <a:off x="7223760" y="1417320"/>
            <a:ext cx="1463040" cy="2514600"/>
          </a:xfrm>
          <a:prstGeom prst="roundRect">
            <a:avLst>
              <a:gd name="adj" fmla="val 7500"/>
            </a:avLst>
          </a:prstGeom>
          <a:solidFill>
            <a:schemeClr val="tx2"/>
          </a:solidFill>
          <a:ln/>
        </p:spPr>
      </p:sp>
      <p:sp>
        <p:nvSpPr>
          <p:cNvPr id="21" name="Step no"/>
          <p:cNvSpPr/>
          <p:nvPr/>
        </p:nvSpPr>
        <p:spPr>
          <a:xfrm>
            <a:off x="7360920" y="1554480"/>
            <a:ext cx="329184" cy="329184"/>
          </a:xfrm>
          <a:prstGeom prst="ellipse">
            <a:avLst/>
          </a:prstGeom>
          <a:solidFill>
            <a:schemeClr val="accent1"/>
          </a:solidFill>
          <a:ln/>
        </p:spPr>
      </p:sp>
      <p:sp>
        <p:nvSpPr>
          <p:cNvPr id="22" name="Text 20"/>
          <p:cNvSpPr txBox="1"/>
          <p:nvPr/>
        </p:nvSpPr>
        <p:spPr>
          <a:xfrm>
            <a:off x="7360920" y="155448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23" name="Text 21"/>
          <p:cNvSpPr txBox="1"/>
          <p:nvPr/>
        </p:nvSpPr>
        <p:spPr>
          <a:xfrm>
            <a:off x="7360920" y="2011680"/>
            <a:ext cx="1234440" cy="274320"/>
          </a:xfrm>
          <a:prstGeom prst="rect">
            <a:avLst/>
          </a:prstGeom>
          <a:noFill/>
          <a:ln/>
        </p:spPr>
        <p:txBody>
          <a:bodyPr wrap="square" lIns="0" tIns="0" rIns="0" bIns="0" rtlCol="0" anchor="t"/>
          <a:lstStyle/>
          <a:p>
            <a:pPr indent="0" marL="0">
              <a:buNone/>
            </a:pPr>
            <a:r>
              <a:rPr lang="en-US" sz="1600" b="1" dirty="0">
                <a:solidFill>
                  <a:schemeClr val="bg1"/>
                </a:solidFill>
              </a:rPr>
              <a:t>Vacate later</a:t>
            </a:r>
            <a:endParaRPr lang="en-US" sz="1600" dirty="0"/>
          </a:p>
        </p:txBody>
      </p:sp>
      <p:sp>
        <p:nvSpPr>
          <p:cNvPr id="24" name="Text 22"/>
          <p:cNvSpPr txBox="1"/>
          <p:nvPr/>
        </p:nvSpPr>
        <p:spPr>
          <a:xfrm>
            <a:off x="7360920" y="2377440"/>
            <a:ext cx="1207008" cy="1463040"/>
          </a:xfrm>
          <a:prstGeom prst="rect">
            <a:avLst/>
          </a:prstGeom>
          <a:noFill/>
          <a:ln/>
        </p:spPr>
        <p:txBody>
          <a:bodyPr wrap="square" lIns="0" tIns="0" rIns="0" bIns="0" rtlCol="0" anchor="t"/>
          <a:lstStyle/>
          <a:p>
            <a:pPr indent="0" marL="0">
              <a:buNone/>
            </a:pPr>
            <a:r>
              <a:rPr lang="en-US" sz="1400" dirty="0">
                <a:solidFill>
                  <a:schemeClr val="accent6"/>
                </a:solidFill>
              </a:rPr>
              <a:t>occupied -1, status VACATED, history kept</a:t>
            </a:r>
            <a:endParaRPr lang="en-US" sz="1400" dirty="0"/>
          </a:p>
        </p:txBody>
      </p:sp>
      <p:sp>
        <p:nvSpPr>
          <p:cNvPr id="25" name="Guards"/>
          <p:cNvSpPr/>
          <p:nvPr/>
        </p:nvSpPr>
        <p:spPr>
          <a:xfrm>
            <a:off x="3429000" y="1417320"/>
            <a:ext cx="2057400" cy="2514600"/>
          </a:xfrm>
          <a:prstGeom prst="roundRect">
            <a:avLst>
              <a:gd name="adj" fmla="val 5333"/>
            </a:avLst>
          </a:prstGeom>
          <a:solidFill>
            <a:schemeClr val="tx2"/>
          </a:solidFill>
          <a:ln w="19050">
            <a:solidFill>
              <a:schemeClr val="accent2"/>
            </a:solidFill>
            <a:prstDash val="solid"/>
          </a:ln>
        </p:spPr>
      </p:sp>
      <p:sp>
        <p:nvSpPr>
          <p:cNvPr id="26" name="Step no"/>
          <p:cNvSpPr/>
          <p:nvPr/>
        </p:nvSpPr>
        <p:spPr>
          <a:xfrm>
            <a:off x="3566160" y="1554480"/>
            <a:ext cx="329184" cy="329184"/>
          </a:xfrm>
          <a:prstGeom prst="ellipse">
            <a:avLst/>
          </a:prstGeom>
          <a:solidFill>
            <a:schemeClr val="accent2"/>
          </a:solidFill>
          <a:ln/>
        </p:spPr>
      </p:sp>
      <p:sp>
        <p:nvSpPr>
          <p:cNvPr id="27" name="Text 25"/>
          <p:cNvSpPr txBox="1"/>
          <p:nvPr/>
        </p:nvSpPr>
        <p:spPr>
          <a:xfrm>
            <a:off x="3566160" y="1554480"/>
            <a:ext cx="329184" cy="329184"/>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8" name="Text 26"/>
          <p:cNvSpPr txBox="1"/>
          <p:nvPr/>
        </p:nvSpPr>
        <p:spPr>
          <a:xfrm>
            <a:off x="3566160" y="2011680"/>
            <a:ext cx="1828800" cy="274320"/>
          </a:xfrm>
          <a:prstGeom prst="rect">
            <a:avLst/>
          </a:prstGeom>
          <a:noFill/>
          <a:ln/>
        </p:spPr>
        <p:txBody>
          <a:bodyPr wrap="square" lIns="0" tIns="0" rIns="0" bIns="0" rtlCol="0" anchor="t"/>
          <a:lstStyle/>
          <a:p>
            <a:pPr indent="0" marL="0">
              <a:buNone/>
            </a:pPr>
            <a:r>
              <a:rPr lang="en-US" sz="1600" b="1" dirty="0">
                <a:solidFill>
                  <a:schemeClr val="bg1"/>
                </a:solidFill>
              </a:rPr>
              <a:t>Three guards</a:t>
            </a:r>
            <a:endParaRPr lang="en-US" sz="1600" dirty="0"/>
          </a:p>
        </p:txBody>
      </p:sp>
      <p:sp>
        <p:nvSpPr>
          <p:cNvPr id="29" name="Guard"/>
          <p:cNvSpPr/>
          <p:nvPr/>
        </p:nvSpPr>
        <p:spPr>
          <a:xfrm>
            <a:off x="3566160" y="2423160"/>
            <a:ext cx="1783080" cy="384048"/>
          </a:xfrm>
          <a:prstGeom prst="roundRect">
            <a:avLst>
              <a:gd name="adj" fmla="val 50000"/>
            </a:avLst>
          </a:prstGeom>
          <a:solidFill>
            <a:schemeClr val="tx1"/>
          </a:solidFill>
          <a:ln/>
        </p:spPr>
      </p:sp>
      <p:sp>
        <p:nvSpPr>
          <p:cNvPr id="30" name="Text 28"/>
          <p:cNvSpPr txBox="1"/>
          <p:nvPr/>
        </p:nvSpPr>
        <p:spPr>
          <a:xfrm>
            <a:off x="3566160" y="2423160"/>
            <a:ext cx="1783080" cy="384048"/>
          </a:xfrm>
          <a:prstGeom prst="rect">
            <a:avLst/>
          </a:prstGeom>
          <a:noFill/>
          <a:ln/>
        </p:spPr>
        <p:txBody>
          <a:bodyPr wrap="square" lIns="0" tIns="0" rIns="0" bIns="0" rtlCol="0" anchor="ctr"/>
          <a:lstStyle/>
          <a:p>
            <a:pPr algn="ctr" indent="0" marL="0">
              <a:buNone/>
            </a:pPr>
            <a:r>
              <a:rPr lang="en-US" sz="1200" b="1" dirty="0">
                <a:solidFill>
                  <a:schemeClr val="accent2"/>
                </a:solidFill>
              </a:rPr>
              <a:t>No ACTIVE allocation yet</a:t>
            </a:r>
            <a:endParaRPr lang="en-US" sz="1200" dirty="0"/>
          </a:p>
        </p:txBody>
      </p:sp>
      <p:sp>
        <p:nvSpPr>
          <p:cNvPr id="31" name="Guard"/>
          <p:cNvSpPr/>
          <p:nvPr/>
        </p:nvSpPr>
        <p:spPr>
          <a:xfrm>
            <a:off x="3566160" y="2898648"/>
            <a:ext cx="1783080" cy="384048"/>
          </a:xfrm>
          <a:prstGeom prst="roundRect">
            <a:avLst>
              <a:gd name="adj" fmla="val 50000"/>
            </a:avLst>
          </a:prstGeom>
          <a:solidFill>
            <a:schemeClr val="tx1"/>
          </a:solidFill>
          <a:ln/>
        </p:spPr>
      </p:sp>
      <p:sp>
        <p:nvSpPr>
          <p:cNvPr id="32" name="Text 30"/>
          <p:cNvSpPr txBox="1"/>
          <p:nvPr/>
        </p:nvSpPr>
        <p:spPr>
          <a:xfrm>
            <a:off x="3566160" y="2898648"/>
            <a:ext cx="1783080" cy="384048"/>
          </a:xfrm>
          <a:prstGeom prst="rect">
            <a:avLst/>
          </a:prstGeom>
          <a:noFill/>
          <a:ln/>
        </p:spPr>
        <p:txBody>
          <a:bodyPr wrap="square" lIns="0" tIns="0" rIns="0" bIns="0" rtlCol="0" anchor="ctr"/>
          <a:lstStyle/>
          <a:p>
            <a:pPr algn="ctr" indent="0" marL="0">
              <a:buNone/>
            </a:pPr>
            <a:r>
              <a:rPr lang="en-US" sz="1200" b="1" dirty="0">
                <a:solidFill>
                  <a:schemeClr val="accent2"/>
                </a:solidFill>
              </a:rPr>
              <a:t>Room not in maintenance</a:t>
            </a:r>
            <a:endParaRPr lang="en-US" sz="1200" dirty="0"/>
          </a:p>
        </p:txBody>
      </p:sp>
      <p:sp>
        <p:nvSpPr>
          <p:cNvPr id="33" name="Guard"/>
          <p:cNvSpPr/>
          <p:nvPr/>
        </p:nvSpPr>
        <p:spPr>
          <a:xfrm>
            <a:off x="3566160" y="3374136"/>
            <a:ext cx="1783080" cy="384048"/>
          </a:xfrm>
          <a:prstGeom prst="roundRect">
            <a:avLst>
              <a:gd name="adj" fmla="val 50000"/>
            </a:avLst>
          </a:prstGeom>
          <a:solidFill>
            <a:schemeClr val="tx1"/>
          </a:solidFill>
          <a:ln/>
        </p:spPr>
      </p:sp>
      <p:sp>
        <p:nvSpPr>
          <p:cNvPr id="34" name="Text 32"/>
          <p:cNvSpPr txBox="1"/>
          <p:nvPr/>
        </p:nvSpPr>
        <p:spPr>
          <a:xfrm>
            <a:off x="3566160" y="3374136"/>
            <a:ext cx="1783080" cy="384048"/>
          </a:xfrm>
          <a:prstGeom prst="rect">
            <a:avLst/>
          </a:prstGeom>
          <a:noFill/>
          <a:ln/>
        </p:spPr>
        <p:txBody>
          <a:bodyPr wrap="square" lIns="0" tIns="0" rIns="0" bIns="0" rtlCol="0" anchor="ctr"/>
          <a:lstStyle/>
          <a:p>
            <a:pPr algn="ctr" indent="0" marL="0">
              <a:buNone/>
            </a:pPr>
            <a:r>
              <a:rPr lang="en-US" sz="1200" b="1" dirty="0">
                <a:solidFill>
                  <a:schemeClr val="accent2"/>
                </a:solidFill>
              </a:rPr>
              <a:t>A free bed exists</a:t>
            </a:r>
            <a:endParaRPr lang="en-US" sz="1200" dirty="0"/>
          </a:p>
        </p:txBody>
      </p:sp>
      <p:sp>
        <p:nvSpPr>
          <p:cNvPr id="35" name="Arrow"/>
          <p:cNvSpPr/>
          <p:nvPr/>
        </p:nvSpPr>
        <p:spPr>
          <a:xfrm>
            <a:off x="1837944" y="2674620"/>
            <a:ext cx="96012" cy="0"/>
          </a:xfrm>
          <a:prstGeom prst="line">
            <a:avLst/>
          </a:prstGeom>
          <a:noFill/>
          <a:ln w="25400">
            <a:solidFill>
              <a:srgbClr val="F5A623"/>
            </a:solidFill>
            <a:prstDash val="solid"/>
            <a:tailEnd type="triangle"/>
          </a:ln>
        </p:spPr>
      </p:sp>
      <p:sp>
        <p:nvSpPr>
          <p:cNvPr id="36" name="Arrow"/>
          <p:cNvSpPr/>
          <p:nvPr/>
        </p:nvSpPr>
        <p:spPr>
          <a:xfrm>
            <a:off x="3323844" y="2674620"/>
            <a:ext cx="96012" cy="0"/>
          </a:xfrm>
          <a:prstGeom prst="line">
            <a:avLst/>
          </a:prstGeom>
          <a:noFill/>
          <a:ln w="25400">
            <a:solidFill>
              <a:srgbClr val="F5A623"/>
            </a:solidFill>
            <a:prstDash val="solid"/>
            <a:tailEnd type="triangle"/>
          </a:ln>
        </p:spPr>
      </p:sp>
      <p:sp>
        <p:nvSpPr>
          <p:cNvPr id="37" name="Arrow"/>
          <p:cNvSpPr/>
          <p:nvPr/>
        </p:nvSpPr>
        <p:spPr>
          <a:xfrm>
            <a:off x="5495544" y="2674620"/>
            <a:ext cx="96012" cy="0"/>
          </a:xfrm>
          <a:prstGeom prst="line">
            <a:avLst/>
          </a:prstGeom>
          <a:noFill/>
          <a:ln w="25400">
            <a:solidFill>
              <a:srgbClr val="F5A623"/>
            </a:solidFill>
            <a:prstDash val="solid"/>
            <a:tailEnd type="triangle"/>
          </a:ln>
        </p:spPr>
      </p:sp>
      <p:sp>
        <p:nvSpPr>
          <p:cNvPr id="38" name="Arrow"/>
          <p:cNvSpPr/>
          <p:nvPr/>
        </p:nvSpPr>
        <p:spPr>
          <a:xfrm>
            <a:off x="7118604" y="2674620"/>
            <a:ext cx="96012" cy="0"/>
          </a:xfrm>
          <a:prstGeom prst="line">
            <a:avLst/>
          </a:prstGeom>
          <a:noFill/>
          <a:ln w="25400">
            <a:solidFill>
              <a:srgbClr val="F5A623"/>
            </a:solidFill>
            <a:prstDash val="solid"/>
            <a:tailEnd type="triangle"/>
          </a:ln>
        </p:spPr>
      </p:sp>
      <p:sp>
        <p:nvSpPr>
          <p:cNvPr id="39" name="Banner"/>
          <p:cNvSpPr/>
          <p:nvPr/>
        </p:nvSpPr>
        <p:spPr>
          <a:xfrm>
            <a:off x="457200" y="4114800"/>
            <a:ext cx="8229600" cy="502920"/>
          </a:xfrm>
          <a:prstGeom prst="roundRect">
            <a:avLst>
              <a:gd name="adj" fmla="val 21818"/>
            </a:avLst>
          </a:prstGeom>
          <a:solidFill>
            <a:schemeClr val="accent1"/>
          </a:solidFill>
          <a:ln/>
        </p:spPr>
      </p:sp>
      <p:sp>
        <p:nvSpPr>
          <p:cNvPr id="40" name="Text 38"/>
          <p:cNvSpPr txBox="1"/>
          <p:nvPr/>
        </p:nvSpPr>
        <p:spPr>
          <a:xfrm>
            <a:off x="457200" y="4114800"/>
            <a:ext cx="8229600" cy="502920"/>
          </a:xfrm>
          <a:prstGeom prst="rect">
            <a:avLst/>
          </a:prstGeom>
          <a:noFill/>
          <a:ln/>
        </p:spPr>
        <p:txBody>
          <a:bodyPr wrap="square" lIns="0" tIns="0" rIns="0" bIns="0" rtlCol="0" anchor="ctr"/>
          <a:lstStyle/>
          <a:p>
            <a:pPr algn="ctr" indent="0" marL="0">
              <a:buNone/>
            </a:pPr>
            <a:r>
              <a:rPr lang="en-US" sz="1600" b="1" dirty="0">
                <a:solidFill>
                  <a:schemeClr val="tx1"/>
                </a:solidFill>
              </a:rPr>
              <a:t>One @Transactional method: if any step fails, everything rolls back.</a:t>
            </a:r>
            <a:endParaRPr lang="en-US" sz="1600" dirty="0"/>
          </a:p>
        </p:txBody>
      </p:sp>
      <p:sp>
        <p:nvSpPr>
          <p:cNvPr id="25" name="Slide Number Placeholder 0"/>
          <p:cNvSpPr>
            <a:spLocks noGrp="1"/>
          </p:cNvSpPr>
          <p:nvPr>
            <p:ph type="sldNum" sz="quarter" idx="4294967295"/>
          </p:nvPr>
        </p:nvSpPr>
        <p:spPr>
          <a:xfrm>
            <a:off x="457200" y="4846320"/>
            <a:ext cx="54864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ection tag"/>
          <p:cNvSpPr/>
          <p:nvPr/>
        </p:nvSpPr>
        <p:spPr>
          <a:xfrm>
            <a:off x="457200" y="292608"/>
            <a:ext cx="2061058" cy="274320"/>
          </a:xfrm>
          <a:prstGeom prst="roundRect">
            <a:avLst>
              <a:gd name="adj" fmla="val 50000"/>
            </a:avLst>
          </a:prstGeom>
          <a:solidFill>
            <a:schemeClr val="accent1"/>
          </a:solidFill>
          <a:ln/>
        </p:spPr>
      </p:sp>
      <p:sp>
        <p:nvSpPr>
          <p:cNvPr id="3" name="Text 1"/>
          <p:cNvSpPr txBox="1"/>
          <p:nvPr/>
        </p:nvSpPr>
        <p:spPr>
          <a:xfrm>
            <a:off x="457200" y="292608"/>
            <a:ext cx="2061058" cy="274320"/>
          </a:xfrm>
          <a:prstGeom prst="rect">
            <a:avLst/>
          </a:prstGeom>
          <a:noFill/>
          <a:ln/>
        </p:spPr>
        <p:txBody>
          <a:bodyPr wrap="square" lIns="0" tIns="0" rIns="0" bIns="0" rtlCol="0" anchor="ctr"/>
          <a:lstStyle/>
          <a:p>
            <a:pPr algn="ctr" indent="0" marL="0">
              <a:buNone/>
            </a:pPr>
            <a:r>
              <a:rPr lang="en-US" sz="1000" b="1" spc="150" kern="0" dirty="0">
                <a:solidFill>
                  <a:schemeClr val="tx1"/>
                </a:solidFill>
              </a:rPr>
              <a:t>FLOOR 3  ·  COMPLAINTS</a:t>
            </a:r>
            <a:endParaRPr lang="en-US" sz="1000" dirty="0"/>
          </a:p>
        </p:txBody>
      </p:sp>
      <p:sp>
        <p:nvSpPr>
          <p:cNvPr id="4" name="Text 2"/>
          <p:cNvSpPr/>
          <p:nvPr>
            <p:ph idx="103" type="title" hasCustomPrompt="1"/>
          </p:nvPr>
        </p:nvSpPr>
        <p:spPr>
          <a:xfrm>
            <a:off x="457200" y="640080"/>
            <a:ext cx="8229600" cy="685800"/>
          </a:xfrm>
          <a:prstGeom prst="rect">
            <a:avLst/>
          </a:prstGeom>
          <a:noFill/>
          <a:ln/>
        </p:spPr>
        <p:txBody>
          <a:bodyPr wrap="square" lIns="0" tIns="0" rIns="0" bIns="0" rtlCol="0" anchor="t"/>
          <a:lstStyle/>
          <a:p>
            <a:pPr algn="l" indent="0" marL="0">
              <a:buNone/>
            </a:pPr>
            <a:r>
              <a:rPr lang="en-US" sz="3600" b="1" dirty="0">
                <a:solidFill>
                  <a:schemeClr val="tx1"/>
                </a:solidFill>
              </a:rPr>
              <a:t>Complaint Lifecycle</a:t>
            </a:r>
            <a:endParaRPr lang="en-US" sz="3600" dirty="0"/>
          </a:p>
        </p:txBody>
      </p:sp>
      <p:sp>
        <p:nvSpPr>
          <p:cNvPr id="5" name="Status"/>
          <p:cNvSpPr/>
          <p:nvPr/>
        </p:nvSpPr>
        <p:spPr>
          <a:xfrm>
            <a:off x="457200" y="1463040"/>
            <a:ext cx="1463040" cy="566928"/>
          </a:xfrm>
          <a:prstGeom prst="roundRect">
            <a:avLst>
              <a:gd name="adj" fmla="val 19355"/>
            </a:avLst>
          </a:prstGeom>
          <a:solidFill>
            <a:schemeClr val="tx1"/>
          </a:solidFill>
          <a:ln/>
          <a:effectLst>
            <a:outerShdw sx="100000" sy="100000" kx="0" ky="0" algn="bl" rotWithShape="0" blurRad="101600" dist="25400" dir="5400000">
              <a:srgbClr val="0B1F2A">
                <a:alpha val="14000"/>
              </a:srgbClr>
            </a:outerShdw>
          </a:effectLst>
        </p:spPr>
      </p:sp>
      <p:sp>
        <p:nvSpPr>
          <p:cNvPr id="6" name="Text 4"/>
          <p:cNvSpPr txBox="1"/>
          <p:nvPr/>
        </p:nvSpPr>
        <p:spPr>
          <a:xfrm>
            <a:off x="457200" y="1463040"/>
            <a:ext cx="1463040" cy="566928"/>
          </a:xfrm>
          <a:prstGeom prst="rect">
            <a:avLst/>
          </a:prstGeom>
          <a:noFill/>
          <a:ln/>
        </p:spPr>
        <p:txBody>
          <a:bodyPr wrap="square" lIns="0" tIns="0" rIns="0" bIns="0" rtlCol="0" anchor="ctr"/>
          <a:lstStyle/>
          <a:p>
            <a:pPr algn="ctr" indent="0" marL="0">
              <a:buNone/>
            </a:pPr>
            <a:r>
              <a:rPr lang="en-US" sz="1400" b="1" dirty="0">
                <a:solidFill>
                  <a:schemeClr val="bg1"/>
                </a:solidFill>
              </a:rPr>
              <a:t>SUBMITTED</a:t>
            </a:r>
            <a:endParaRPr lang="en-US" sz="1400" dirty="0"/>
          </a:p>
        </p:txBody>
      </p:sp>
      <p:sp>
        <p:nvSpPr>
          <p:cNvPr id="7" name="Text 5"/>
          <p:cNvSpPr txBox="1"/>
          <p:nvPr/>
        </p:nvSpPr>
        <p:spPr>
          <a:xfrm>
            <a:off x="457200" y="2084832"/>
            <a:ext cx="1463040" cy="228600"/>
          </a:xfrm>
          <a:prstGeom prst="rect">
            <a:avLst/>
          </a:prstGeom>
          <a:noFill/>
          <a:ln/>
        </p:spPr>
        <p:txBody>
          <a:bodyPr wrap="square" lIns="0" tIns="0" rIns="0" bIns="0" rtlCol="0" anchor="t"/>
          <a:lstStyle/>
          <a:p>
            <a:pPr algn="ctr" indent="0" marL="0">
              <a:buNone/>
            </a:pPr>
            <a:r>
              <a:rPr lang="en-US" sz="1200" dirty="0">
                <a:solidFill>
                  <a:schemeClr val="accent5"/>
                </a:solidFill>
              </a:rPr>
              <a:t>Student lodges</a:t>
            </a:r>
            <a:endParaRPr lang="en-US" sz="1200" dirty="0"/>
          </a:p>
        </p:txBody>
      </p:sp>
      <p:sp>
        <p:nvSpPr>
          <p:cNvPr id="8" name="Arrow"/>
          <p:cNvSpPr/>
          <p:nvPr/>
        </p:nvSpPr>
        <p:spPr>
          <a:xfrm>
            <a:off x="1938528" y="1746504"/>
            <a:ext cx="192024" cy="0"/>
          </a:xfrm>
          <a:prstGeom prst="line">
            <a:avLst/>
          </a:prstGeom>
          <a:noFill/>
          <a:ln w="25400">
            <a:solidFill>
              <a:srgbClr val="1B6B73"/>
            </a:solidFill>
            <a:prstDash val="solid"/>
            <a:tailEnd type="triangle"/>
          </a:ln>
        </p:spPr>
      </p:sp>
      <p:sp>
        <p:nvSpPr>
          <p:cNvPr id="9" name="Status"/>
          <p:cNvSpPr/>
          <p:nvPr/>
        </p:nvSpPr>
        <p:spPr>
          <a:xfrm>
            <a:off x="2148840" y="1463040"/>
            <a:ext cx="1463040" cy="566928"/>
          </a:xfrm>
          <a:prstGeom prst="roundRect">
            <a:avLst>
              <a:gd name="adj" fmla="val 19355"/>
            </a:avLst>
          </a:prstGeom>
          <a:solidFill>
            <a:schemeClr val="tx1"/>
          </a:solidFill>
          <a:ln/>
          <a:effectLst>
            <a:outerShdw sx="100000" sy="100000" kx="0" ky="0" algn="bl" rotWithShape="0" blurRad="101600" dist="25400" dir="5400000">
              <a:srgbClr val="0B1F2A">
                <a:alpha val="14000"/>
              </a:srgbClr>
            </a:outerShdw>
          </a:effectLst>
        </p:spPr>
      </p:sp>
      <p:sp>
        <p:nvSpPr>
          <p:cNvPr id="10" name="Text 8"/>
          <p:cNvSpPr txBox="1"/>
          <p:nvPr/>
        </p:nvSpPr>
        <p:spPr>
          <a:xfrm>
            <a:off x="2148840" y="1463040"/>
            <a:ext cx="1463040" cy="566928"/>
          </a:xfrm>
          <a:prstGeom prst="rect">
            <a:avLst/>
          </a:prstGeom>
          <a:noFill/>
          <a:ln/>
        </p:spPr>
        <p:txBody>
          <a:bodyPr wrap="square" lIns="0" tIns="0" rIns="0" bIns="0" rtlCol="0" anchor="ctr"/>
          <a:lstStyle/>
          <a:p>
            <a:pPr algn="ctr" indent="0" marL="0">
              <a:buNone/>
            </a:pPr>
            <a:r>
              <a:rPr lang="en-US" sz="1400" b="1" dirty="0">
                <a:solidFill>
                  <a:schemeClr val="bg1"/>
                </a:solidFill>
              </a:rPr>
              <a:t>IN PROGRESS</a:t>
            </a:r>
            <a:endParaRPr lang="en-US" sz="1400" dirty="0"/>
          </a:p>
        </p:txBody>
      </p:sp>
      <p:sp>
        <p:nvSpPr>
          <p:cNvPr id="11" name="Text 9"/>
          <p:cNvSpPr txBox="1"/>
          <p:nvPr/>
        </p:nvSpPr>
        <p:spPr>
          <a:xfrm>
            <a:off x="2148840" y="2084832"/>
            <a:ext cx="1463040" cy="228600"/>
          </a:xfrm>
          <a:prstGeom prst="rect">
            <a:avLst/>
          </a:prstGeom>
          <a:noFill/>
          <a:ln/>
        </p:spPr>
        <p:txBody>
          <a:bodyPr wrap="square" lIns="0" tIns="0" rIns="0" bIns="0" rtlCol="0" anchor="t"/>
          <a:lstStyle/>
          <a:p>
            <a:pPr algn="ctr" indent="0" marL="0">
              <a:buNone/>
            </a:pPr>
            <a:r>
              <a:rPr lang="en-US" sz="1200" dirty="0">
                <a:solidFill>
                  <a:schemeClr val="accent5"/>
                </a:solidFill>
              </a:rPr>
              <a:t>Staff accepts</a:t>
            </a:r>
            <a:endParaRPr lang="en-US" sz="1200" dirty="0"/>
          </a:p>
        </p:txBody>
      </p:sp>
      <p:sp>
        <p:nvSpPr>
          <p:cNvPr id="12" name="Arrow"/>
          <p:cNvSpPr/>
          <p:nvPr/>
        </p:nvSpPr>
        <p:spPr>
          <a:xfrm>
            <a:off x="3630168" y="1746504"/>
            <a:ext cx="192024" cy="0"/>
          </a:xfrm>
          <a:prstGeom prst="line">
            <a:avLst/>
          </a:prstGeom>
          <a:noFill/>
          <a:ln w="25400">
            <a:solidFill>
              <a:srgbClr val="1B6B73"/>
            </a:solidFill>
            <a:prstDash val="solid"/>
            <a:tailEnd type="triangle"/>
          </a:ln>
        </p:spPr>
      </p:sp>
      <p:sp>
        <p:nvSpPr>
          <p:cNvPr id="13" name="Status"/>
          <p:cNvSpPr/>
          <p:nvPr/>
        </p:nvSpPr>
        <p:spPr>
          <a:xfrm>
            <a:off x="3840480" y="1463040"/>
            <a:ext cx="1463040" cy="566928"/>
          </a:xfrm>
          <a:prstGeom prst="roundRect">
            <a:avLst>
              <a:gd name="adj" fmla="val 19355"/>
            </a:avLst>
          </a:prstGeom>
          <a:solidFill>
            <a:schemeClr val="tx1"/>
          </a:solidFill>
          <a:ln/>
          <a:effectLst>
            <a:outerShdw sx="100000" sy="100000" kx="0" ky="0" algn="bl" rotWithShape="0" blurRad="101600" dist="25400" dir="5400000">
              <a:srgbClr val="0B1F2A">
                <a:alpha val="14000"/>
              </a:srgbClr>
            </a:outerShdw>
          </a:effectLst>
        </p:spPr>
      </p:sp>
      <p:sp>
        <p:nvSpPr>
          <p:cNvPr id="14" name="Text 12"/>
          <p:cNvSpPr txBox="1"/>
          <p:nvPr/>
        </p:nvSpPr>
        <p:spPr>
          <a:xfrm>
            <a:off x="3840480" y="1463040"/>
            <a:ext cx="1463040" cy="566928"/>
          </a:xfrm>
          <a:prstGeom prst="rect">
            <a:avLst/>
          </a:prstGeom>
          <a:noFill/>
          <a:ln/>
        </p:spPr>
        <p:txBody>
          <a:bodyPr wrap="square" lIns="0" tIns="0" rIns="0" bIns="0" rtlCol="0" anchor="ctr"/>
          <a:lstStyle/>
          <a:p>
            <a:pPr algn="ctr" indent="0" marL="0">
              <a:buNone/>
            </a:pPr>
            <a:r>
              <a:rPr lang="en-US" sz="1400" b="1" dirty="0">
                <a:solidFill>
                  <a:schemeClr val="bg1"/>
                </a:solidFill>
              </a:rPr>
              <a:t>RESOLVED</a:t>
            </a:r>
            <a:endParaRPr lang="en-US" sz="1400" dirty="0"/>
          </a:p>
        </p:txBody>
      </p:sp>
      <p:sp>
        <p:nvSpPr>
          <p:cNvPr id="15" name="Text 13"/>
          <p:cNvSpPr txBox="1"/>
          <p:nvPr/>
        </p:nvSpPr>
        <p:spPr>
          <a:xfrm>
            <a:off x="3840480" y="2084832"/>
            <a:ext cx="1463040" cy="228600"/>
          </a:xfrm>
          <a:prstGeom prst="rect">
            <a:avLst/>
          </a:prstGeom>
          <a:noFill/>
          <a:ln/>
        </p:spPr>
        <p:txBody>
          <a:bodyPr wrap="square" lIns="0" tIns="0" rIns="0" bIns="0" rtlCol="0" anchor="t"/>
          <a:lstStyle/>
          <a:p>
            <a:pPr algn="ctr" indent="0" marL="0">
              <a:buNone/>
            </a:pPr>
            <a:r>
              <a:rPr lang="en-US" sz="1200" dirty="0">
                <a:solidFill>
                  <a:schemeClr val="accent5"/>
                </a:solidFill>
              </a:rPr>
              <a:t>Staff adds remarks</a:t>
            </a:r>
            <a:endParaRPr lang="en-US" sz="1200" dirty="0"/>
          </a:p>
        </p:txBody>
      </p:sp>
      <p:sp>
        <p:nvSpPr>
          <p:cNvPr id="16" name="Arrow"/>
          <p:cNvSpPr/>
          <p:nvPr/>
        </p:nvSpPr>
        <p:spPr>
          <a:xfrm>
            <a:off x="5321808" y="1746504"/>
            <a:ext cx="192024" cy="0"/>
          </a:xfrm>
          <a:prstGeom prst="line">
            <a:avLst/>
          </a:prstGeom>
          <a:noFill/>
          <a:ln w="25400">
            <a:solidFill>
              <a:srgbClr val="1B6B73"/>
            </a:solidFill>
            <a:prstDash val="solid"/>
            <a:tailEnd type="triangle"/>
          </a:ln>
        </p:spPr>
      </p:sp>
      <p:sp>
        <p:nvSpPr>
          <p:cNvPr id="17" name="Status"/>
          <p:cNvSpPr/>
          <p:nvPr/>
        </p:nvSpPr>
        <p:spPr>
          <a:xfrm>
            <a:off x="5532120" y="1463040"/>
            <a:ext cx="1463040" cy="566928"/>
          </a:xfrm>
          <a:prstGeom prst="roundRect">
            <a:avLst>
              <a:gd name="adj" fmla="val 19355"/>
            </a:avLst>
          </a:prstGeom>
          <a:solidFill>
            <a:schemeClr val="tx1"/>
          </a:solidFill>
          <a:ln/>
          <a:effectLst>
            <a:outerShdw sx="100000" sy="100000" kx="0" ky="0" algn="bl" rotWithShape="0" blurRad="101600" dist="25400" dir="5400000">
              <a:srgbClr val="0B1F2A">
                <a:alpha val="14000"/>
              </a:srgbClr>
            </a:outerShdw>
          </a:effectLst>
        </p:spPr>
      </p:sp>
      <p:sp>
        <p:nvSpPr>
          <p:cNvPr id="18" name="Text 16"/>
          <p:cNvSpPr txBox="1"/>
          <p:nvPr/>
        </p:nvSpPr>
        <p:spPr>
          <a:xfrm>
            <a:off x="5532120" y="1463040"/>
            <a:ext cx="1463040" cy="566928"/>
          </a:xfrm>
          <a:prstGeom prst="rect">
            <a:avLst/>
          </a:prstGeom>
          <a:noFill/>
          <a:ln/>
        </p:spPr>
        <p:txBody>
          <a:bodyPr wrap="square" lIns="0" tIns="0" rIns="0" bIns="0" rtlCol="0" anchor="ctr"/>
          <a:lstStyle/>
          <a:p>
            <a:pPr algn="ctr" indent="0" marL="0">
              <a:buNone/>
            </a:pPr>
            <a:r>
              <a:rPr lang="en-US" sz="1400" b="1" dirty="0">
                <a:solidFill>
                  <a:schemeClr val="bg1"/>
                </a:solidFill>
              </a:rPr>
              <a:t>VERIFIED</a:t>
            </a:r>
            <a:endParaRPr lang="en-US" sz="1400" dirty="0"/>
          </a:p>
        </p:txBody>
      </p:sp>
      <p:sp>
        <p:nvSpPr>
          <p:cNvPr id="19" name="Text 17"/>
          <p:cNvSpPr txBox="1"/>
          <p:nvPr/>
        </p:nvSpPr>
        <p:spPr>
          <a:xfrm>
            <a:off x="5532120" y="2084832"/>
            <a:ext cx="1463040" cy="228600"/>
          </a:xfrm>
          <a:prstGeom prst="rect">
            <a:avLst/>
          </a:prstGeom>
          <a:noFill/>
          <a:ln/>
        </p:spPr>
        <p:txBody>
          <a:bodyPr wrap="square" lIns="0" tIns="0" rIns="0" bIns="0" rtlCol="0" anchor="t"/>
          <a:lstStyle/>
          <a:p>
            <a:pPr algn="ctr" indent="0" marL="0">
              <a:buNone/>
            </a:pPr>
            <a:r>
              <a:rPr lang="en-US" sz="1200" dirty="0">
                <a:solidFill>
                  <a:schemeClr val="accent5"/>
                </a:solidFill>
              </a:rPr>
              <a:t>Warden inspects</a:t>
            </a:r>
            <a:endParaRPr lang="en-US" sz="1200" dirty="0"/>
          </a:p>
        </p:txBody>
      </p:sp>
      <p:sp>
        <p:nvSpPr>
          <p:cNvPr id="20" name="Arrow"/>
          <p:cNvSpPr/>
          <p:nvPr/>
        </p:nvSpPr>
        <p:spPr>
          <a:xfrm>
            <a:off x="7013448" y="1746504"/>
            <a:ext cx="192024" cy="0"/>
          </a:xfrm>
          <a:prstGeom prst="line">
            <a:avLst/>
          </a:prstGeom>
          <a:noFill/>
          <a:ln w="25400">
            <a:solidFill>
              <a:srgbClr val="1B6B73"/>
            </a:solidFill>
            <a:prstDash val="solid"/>
            <a:tailEnd type="triangle"/>
          </a:ln>
        </p:spPr>
      </p:sp>
      <p:sp>
        <p:nvSpPr>
          <p:cNvPr id="21" name="Status"/>
          <p:cNvSpPr/>
          <p:nvPr/>
        </p:nvSpPr>
        <p:spPr>
          <a:xfrm>
            <a:off x="7223760" y="1463040"/>
            <a:ext cx="1463040" cy="566928"/>
          </a:xfrm>
          <a:prstGeom prst="roundRect">
            <a:avLst>
              <a:gd name="adj" fmla="val 19355"/>
            </a:avLst>
          </a:prstGeom>
          <a:solidFill>
            <a:schemeClr val="accent1"/>
          </a:solidFill>
          <a:ln/>
          <a:effectLst>
            <a:outerShdw sx="100000" sy="100000" kx="0" ky="0" algn="bl" rotWithShape="0" blurRad="101600" dist="25400" dir="5400000">
              <a:srgbClr val="0B1F2A">
                <a:alpha val="14000"/>
              </a:srgbClr>
            </a:outerShdw>
          </a:effectLst>
        </p:spPr>
      </p:sp>
      <p:sp>
        <p:nvSpPr>
          <p:cNvPr id="22" name="Text 20"/>
          <p:cNvSpPr txBox="1"/>
          <p:nvPr/>
        </p:nvSpPr>
        <p:spPr>
          <a:xfrm>
            <a:off x="7223760" y="1463040"/>
            <a:ext cx="1463040" cy="566928"/>
          </a:xfrm>
          <a:prstGeom prst="rect">
            <a:avLst/>
          </a:prstGeom>
          <a:noFill/>
          <a:ln/>
        </p:spPr>
        <p:txBody>
          <a:bodyPr wrap="square" lIns="0" tIns="0" rIns="0" bIns="0" rtlCol="0" anchor="ctr"/>
          <a:lstStyle/>
          <a:p>
            <a:pPr algn="ctr" indent="0" marL="0">
              <a:buNone/>
            </a:pPr>
            <a:r>
              <a:rPr lang="en-US" sz="1400" b="1" dirty="0">
                <a:solidFill>
                  <a:schemeClr val="tx1"/>
                </a:solidFill>
              </a:rPr>
              <a:t>CLOSED</a:t>
            </a:r>
            <a:endParaRPr lang="en-US" sz="1400" dirty="0"/>
          </a:p>
        </p:txBody>
      </p:sp>
      <p:sp>
        <p:nvSpPr>
          <p:cNvPr id="23" name="Text 21"/>
          <p:cNvSpPr txBox="1"/>
          <p:nvPr/>
        </p:nvSpPr>
        <p:spPr>
          <a:xfrm>
            <a:off x="7223760" y="2084832"/>
            <a:ext cx="1463040" cy="228600"/>
          </a:xfrm>
          <a:prstGeom prst="rect">
            <a:avLst/>
          </a:prstGeom>
          <a:noFill/>
          <a:ln/>
        </p:spPr>
        <p:txBody>
          <a:bodyPr wrap="square" lIns="0" tIns="0" rIns="0" bIns="0" rtlCol="0" anchor="t"/>
          <a:lstStyle/>
          <a:p>
            <a:pPr algn="ctr" indent="0" marL="0">
              <a:buNone/>
            </a:pPr>
            <a:r>
              <a:rPr lang="en-US" sz="1200" dirty="0">
                <a:solidFill>
                  <a:schemeClr val="accent5"/>
                </a:solidFill>
              </a:rPr>
              <a:t>Student feedback</a:t>
            </a:r>
            <a:endParaRPr lang="en-US" sz="1200" dirty="0"/>
          </a:p>
        </p:txBody>
      </p:sp>
      <p:sp>
        <p:nvSpPr>
          <p:cNvPr id="24" name="Return loop"/>
          <p:cNvSpPr/>
          <p:nvPr/>
        </p:nvSpPr>
        <p:spPr>
          <a:xfrm>
            <a:off x="1737360" y="2651760"/>
            <a:ext cx="5120640" cy="420624"/>
          </a:xfrm>
          <a:prstGeom prst="roundRect">
            <a:avLst>
              <a:gd name="adj" fmla="val 26087"/>
            </a:avLst>
          </a:prstGeom>
          <a:solidFill>
            <a:schemeClr val="bg1"/>
          </a:solidFill>
          <a:ln w="19050">
            <a:solidFill>
              <a:schemeClr val="accent3"/>
            </a:solidFill>
            <a:prstDash val="solid"/>
          </a:ln>
        </p:spPr>
      </p:sp>
      <p:sp>
        <p:nvSpPr>
          <p:cNvPr id="25" name="Text 23"/>
          <p:cNvSpPr txBox="1"/>
          <p:nvPr/>
        </p:nvSpPr>
        <p:spPr>
          <a:xfrm>
            <a:off x="1737360" y="2651760"/>
            <a:ext cx="5120640" cy="420624"/>
          </a:xfrm>
          <a:prstGeom prst="rect">
            <a:avLst/>
          </a:prstGeom>
          <a:noFill/>
          <a:ln/>
        </p:spPr>
        <p:txBody>
          <a:bodyPr wrap="square" lIns="0" tIns="0" rIns="0" bIns="0" rtlCol="0" anchor="ctr"/>
          <a:lstStyle/>
          <a:p>
            <a:pPr algn="ctr" indent="0" marL="0">
              <a:buNone/>
            </a:pPr>
            <a:r>
              <a:rPr lang="en-US" sz="1400" b="1" dirty="0">
                <a:solidFill>
                  <a:schemeClr val="tx1"/>
                </a:solidFill>
              </a:rPr>
              <a:t>Not satisfied? Warden RETURNS it, back to IN PROGRESS</a:t>
            </a:r>
            <a:endParaRPr lang="en-US" sz="1400" dirty="0"/>
          </a:p>
        </p:txBody>
      </p:sp>
      <p:sp>
        <p:nvSpPr>
          <p:cNvPr id="26" name="Arrow"/>
          <p:cNvSpPr/>
          <p:nvPr/>
        </p:nvSpPr>
        <p:spPr>
          <a:xfrm>
            <a:off x="6263640" y="2313432"/>
            <a:ext cx="0" cy="338328"/>
          </a:xfrm>
          <a:prstGeom prst="line">
            <a:avLst/>
          </a:prstGeom>
          <a:noFill/>
          <a:ln w="25400">
            <a:solidFill>
              <a:srgbClr val="FF6B5B"/>
            </a:solidFill>
            <a:prstDash val="solid"/>
            <a:tailEnd type="triangle"/>
          </a:ln>
        </p:spPr>
      </p:sp>
      <p:sp>
        <p:nvSpPr>
          <p:cNvPr id="27" name="Arrow"/>
          <p:cNvSpPr/>
          <p:nvPr/>
        </p:nvSpPr>
        <p:spPr>
          <a:xfrm flipV="1">
            <a:off x="2926080" y="2313432"/>
            <a:ext cx="0" cy="338328"/>
          </a:xfrm>
          <a:prstGeom prst="line">
            <a:avLst/>
          </a:prstGeom>
          <a:noFill/>
          <a:ln w="25400">
            <a:solidFill>
              <a:srgbClr val="FF6B5B"/>
            </a:solidFill>
            <a:prstDash val="solid"/>
            <a:tailEnd type="triangle"/>
          </a:ln>
        </p:spPr>
      </p:sp>
      <p:sp>
        <p:nvSpPr>
          <p:cNvPr id="28" name="Text 26"/>
          <p:cNvSpPr txBox="1"/>
          <p:nvPr/>
        </p:nvSpPr>
        <p:spPr>
          <a:xfrm>
            <a:off x="457200" y="3291840"/>
            <a:ext cx="8229600" cy="256032"/>
          </a:xfrm>
          <a:prstGeom prst="rect">
            <a:avLst/>
          </a:prstGeom>
          <a:noFill/>
          <a:ln/>
        </p:spPr>
        <p:txBody>
          <a:bodyPr wrap="square" lIns="0" tIns="0" rIns="0" bIns="0" rtlCol="0" anchor="t"/>
          <a:lstStyle/>
          <a:p>
            <a:pPr indent="0" marL="0">
              <a:buNone/>
            </a:pPr>
            <a:r>
              <a:rPr lang="en-US" sz="1400" b="1" dirty="0">
                <a:solidFill>
                  <a:schemeClr val="tx1"/>
                </a:solidFill>
              </a:rPr>
              <a:t>SLA deadline is set automatically from the complaint priority</a:t>
            </a:r>
            <a:endParaRPr lang="en-US" sz="1400" dirty="0"/>
          </a:p>
        </p:txBody>
      </p:sp>
      <p:sp>
        <p:nvSpPr>
          <p:cNvPr id="29" name="SLA tile"/>
          <p:cNvSpPr/>
          <p:nvPr/>
        </p:nvSpPr>
        <p:spPr>
          <a:xfrm>
            <a:off x="457200" y="3657600"/>
            <a:ext cx="1920240" cy="914400"/>
          </a:xfrm>
          <a:prstGeom prst="roundRect">
            <a:avLst>
              <a:gd name="adj" fmla="val 12000"/>
            </a:avLst>
          </a:prstGeom>
          <a:solidFill>
            <a:schemeClr val="tx1"/>
          </a:solidFill>
          <a:ln/>
        </p:spPr>
      </p:sp>
      <p:sp>
        <p:nvSpPr>
          <p:cNvPr id="30" name="Text 28"/>
          <p:cNvSpPr txBox="1"/>
          <p:nvPr/>
        </p:nvSpPr>
        <p:spPr>
          <a:xfrm>
            <a:off x="640080" y="3703320"/>
            <a:ext cx="914400" cy="82296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4</a:t>
            </a:r>
            <a:endParaRPr lang="en-US" sz="4000" dirty="0"/>
          </a:p>
        </p:txBody>
      </p:sp>
      <p:sp>
        <p:nvSpPr>
          <p:cNvPr id="31" name="Text 29"/>
          <p:cNvSpPr txBox="1"/>
          <p:nvPr/>
        </p:nvSpPr>
        <p:spPr>
          <a:xfrm>
            <a:off x="1371600" y="3703320"/>
            <a:ext cx="914400" cy="822960"/>
          </a:xfrm>
          <a:prstGeom prst="rect">
            <a:avLst/>
          </a:prstGeom>
          <a:noFill/>
          <a:ln/>
        </p:spPr>
        <p:txBody>
          <a:bodyPr wrap="square" lIns="0" tIns="0" rIns="0" bIns="0" rtlCol="0" anchor="ctr"/>
          <a:lstStyle/>
          <a:p>
            <a:pPr indent="0" marL="0">
              <a:buNone/>
            </a:pPr>
            <a:r>
              <a:rPr lang="en-US" sz="1200" dirty="0">
                <a:solidFill>
                  <a:schemeClr val="accent6"/>
                </a:solidFill>
              </a:rPr>
              <a:t>hours to resolve</a:t>
            </a:r>
            <a:endParaRPr lang="en-US" sz="1200" dirty="0"/>
          </a:p>
        </p:txBody>
      </p:sp>
      <p:sp>
        <p:nvSpPr>
          <p:cNvPr id="32" name="SLA tile"/>
          <p:cNvSpPr/>
          <p:nvPr/>
        </p:nvSpPr>
        <p:spPr>
          <a:xfrm>
            <a:off x="2560320" y="3657600"/>
            <a:ext cx="1920240" cy="914400"/>
          </a:xfrm>
          <a:prstGeom prst="roundRect">
            <a:avLst>
              <a:gd name="adj" fmla="val 12000"/>
            </a:avLst>
          </a:prstGeom>
          <a:solidFill>
            <a:schemeClr val="tx1"/>
          </a:solidFill>
          <a:ln/>
        </p:spPr>
      </p:sp>
      <p:sp>
        <p:nvSpPr>
          <p:cNvPr id="33" name="Text 31"/>
          <p:cNvSpPr txBox="1"/>
          <p:nvPr/>
        </p:nvSpPr>
        <p:spPr>
          <a:xfrm>
            <a:off x="2743200" y="3703320"/>
            <a:ext cx="914400" cy="82296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8</a:t>
            </a:r>
            <a:endParaRPr lang="en-US" sz="4000" dirty="0"/>
          </a:p>
        </p:txBody>
      </p:sp>
      <p:sp>
        <p:nvSpPr>
          <p:cNvPr id="34" name="Text 32"/>
          <p:cNvSpPr txBox="1"/>
          <p:nvPr/>
        </p:nvSpPr>
        <p:spPr>
          <a:xfrm>
            <a:off x="3474720" y="3703320"/>
            <a:ext cx="914400" cy="822960"/>
          </a:xfrm>
          <a:prstGeom prst="rect">
            <a:avLst/>
          </a:prstGeom>
          <a:noFill/>
          <a:ln/>
        </p:spPr>
        <p:txBody>
          <a:bodyPr wrap="square" lIns="0" tIns="0" rIns="0" bIns="0" rtlCol="0" anchor="ctr"/>
          <a:lstStyle/>
          <a:p>
            <a:pPr indent="0" marL="0">
              <a:buNone/>
            </a:pPr>
            <a:r>
              <a:rPr lang="en-US" sz="1200" dirty="0">
                <a:solidFill>
                  <a:schemeClr val="accent6"/>
                </a:solidFill>
              </a:rPr>
              <a:t>hours to resolve</a:t>
            </a:r>
            <a:endParaRPr lang="en-US" sz="1200" dirty="0"/>
          </a:p>
        </p:txBody>
      </p:sp>
      <p:sp>
        <p:nvSpPr>
          <p:cNvPr id="35" name="SLA tile"/>
          <p:cNvSpPr/>
          <p:nvPr/>
        </p:nvSpPr>
        <p:spPr>
          <a:xfrm>
            <a:off x="4663440" y="3657600"/>
            <a:ext cx="1920240" cy="914400"/>
          </a:xfrm>
          <a:prstGeom prst="roundRect">
            <a:avLst>
              <a:gd name="adj" fmla="val 12000"/>
            </a:avLst>
          </a:prstGeom>
          <a:solidFill>
            <a:schemeClr val="tx1"/>
          </a:solidFill>
          <a:ln/>
        </p:spPr>
      </p:sp>
      <p:sp>
        <p:nvSpPr>
          <p:cNvPr id="36" name="Text 34"/>
          <p:cNvSpPr txBox="1"/>
          <p:nvPr/>
        </p:nvSpPr>
        <p:spPr>
          <a:xfrm>
            <a:off x="4846320" y="3703320"/>
            <a:ext cx="914400" cy="82296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24</a:t>
            </a:r>
            <a:endParaRPr lang="en-US" sz="4000" dirty="0"/>
          </a:p>
        </p:txBody>
      </p:sp>
      <p:sp>
        <p:nvSpPr>
          <p:cNvPr id="37" name="Text 35"/>
          <p:cNvSpPr txBox="1"/>
          <p:nvPr/>
        </p:nvSpPr>
        <p:spPr>
          <a:xfrm>
            <a:off x="5577840" y="3703320"/>
            <a:ext cx="914400" cy="822960"/>
          </a:xfrm>
          <a:prstGeom prst="rect">
            <a:avLst/>
          </a:prstGeom>
          <a:noFill/>
          <a:ln/>
        </p:spPr>
        <p:txBody>
          <a:bodyPr wrap="square" lIns="0" tIns="0" rIns="0" bIns="0" rtlCol="0" anchor="ctr"/>
          <a:lstStyle/>
          <a:p>
            <a:pPr indent="0" marL="0">
              <a:buNone/>
            </a:pPr>
            <a:r>
              <a:rPr lang="en-US" sz="1200" dirty="0">
                <a:solidFill>
                  <a:schemeClr val="accent6"/>
                </a:solidFill>
              </a:rPr>
              <a:t>hours to resolve</a:t>
            </a:r>
            <a:endParaRPr lang="en-US" sz="1200" dirty="0"/>
          </a:p>
        </p:txBody>
      </p:sp>
      <p:sp>
        <p:nvSpPr>
          <p:cNvPr id="38" name="SLA tile"/>
          <p:cNvSpPr/>
          <p:nvPr/>
        </p:nvSpPr>
        <p:spPr>
          <a:xfrm>
            <a:off x="6766560" y="3657600"/>
            <a:ext cx="1920240" cy="914400"/>
          </a:xfrm>
          <a:prstGeom prst="roundRect">
            <a:avLst>
              <a:gd name="adj" fmla="val 12000"/>
            </a:avLst>
          </a:prstGeom>
          <a:solidFill>
            <a:schemeClr val="tx1"/>
          </a:solidFill>
          <a:ln/>
        </p:spPr>
      </p:sp>
      <p:sp>
        <p:nvSpPr>
          <p:cNvPr id="39" name="Text 37"/>
          <p:cNvSpPr txBox="1"/>
          <p:nvPr/>
        </p:nvSpPr>
        <p:spPr>
          <a:xfrm>
            <a:off x="6949440" y="3703320"/>
            <a:ext cx="914400" cy="82296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48</a:t>
            </a:r>
            <a:endParaRPr lang="en-US" sz="4000" dirty="0"/>
          </a:p>
        </p:txBody>
      </p:sp>
      <p:sp>
        <p:nvSpPr>
          <p:cNvPr id="40" name="Text 38"/>
          <p:cNvSpPr txBox="1"/>
          <p:nvPr/>
        </p:nvSpPr>
        <p:spPr>
          <a:xfrm>
            <a:off x="7680960" y="3703320"/>
            <a:ext cx="914400" cy="822960"/>
          </a:xfrm>
          <a:prstGeom prst="rect">
            <a:avLst/>
          </a:prstGeom>
          <a:noFill/>
          <a:ln/>
        </p:spPr>
        <p:txBody>
          <a:bodyPr wrap="square" lIns="0" tIns="0" rIns="0" bIns="0" rtlCol="0" anchor="ctr"/>
          <a:lstStyle/>
          <a:p>
            <a:pPr indent="0" marL="0">
              <a:buNone/>
            </a:pPr>
            <a:r>
              <a:rPr lang="en-US" sz="1200" dirty="0">
                <a:solidFill>
                  <a:schemeClr val="accent6"/>
                </a:solidFill>
              </a:rPr>
              <a:t>hours to resolve</a:t>
            </a:r>
            <a:endParaRPr lang="en-US" sz="1200" dirty="0"/>
          </a:p>
        </p:txBody>
      </p:sp>
      <p:sp>
        <p:nvSpPr>
          <p:cNvPr id="25" name="Slide Number Placeholder 0"/>
          <p:cNvSpPr>
            <a:spLocks noGrp="1"/>
          </p:cNvSpPr>
          <p:nvPr>
            <p:ph type="sldNum" sz="quarter" idx="4294967295"/>
          </p:nvPr>
        </p:nvSpPr>
        <p:spPr>
          <a:xfrm>
            <a:off x="457200" y="4846320"/>
            <a:ext cx="54864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ection tag"/>
          <p:cNvSpPr/>
          <p:nvPr/>
        </p:nvSpPr>
        <p:spPr>
          <a:xfrm>
            <a:off x="457200" y="292608"/>
            <a:ext cx="1686154" cy="274320"/>
          </a:xfrm>
          <a:prstGeom prst="roundRect">
            <a:avLst>
              <a:gd name="adj" fmla="val 50000"/>
            </a:avLst>
          </a:prstGeom>
          <a:solidFill>
            <a:schemeClr val="accent1"/>
          </a:solidFill>
          <a:ln/>
        </p:spPr>
      </p:sp>
      <p:sp>
        <p:nvSpPr>
          <p:cNvPr id="3" name="Text 1"/>
          <p:cNvSpPr txBox="1"/>
          <p:nvPr/>
        </p:nvSpPr>
        <p:spPr>
          <a:xfrm>
            <a:off x="457200" y="292608"/>
            <a:ext cx="1686154" cy="274320"/>
          </a:xfrm>
          <a:prstGeom prst="rect">
            <a:avLst/>
          </a:prstGeom>
          <a:noFill/>
          <a:ln/>
        </p:spPr>
        <p:txBody>
          <a:bodyPr wrap="square" lIns="0" tIns="0" rIns="0" bIns="0" rtlCol="0" anchor="ctr"/>
          <a:lstStyle/>
          <a:p>
            <a:pPr algn="ctr" indent="0" marL="0">
              <a:buNone/>
            </a:pPr>
            <a:r>
              <a:rPr lang="en-US" sz="1000" b="1" spc="150" kern="0" dirty="0">
                <a:solidFill>
                  <a:schemeClr val="tx1"/>
                </a:solidFill>
              </a:rPr>
              <a:t>FLOOR 3  ·  TRUST</a:t>
            </a:r>
            <a:endParaRPr lang="en-US" sz="1000" dirty="0"/>
          </a:p>
        </p:txBody>
      </p:sp>
      <p:sp>
        <p:nvSpPr>
          <p:cNvPr id="4" name="Text 2"/>
          <p:cNvSpPr/>
          <p:nvPr>
            <p:ph idx="103" type="title" hasCustomPrompt="1"/>
          </p:nvPr>
        </p:nvSpPr>
        <p:spPr>
          <a:xfrm>
            <a:off x="457200" y="640080"/>
            <a:ext cx="8229600" cy="685800"/>
          </a:xfrm>
          <a:prstGeom prst="rect">
            <a:avLst/>
          </a:prstGeom>
          <a:noFill/>
          <a:ln/>
        </p:spPr>
        <p:txBody>
          <a:bodyPr wrap="square" lIns="0" tIns="0" rIns="0" bIns="0" rtlCol="0" anchor="t"/>
          <a:lstStyle/>
          <a:p>
            <a:pPr algn="l" indent="0" marL="0">
              <a:buNone/>
            </a:pPr>
            <a:r>
              <a:rPr lang="en-US" sz="3600" b="1" dirty="0">
                <a:solidFill>
                  <a:schemeClr val="bg1"/>
                </a:solidFill>
              </a:rPr>
              <a:t>Built to Be Trusted</a:t>
            </a:r>
            <a:endParaRPr lang="en-US" sz="3600" dirty="0"/>
          </a:p>
        </p:txBody>
      </p:sp>
      <p:sp>
        <p:nvSpPr>
          <p:cNvPr id="5" name="Trust tile"/>
          <p:cNvSpPr/>
          <p:nvPr/>
        </p:nvSpPr>
        <p:spPr>
          <a:xfrm>
            <a:off x="457200" y="1417320"/>
            <a:ext cx="4023360" cy="960120"/>
          </a:xfrm>
          <a:prstGeom prst="roundRect">
            <a:avLst>
              <a:gd name="adj" fmla="val 11429"/>
            </a:avLst>
          </a:prstGeom>
          <a:solidFill>
            <a:schemeClr val="tx2"/>
          </a:solidFill>
          <a:ln/>
        </p:spPr>
      </p:sp>
      <p:sp>
        <p:nvSpPr>
          <p:cNvPr id="6" name="Icon disc"/>
          <p:cNvSpPr/>
          <p:nvPr/>
        </p:nvSpPr>
        <p:spPr>
          <a:xfrm>
            <a:off x="640080" y="1645920"/>
            <a:ext cx="502920" cy="502920"/>
          </a:xfrm>
          <a:prstGeom prst="ellipse">
            <a:avLst/>
          </a:prstGeom>
          <a:solidFill>
            <a:schemeClr val="accent2"/>
          </a:solidFill>
          <a:ln/>
        </p:spPr>
      </p:sp>
      <p:pic>
        <p:nvPicPr>
          <p:cNvPr id="7" name="Image 0" descr="Key icon">    </p:cNvPr>
          <p:cNvPicPr>
            <a:picLocks noChangeAspect="1"/>
          </p:cNvPicPr>
          <p:nvPr/>
        </p:nvPicPr>
        <p:blipFill>
          <a:blip r:embed="rId1"/>
          <a:stretch>
            <a:fillRect/>
          </a:stretch>
        </p:blipFill>
        <p:spPr>
          <a:xfrm>
            <a:off x="781812" y="1778508"/>
            <a:ext cx="228600" cy="228600"/>
          </a:xfrm>
          <a:prstGeom prst="rect">
            <a:avLst/>
          </a:prstGeom>
        </p:spPr>
      </p:pic>
      <p:sp>
        <p:nvSpPr>
          <p:cNvPr id="8" name="Text 5"/>
          <p:cNvSpPr txBox="1"/>
          <p:nvPr/>
        </p:nvSpPr>
        <p:spPr>
          <a:xfrm>
            <a:off x="1325880" y="1554480"/>
            <a:ext cx="3017520" cy="274320"/>
          </a:xfrm>
          <a:prstGeom prst="rect">
            <a:avLst/>
          </a:prstGeom>
          <a:noFill/>
          <a:ln/>
        </p:spPr>
        <p:txBody>
          <a:bodyPr wrap="square" lIns="0" tIns="0" rIns="0" bIns="0" rtlCol="0" anchor="t"/>
          <a:lstStyle/>
          <a:p>
            <a:pPr indent="0" marL="0">
              <a:buNone/>
            </a:pPr>
            <a:r>
              <a:rPr lang="en-US" sz="1600" b="1" dirty="0">
                <a:solidFill>
                  <a:schemeClr val="bg1"/>
                </a:solidFill>
              </a:rPr>
              <a:t>BCrypt passwords</a:t>
            </a:r>
            <a:endParaRPr lang="en-US" sz="1600" dirty="0"/>
          </a:p>
        </p:txBody>
      </p:sp>
      <p:sp>
        <p:nvSpPr>
          <p:cNvPr id="9" name="Text 6"/>
          <p:cNvSpPr txBox="1"/>
          <p:nvPr/>
        </p:nvSpPr>
        <p:spPr>
          <a:xfrm>
            <a:off x="1325880" y="1856232"/>
            <a:ext cx="3017520" cy="457200"/>
          </a:xfrm>
          <a:prstGeom prst="rect">
            <a:avLst/>
          </a:prstGeom>
          <a:noFill/>
          <a:ln/>
        </p:spPr>
        <p:txBody>
          <a:bodyPr wrap="square" lIns="0" tIns="0" rIns="0" bIns="0" rtlCol="0" anchor="t"/>
          <a:lstStyle/>
          <a:p>
            <a:pPr indent="0" marL="0">
              <a:buNone/>
            </a:pPr>
            <a:r>
              <a:rPr lang="en-US" sz="1400" dirty="0">
                <a:solidFill>
                  <a:schemeClr val="accent6"/>
                </a:solidFill>
              </a:rPr>
              <a:t>Never stored in plain text; 60-minute sessions</a:t>
            </a:r>
            <a:endParaRPr lang="en-US" sz="1400" dirty="0"/>
          </a:p>
        </p:txBody>
      </p:sp>
      <p:sp>
        <p:nvSpPr>
          <p:cNvPr id="10" name="Trust tile"/>
          <p:cNvSpPr/>
          <p:nvPr/>
        </p:nvSpPr>
        <p:spPr>
          <a:xfrm>
            <a:off x="4663440" y="1417320"/>
            <a:ext cx="4023360" cy="960120"/>
          </a:xfrm>
          <a:prstGeom prst="roundRect">
            <a:avLst>
              <a:gd name="adj" fmla="val 11429"/>
            </a:avLst>
          </a:prstGeom>
          <a:solidFill>
            <a:schemeClr val="tx2"/>
          </a:solidFill>
          <a:ln/>
        </p:spPr>
      </p:sp>
      <p:sp>
        <p:nvSpPr>
          <p:cNvPr id="11" name="Icon disc"/>
          <p:cNvSpPr/>
          <p:nvPr/>
        </p:nvSpPr>
        <p:spPr>
          <a:xfrm>
            <a:off x="4846320" y="1645920"/>
            <a:ext cx="502920" cy="502920"/>
          </a:xfrm>
          <a:prstGeom prst="ellipse">
            <a:avLst/>
          </a:prstGeom>
          <a:solidFill>
            <a:schemeClr val="accent2"/>
          </a:solidFill>
          <a:ln/>
        </p:spPr>
      </p:sp>
      <p:pic>
        <p:nvPicPr>
          <p:cNvPr id="12" name="Image 1" descr="UserShield icon">    </p:cNvPr>
          <p:cNvPicPr>
            <a:picLocks noChangeAspect="1"/>
          </p:cNvPicPr>
          <p:nvPr/>
        </p:nvPicPr>
        <p:blipFill>
          <a:blip r:embed="rId2"/>
          <a:stretch>
            <a:fillRect/>
          </a:stretch>
        </p:blipFill>
        <p:spPr>
          <a:xfrm>
            <a:off x="4988052" y="1778508"/>
            <a:ext cx="228600" cy="228600"/>
          </a:xfrm>
          <a:prstGeom prst="rect">
            <a:avLst/>
          </a:prstGeom>
        </p:spPr>
      </p:pic>
      <p:sp>
        <p:nvSpPr>
          <p:cNvPr id="13" name="Text 9"/>
          <p:cNvSpPr txBox="1"/>
          <p:nvPr/>
        </p:nvSpPr>
        <p:spPr>
          <a:xfrm>
            <a:off x="5532120" y="1554480"/>
            <a:ext cx="3017520" cy="274320"/>
          </a:xfrm>
          <a:prstGeom prst="rect">
            <a:avLst/>
          </a:prstGeom>
          <a:noFill/>
          <a:ln/>
        </p:spPr>
        <p:txBody>
          <a:bodyPr wrap="square" lIns="0" tIns="0" rIns="0" bIns="0" rtlCol="0" anchor="t"/>
          <a:lstStyle/>
          <a:p>
            <a:pPr indent="0" marL="0">
              <a:buNone/>
            </a:pPr>
            <a:r>
              <a:rPr lang="en-US" sz="1600" b="1" dirty="0">
                <a:solidFill>
                  <a:schemeClr val="bg1"/>
                </a:solidFill>
              </a:rPr>
              <a:t>Role rules on every URL</a:t>
            </a:r>
            <a:endParaRPr lang="en-US" sz="1600" dirty="0"/>
          </a:p>
        </p:txBody>
      </p:sp>
      <p:sp>
        <p:nvSpPr>
          <p:cNvPr id="14" name="Text 10"/>
          <p:cNvSpPr txBox="1"/>
          <p:nvPr/>
        </p:nvSpPr>
        <p:spPr>
          <a:xfrm>
            <a:off x="5532120" y="1856232"/>
            <a:ext cx="3017520" cy="457200"/>
          </a:xfrm>
          <a:prstGeom prst="rect">
            <a:avLst/>
          </a:prstGeom>
          <a:noFill/>
          <a:ln/>
        </p:spPr>
        <p:txBody>
          <a:bodyPr wrap="square" lIns="0" tIns="0" rIns="0" bIns="0" rtlCol="0" anchor="t"/>
          <a:lstStyle/>
          <a:p>
            <a:pPr indent="0" marL="0">
              <a:buNone/>
            </a:pPr>
            <a:r>
              <a:rPr lang="en-US" sz="1400" dirty="0">
                <a:solidFill>
                  <a:schemeClr val="accent6"/>
                </a:solidFill>
              </a:rPr>
              <a:t>A student on a warden URL gets Access Denied</a:t>
            </a:r>
            <a:endParaRPr lang="en-US" sz="1400" dirty="0"/>
          </a:p>
        </p:txBody>
      </p:sp>
      <p:sp>
        <p:nvSpPr>
          <p:cNvPr id="15" name="Trust tile"/>
          <p:cNvSpPr/>
          <p:nvPr/>
        </p:nvSpPr>
        <p:spPr>
          <a:xfrm>
            <a:off x="457200" y="2514600"/>
            <a:ext cx="4023360" cy="960120"/>
          </a:xfrm>
          <a:prstGeom prst="roundRect">
            <a:avLst>
              <a:gd name="adj" fmla="val 11429"/>
            </a:avLst>
          </a:prstGeom>
          <a:solidFill>
            <a:schemeClr val="tx2"/>
          </a:solidFill>
          <a:ln/>
        </p:spPr>
      </p:sp>
      <p:sp>
        <p:nvSpPr>
          <p:cNvPr id="16" name="Icon disc"/>
          <p:cNvSpPr/>
          <p:nvPr/>
        </p:nvSpPr>
        <p:spPr>
          <a:xfrm>
            <a:off x="640080" y="2743200"/>
            <a:ext cx="502920" cy="502920"/>
          </a:xfrm>
          <a:prstGeom prst="ellipse">
            <a:avLst/>
          </a:prstGeom>
          <a:solidFill>
            <a:schemeClr val="accent2"/>
          </a:solidFill>
          <a:ln/>
        </p:spPr>
      </p:sp>
      <p:pic>
        <p:nvPicPr>
          <p:cNvPr id="17" name="Image 2" descr="UserLock icon">    </p:cNvPr>
          <p:cNvPicPr>
            <a:picLocks noChangeAspect="1"/>
          </p:cNvPicPr>
          <p:nvPr/>
        </p:nvPicPr>
        <p:blipFill>
          <a:blip r:embed="rId3"/>
          <a:stretch>
            <a:fillRect/>
          </a:stretch>
        </p:blipFill>
        <p:spPr>
          <a:xfrm>
            <a:off x="781812" y="2875788"/>
            <a:ext cx="228600" cy="228600"/>
          </a:xfrm>
          <a:prstGeom prst="rect">
            <a:avLst/>
          </a:prstGeom>
        </p:spPr>
      </p:pic>
      <p:sp>
        <p:nvSpPr>
          <p:cNvPr id="18" name="Text 13"/>
          <p:cNvSpPr txBox="1"/>
          <p:nvPr/>
        </p:nvSpPr>
        <p:spPr>
          <a:xfrm>
            <a:off x="1325880" y="2651760"/>
            <a:ext cx="3017520" cy="274320"/>
          </a:xfrm>
          <a:prstGeom prst="rect">
            <a:avLst/>
          </a:prstGeom>
          <a:noFill/>
          <a:ln/>
        </p:spPr>
        <p:txBody>
          <a:bodyPr wrap="square" lIns="0" tIns="0" rIns="0" bIns="0" rtlCol="0" anchor="t"/>
          <a:lstStyle/>
          <a:p>
            <a:pPr indent="0" marL="0">
              <a:buNone/>
            </a:pPr>
            <a:r>
              <a:rPr lang="en-US" sz="1600" b="1" dirty="0">
                <a:solidFill>
                  <a:schemeClr val="bg1"/>
                </a:solidFill>
              </a:rPr>
              <a:t>Ownership checks</a:t>
            </a:r>
            <a:endParaRPr lang="en-US" sz="1600" dirty="0"/>
          </a:p>
        </p:txBody>
      </p:sp>
      <p:sp>
        <p:nvSpPr>
          <p:cNvPr id="19" name="Text 14"/>
          <p:cNvSpPr txBox="1"/>
          <p:nvPr/>
        </p:nvSpPr>
        <p:spPr>
          <a:xfrm>
            <a:off x="1325880" y="2953512"/>
            <a:ext cx="3017520" cy="457200"/>
          </a:xfrm>
          <a:prstGeom prst="rect">
            <a:avLst/>
          </a:prstGeom>
          <a:noFill/>
          <a:ln/>
        </p:spPr>
        <p:txBody>
          <a:bodyPr wrap="square" lIns="0" tIns="0" rIns="0" bIns="0" rtlCol="0" anchor="t"/>
          <a:lstStyle/>
          <a:p>
            <a:pPr indent="0" marL="0">
              <a:buNone/>
            </a:pPr>
            <a:r>
              <a:rPr lang="en-US" sz="1400" dirty="0">
                <a:solidFill>
                  <a:schemeClr val="accent6"/>
                </a:solidFill>
              </a:rPr>
              <a:t>Students can pay only their own invoices</a:t>
            </a:r>
            <a:endParaRPr lang="en-US" sz="1400" dirty="0"/>
          </a:p>
        </p:txBody>
      </p:sp>
      <p:sp>
        <p:nvSpPr>
          <p:cNvPr id="20" name="Trust tile"/>
          <p:cNvSpPr/>
          <p:nvPr/>
        </p:nvSpPr>
        <p:spPr>
          <a:xfrm>
            <a:off x="4663440" y="2514600"/>
            <a:ext cx="4023360" cy="960120"/>
          </a:xfrm>
          <a:prstGeom prst="roundRect">
            <a:avLst>
              <a:gd name="adj" fmla="val 11429"/>
            </a:avLst>
          </a:prstGeom>
          <a:solidFill>
            <a:schemeClr val="tx2"/>
          </a:solidFill>
          <a:ln/>
        </p:spPr>
      </p:sp>
      <p:sp>
        <p:nvSpPr>
          <p:cNvPr id="21" name="Icon disc"/>
          <p:cNvSpPr/>
          <p:nvPr/>
        </p:nvSpPr>
        <p:spPr>
          <a:xfrm>
            <a:off x="4846320" y="2743200"/>
            <a:ext cx="502920" cy="502920"/>
          </a:xfrm>
          <a:prstGeom prst="ellipse">
            <a:avLst/>
          </a:prstGeom>
          <a:solidFill>
            <a:schemeClr val="accent2"/>
          </a:solidFill>
          <a:ln/>
        </p:spPr>
      </p:sp>
      <p:pic>
        <p:nvPicPr>
          <p:cNvPr id="22" name="Image 3" descr="ExchangeAlt icon">    </p:cNvPr>
          <p:cNvPicPr>
            <a:picLocks noChangeAspect="1"/>
          </p:cNvPicPr>
          <p:nvPr/>
        </p:nvPicPr>
        <p:blipFill>
          <a:blip r:embed="rId4"/>
          <a:stretch>
            <a:fillRect/>
          </a:stretch>
        </p:blipFill>
        <p:spPr>
          <a:xfrm>
            <a:off x="4988052" y="2875788"/>
            <a:ext cx="228600" cy="228600"/>
          </a:xfrm>
          <a:prstGeom prst="rect">
            <a:avLst/>
          </a:prstGeom>
        </p:spPr>
      </p:pic>
      <p:sp>
        <p:nvSpPr>
          <p:cNvPr id="23" name="Text 17"/>
          <p:cNvSpPr txBox="1"/>
          <p:nvPr/>
        </p:nvSpPr>
        <p:spPr>
          <a:xfrm>
            <a:off x="5532120" y="2651760"/>
            <a:ext cx="3017520" cy="274320"/>
          </a:xfrm>
          <a:prstGeom prst="rect">
            <a:avLst/>
          </a:prstGeom>
          <a:noFill/>
          <a:ln/>
        </p:spPr>
        <p:txBody>
          <a:bodyPr wrap="square" lIns="0" tIns="0" rIns="0" bIns="0" rtlCol="0" anchor="t"/>
          <a:lstStyle/>
          <a:p>
            <a:pPr indent="0" marL="0">
              <a:buNone/>
            </a:pPr>
            <a:r>
              <a:rPr lang="en-US" sz="1600" b="1" dirty="0">
                <a:solidFill>
                  <a:schemeClr val="bg1"/>
                </a:solidFill>
              </a:rPr>
              <a:t>Transactions</a:t>
            </a:r>
            <a:endParaRPr lang="en-US" sz="1600" dirty="0"/>
          </a:p>
        </p:txBody>
      </p:sp>
      <p:sp>
        <p:nvSpPr>
          <p:cNvPr id="24" name="Text 18"/>
          <p:cNvSpPr txBox="1"/>
          <p:nvPr/>
        </p:nvSpPr>
        <p:spPr>
          <a:xfrm>
            <a:off x="5532120" y="2953512"/>
            <a:ext cx="3017520" cy="457200"/>
          </a:xfrm>
          <a:prstGeom prst="rect">
            <a:avLst/>
          </a:prstGeom>
          <a:noFill/>
          <a:ln/>
        </p:spPr>
        <p:txBody>
          <a:bodyPr wrap="square" lIns="0" tIns="0" rIns="0" bIns="0" rtlCol="0" anchor="t"/>
          <a:lstStyle/>
          <a:p>
            <a:pPr indent="0" marL="0">
              <a:buNone/>
            </a:pPr>
            <a:r>
              <a:rPr lang="en-US" sz="1400" dirty="0">
                <a:solidFill>
                  <a:schemeClr val="accent6"/>
                </a:solidFill>
              </a:rPr>
              <a:t>Failed allocations or payments roll back</a:t>
            </a:r>
            <a:endParaRPr lang="en-US" sz="1400" dirty="0"/>
          </a:p>
        </p:txBody>
      </p:sp>
      <p:sp>
        <p:nvSpPr>
          <p:cNvPr id="25" name="Trust tile"/>
          <p:cNvSpPr/>
          <p:nvPr/>
        </p:nvSpPr>
        <p:spPr>
          <a:xfrm>
            <a:off x="457200" y="3611880"/>
            <a:ext cx="4023360" cy="960120"/>
          </a:xfrm>
          <a:prstGeom prst="roundRect">
            <a:avLst>
              <a:gd name="adj" fmla="val 11429"/>
            </a:avLst>
          </a:prstGeom>
          <a:solidFill>
            <a:schemeClr val="tx2"/>
          </a:solidFill>
          <a:ln/>
        </p:spPr>
      </p:sp>
      <p:sp>
        <p:nvSpPr>
          <p:cNvPr id="26" name="Icon disc"/>
          <p:cNvSpPr/>
          <p:nvPr/>
        </p:nvSpPr>
        <p:spPr>
          <a:xfrm>
            <a:off x="640080" y="3840480"/>
            <a:ext cx="502920" cy="502920"/>
          </a:xfrm>
          <a:prstGeom prst="ellipse">
            <a:avLst/>
          </a:prstGeom>
          <a:solidFill>
            <a:schemeClr val="accent2"/>
          </a:solidFill>
          <a:ln/>
        </p:spPr>
      </p:sp>
      <p:pic>
        <p:nvPicPr>
          <p:cNvPr id="27" name="Image 4" descr="Coins icon">    </p:cNvPr>
          <p:cNvPicPr>
            <a:picLocks noChangeAspect="1"/>
          </p:cNvPicPr>
          <p:nvPr/>
        </p:nvPicPr>
        <p:blipFill>
          <a:blip r:embed="rId5"/>
          <a:stretch>
            <a:fillRect/>
          </a:stretch>
        </p:blipFill>
        <p:spPr>
          <a:xfrm>
            <a:off x="781812" y="3973068"/>
            <a:ext cx="228600" cy="228600"/>
          </a:xfrm>
          <a:prstGeom prst="rect">
            <a:avLst/>
          </a:prstGeom>
        </p:spPr>
      </p:pic>
      <p:sp>
        <p:nvSpPr>
          <p:cNvPr id="28" name="Text 21"/>
          <p:cNvSpPr txBox="1"/>
          <p:nvPr/>
        </p:nvSpPr>
        <p:spPr>
          <a:xfrm>
            <a:off x="1325880" y="3749040"/>
            <a:ext cx="3017520" cy="274320"/>
          </a:xfrm>
          <a:prstGeom prst="rect">
            <a:avLst/>
          </a:prstGeom>
          <a:noFill/>
          <a:ln/>
        </p:spPr>
        <p:txBody>
          <a:bodyPr wrap="square" lIns="0" tIns="0" rIns="0" bIns="0" rtlCol="0" anchor="t"/>
          <a:lstStyle/>
          <a:p>
            <a:pPr indent="0" marL="0">
              <a:buNone/>
            </a:pPr>
            <a:r>
              <a:rPr lang="en-US" sz="1600" b="1" dirty="0">
                <a:solidFill>
                  <a:schemeClr val="bg1"/>
                </a:solidFill>
              </a:rPr>
              <a:t>Exact money</a:t>
            </a:r>
            <a:endParaRPr lang="en-US" sz="1600" dirty="0"/>
          </a:p>
        </p:txBody>
      </p:sp>
      <p:sp>
        <p:nvSpPr>
          <p:cNvPr id="29" name="Text 22"/>
          <p:cNvSpPr txBox="1"/>
          <p:nvPr/>
        </p:nvSpPr>
        <p:spPr>
          <a:xfrm>
            <a:off x="1325880" y="4050792"/>
            <a:ext cx="3017520" cy="457200"/>
          </a:xfrm>
          <a:prstGeom prst="rect">
            <a:avLst/>
          </a:prstGeom>
          <a:noFill/>
          <a:ln/>
        </p:spPr>
        <p:txBody>
          <a:bodyPr wrap="square" lIns="0" tIns="0" rIns="0" bIns="0" rtlCol="0" anchor="t"/>
          <a:lstStyle/>
          <a:p>
            <a:pPr indent="0" marL="0">
              <a:buNone/>
            </a:pPr>
            <a:r>
              <a:rPr lang="en-US" sz="1400" dirty="0">
                <a:solidFill>
                  <a:schemeClr val="accent6"/>
                </a:solidFill>
              </a:rPr>
              <a:t>BigDecimal and unique constraints, no duplicates</a:t>
            </a:r>
            <a:endParaRPr lang="en-US" sz="1400" dirty="0"/>
          </a:p>
        </p:txBody>
      </p:sp>
      <p:sp>
        <p:nvSpPr>
          <p:cNvPr id="30" name="Trust tile"/>
          <p:cNvSpPr/>
          <p:nvPr/>
        </p:nvSpPr>
        <p:spPr>
          <a:xfrm>
            <a:off x="4663440" y="3611880"/>
            <a:ext cx="4023360" cy="960120"/>
          </a:xfrm>
          <a:prstGeom prst="roundRect">
            <a:avLst>
              <a:gd name="adj" fmla="val 11429"/>
            </a:avLst>
          </a:prstGeom>
          <a:solidFill>
            <a:schemeClr val="tx2"/>
          </a:solidFill>
          <a:ln/>
        </p:spPr>
      </p:sp>
      <p:sp>
        <p:nvSpPr>
          <p:cNvPr id="31" name="Icon disc"/>
          <p:cNvSpPr/>
          <p:nvPr/>
        </p:nvSpPr>
        <p:spPr>
          <a:xfrm>
            <a:off x="4846320" y="3840480"/>
            <a:ext cx="502920" cy="502920"/>
          </a:xfrm>
          <a:prstGeom prst="ellipse">
            <a:avLst/>
          </a:prstGeom>
          <a:solidFill>
            <a:schemeClr val="accent2"/>
          </a:solidFill>
          <a:ln/>
        </p:spPr>
      </p:sp>
      <p:pic>
        <p:nvPicPr>
          <p:cNvPr id="32" name="Image 5" descr="History icon">    </p:cNvPr>
          <p:cNvPicPr>
            <a:picLocks noChangeAspect="1"/>
          </p:cNvPicPr>
          <p:nvPr/>
        </p:nvPicPr>
        <p:blipFill>
          <a:blip r:embed="rId6"/>
          <a:stretch>
            <a:fillRect/>
          </a:stretch>
        </p:blipFill>
        <p:spPr>
          <a:xfrm>
            <a:off x="4988052" y="3973068"/>
            <a:ext cx="228600" cy="228600"/>
          </a:xfrm>
          <a:prstGeom prst="rect">
            <a:avLst/>
          </a:prstGeom>
        </p:spPr>
      </p:pic>
      <p:sp>
        <p:nvSpPr>
          <p:cNvPr id="33" name="Text 25"/>
          <p:cNvSpPr txBox="1"/>
          <p:nvPr/>
        </p:nvSpPr>
        <p:spPr>
          <a:xfrm>
            <a:off x="5532120" y="3749040"/>
            <a:ext cx="3017520" cy="274320"/>
          </a:xfrm>
          <a:prstGeom prst="rect">
            <a:avLst/>
          </a:prstGeom>
          <a:noFill/>
          <a:ln/>
        </p:spPr>
        <p:txBody>
          <a:bodyPr wrap="square" lIns="0" tIns="0" rIns="0" bIns="0" rtlCol="0" anchor="t"/>
          <a:lstStyle/>
          <a:p>
            <a:pPr indent="0" marL="0">
              <a:buNone/>
            </a:pPr>
            <a:r>
              <a:rPr lang="en-US" sz="1600" b="1" dirty="0">
                <a:solidFill>
                  <a:schemeClr val="bg1"/>
                </a:solidFill>
              </a:rPr>
              <a:t>Audit trail</a:t>
            </a:r>
            <a:endParaRPr lang="en-US" sz="1600" dirty="0"/>
          </a:p>
        </p:txBody>
      </p:sp>
      <p:sp>
        <p:nvSpPr>
          <p:cNvPr id="34" name="Text 26"/>
          <p:cNvSpPr txBox="1"/>
          <p:nvPr/>
        </p:nvSpPr>
        <p:spPr>
          <a:xfrm>
            <a:off x="5532120" y="4050792"/>
            <a:ext cx="3017520" cy="457200"/>
          </a:xfrm>
          <a:prstGeom prst="rect">
            <a:avLst/>
          </a:prstGeom>
          <a:noFill/>
          <a:ln/>
        </p:spPr>
        <p:txBody>
          <a:bodyPr wrap="square" lIns="0" tIns="0" rIns="0" bIns="0" rtlCol="0" anchor="t"/>
          <a:lstStyle/>
          <a:p>
            <a:pPr indent="0" marL="0">
              <a:buNone/>
            </a:pPr>
            <a:r>
              <a:rPr lang="en-US" sz="1400" dirty="0">
                <a:solidFill>
                  <a:schemeClr val="accent6"/>
                </a:solidFill>
              </a:rPr>
              <a:t>audit_logs and notifications for key actions</a:t>
            </a:r>
            <a:endParaRPr lang="en-US" sz="1400" dirty="0"/>
          </a:p>
        </p:txBody>
      </p:sp>
      <p:sp>
        <p:nvSpPr>
          <p:cNvPr id="25" name="Slide Number Placeholder 0"/>
          <p:cNvSpPr>
            <a:spLocks noGrp="1"/>
          </p:cNvSpPr>
          <p:nvPr>
            <p:ph type="sldNum" sz="quarter" idx="4294967295"/>
          </p:nvPr>
        </p:nvSpPr>
        <p:spPr>
          <a:xfrm>
            <a:off x="457200" y="4846320"/>
            <a:ext cx="54864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ection tag"/>
          <p:cNvSpPr/>
          <p:nvPr/>
        </p:nvSpPr>
        <p:spPr>
          <a:xfrm>
            <a:off x="457200" y="292608"/>
            <a:ext cx="2211019" cy="274320"/>
          </a:xfrm>
          <a:prstGeom prst="roundRect">
            <a:avLst>
              <a:gd name="adj" fmla="val 50000"/>
            </a:avLst>
          </a:prstGeom>
          <a:solidFill>
            <a:schemeClr val="accent1"/>
          </a:solidFill>
          <a:ln/>
        </p:spPr>
      </p:sp>
      <p:sp>
        <p:nvSpPr>
          <p:cNvPr id="3" name="Text 1"/>
          <p:cNvSpPr txBox="1"/>
          <p:nvPr/>
        </p:nvSpPr>
        <p:spPr>
          <a:xfrm>
            <a:off x="457200" y="292608"/>
            <a:ext cx="2211019" cy="274320"/>
          </a:xfrm>
          <a:prstGeom prst="rect">
            <a:avLst/>
          </a:prstGeom>
          <a:noFill/>
          <a:ln/>
        </p:spPr>
        <p:txBody>
          <a:bodyPr wrap="square" lIns="0" tIns="0" rIns="0" bIns="0" rtlCol="0" anchor="ctr"/>
          <a:lstStyle/>
          <a:p>
            <a:pPr algn="ctr" indent="0" marL="0">
              <a:buNone/>
            </a:pPr>
            <a:r>
              <a:rPr lang="en-US" sz="1000" b="1" spc="150" kern="0" dirty="0">
                <a:solidFill>
                  <a:schemeClr val="tx1"/>
                </a:solidFill>
              </a:rPr>
              <a:t>FLOOR 4  ·  LIVE PRODUCT</a:t>
            </a:r>
            <a:endParaRPr lang="en-US" sz="1000" dirty="0"/>
          </a:p>
        </p:txBody>
      </p:sp>
      <p:sp>
        <p:nvSpPr>
          <p:cNvPr id="4" name="Text 2"/>
          <p:cNvSpPr/>
          <p:nvPr>
            <p:ph idx="103" type="title" hasCustomPrompt="1"/>
          </p:nvPr>
        </p:nvSpPr>
        <p:spPr>
          <a:xfrm>
            <a:off x="457200" y="640080"/>
            <a:ext cx="8229600" cy="685800"/>
          </a:xfrm>
          <a:prstGeom prst="rect">
            <a:avLst/>
          </a:prstGeom>
          <a:noFill/>
          <a:ln/>
        </p:spPr>
        <p:txBody>
          <a:bodyPr wrap="square" lIns="0" tIns="0" rIns="0" bIns="0" rtlCol="0" anchor="t"/>
          <a:lstStyle/>
          <a:p>
            <a:pPr algn="l" indent="0" marL="0">
              <a:buNone/>
            </a:pPr>
            <a:r>
              <a:rPr lang="en-US" sz="3600" b="1" dirty="0">
                <a:solidFill>
                  <a:schemeClr val="bg1"/>
                </a:solidFill>
              </a:rPr>
              <a:t>See It Running</a:t>
            </a:r>
            <a:endParaRPr lang="en-US" sz="3600" dirty="0"/>
          </a:p>
        </p:txBody>
      </p:sp>
      <p:pic>
        <p:nvPicPr>
          <p:cNvPr id="5" name="Image 0" descr="Warden hostel operations dashboard showing 4 of 8 beds occupied">    </p:cNvPr>
          <p:cNvPicPr>
            <a:picLocks noChangeAspect="1"/>
          </p:cNvPicPr>
          <p:nvPr/>
        </p:nvPicPr>
        <p:blipFill>
          <a:blip r:embed="rId1"/>
          <a:stretch>
            <a:fillRect/>
          </a:stretch>
        </p:blipFill>
        <p:spPr>
          <a:xfrm>
            <a:off x="457200" y="1645920"/>
            <a:ext cx="5029200" cy="2471245"/>
          </a:xfrm>
          <a:prstGeom prst="rect">
            <a:avLst/>
          </a:prstGeom>
        </p:spPr>
      </p:pic>
      <p:pic>
        <p:nvPicPr>
          <p:cNvPr id="6" name="Image 1" descr="Maintenance department complaint queue">    </p:cNvPr>
          <p:cNvPicPr>
            <a:picLocks noChangeAspect="1"/>
          </p:cNvPicPr>
          <p:nvPr/>
        </p:nvPicPr>
        <p:blipFill>
          <a:blip r:embed="rId2"/>
          <a:stretch>
            <a:fillRect/>
          </a:stretch>
        </p:blipFill>
        <p:spPr>
          <a:xfrm>
            <a:off x="5760720" y="1645920"/>
            <a:ext cx="2926080" cy="1368005"/>
          </a:xfrm>
          <a:prstGeom prst="rect">
            <a:avLst/>
          </a:prstGeom>
        </p:spPr>
      </p:pic>
      <p:pic>
        <p:nvPicPr>
          <p:cNvPr id="7" name="Image 2" descr="Student resident portal dashboard">    </p:cNvPr>
          <p:cNvPicPr>
            <a:picLocks noChangeAspect="1"/>
          </p:cNvPicPr>
          <p:nvPr/>
        </p:nvPicPr>
        <p:blipFill>
          <a:blip r:embed="rId3"/>
          <a:stretch>
            <a:fillRect/>
          </a:stretch>
        </p:blipFill>
        <p:spPr>
          <a:xfrm>
            <a:off x="5760720" y="3429000"/>
            <a:ext cx="2926080" cy="1289965"/>
          </a:xfrm>
          <a:prstGeom prst="rect">
            <a:avLst/>
          </a:prstGeom>
        </p:spPr>
      </p:pic>
      <p:sp>
        <p:nvSpPr>
          <p:cNvPr id="8" name="Screen label"/>
          <p:cNvSpPr/>
          <p:nvPr/>
        </p:nvSpPr>
        <p:spPr>
          <a:xfrm>
            <a:off x="457200" y="1499616"/>
            <a:ext cx="868680" cy="256032"/>
          </a:xfrm>
          <a:prstGeom prst="roundRect">
            <a:avLst>
              <a:gd name="adj" fmla="val 50000"/>
            </a:avLst>
          </a:prstGeom>
          <a:solidFill>
            <a:schemeClr val="accent1"/>
          </a:solidFill>
          <a:ln/>
        </p:spPr>
      </p:sp>
      <p:sp>
        <p:nvSpPr>
          <p:cNvPr id="9" name="Text 4"/>
          <p:cNvSpPr txBox="1"/>
          <p:nvPr/>
        </p:nvSpPr>
        <p:spPr>
          <a:xfrm>
            <a:off x="457200" y="1499616"/>
            <a:ext cx="868680" cy="256032"/>
          </a:xfrm>
          <a:prstGeom prst="rect">
            <a:avLst/>
          </a:prstGeom>
          <a:noFill/>
          <a:ln/>
        </p:spPr>
        <p:txBody>
          <a:bodyPr wrap="square" lIns="0" tIns="0" rIns="0" bIns="0" rtlCol="0" anchor="ctr"/>
          <a:lstStyle/>
          <a:p>
            <a:pPr algn="ctr" indent="0" marL="0">
              <a:buNone/>
            </a:pPr>
            <a:r>
              <a:rPr lang="en-US" sz="1000" b="1" spc="150" kern="0" dirty="0">
                <a:solidFill>
                  <a:schemeClr val="tx1"/>
                </a:solidFill>
              </a:rPr>
              <a:t>WARDEN</a:t>
            </a:r>
            <a:endParaRPr lang="en-US" sz="1000" dirty="0"/>
          </a:p>
        </p:txBody>
      </p:sp>
      <p:sp>
        <p:nvSpPr>
          <p:cNvPr id="10" name="Screen label"/>
          <p:cNvSpPr/>
          <p:nvPr/>
        </p:nvSpPr>
        <p:spPr>
          <a:xfrm>
            <a:off x="5760720" y="1499616"/>
            <a:ext cx="1188720" cy="256032"/>
          </a:xfrm>
          <a:prstGeom prst="roundRect">
            <a:avLst>
              <a:gd name="adj" fmla="val 50000"/>
            </a:avLst>
          </a:prstGeom>
          <a:solidFill>
            <a:schemeClr val="accent1"/>
          </a:solidFill>
          <a:ln/>
        </p:spPr>
      </p:sp>
      <p:sp>
        <p:nvSpPr>
          <p:cNvPr id="11" name="Text 6"/>
          <p:cNvSpPr txBox="1"/>
          <p:nvPr/>
        </p:nvSpPr>
        <p:spPr>
          <a:xfrm>
            <a:off x="5760720" y="1499616"/>
            <a:ext cx="1188720" cy="256032"/>
          </a:xfrm>
          <a:prstGeom prst="rect">
            <a:avLst/>
          </a:prstGeom>
          <a:noFill/>
          <a:ln/>
        </p:spPr>
        <p:txBody>
          <a:bodyPr wrap="square" lIns="0" tIns="0" rIns="0" bIns="0" rtlCol="0" anchor="ctr"/>
          <a:lstStyle/>
          <a:p>
            <a:pPr algn="ctr" indent="0" marL="0">
              <a:buNone/>
            </a:pPr>
            <a:r>
              <a:rPr lang="en-US" sz="1000" b="1" spc="150" kern="0" dirty="0">
                <a:solidFill>
                  <a:schemeClr val="tx1"/>
                </a:solidFill>
              </a:rPr>
              <a:t>MAINTENANCE</a:t>
            </a:r>
            <a:endParaRPr lang="en-US" sz="1000" dirty="0"/>
          </a:p>
        </p:txBody>
      </p:sp>
      <p:sp>
        <p:nvSpPr>
          <p:cNvPr id="12" name="Screen label"/>
          <p:cNvSpPr/>
          <p:nvPr/>
        </p:nvSpPr>
        <p:spPr>
          <a:xfrm>
            <a:off x="5760720" y="3282696"/>
            <a:ext cx="868680" cy="256032"/>
          </a:xfrm>
          <a:prstGeom prst="roundRect">
            <a:avLst>
              <a:gd name="adj" fmla="val 50000"/>
            </a:avLst>
          </a:prstGeom>
          <a:solidFill>
            <a:schemeClr val="accent1"/>
          </a:solidFill>
          <a:ln/>
        </p:spPr>
      </p:sp>
      <p:sp>
        <p:nvSpPr>
          <p:cNvPr id="13" name="Text 8"/>
          <p:cNvSpPr txBox="1"/>
          <p:nvPr/>
        </p:nvSpPr>
        <p:spPr>
          <a:xfrm>
            <a:off x="5760720" y="3282696"/>
            <a:ext cx="868680" cy="256032"/>
          </a:xfrm>
          <a:prstGeom prst="rect">
            <a:avLst/>
          </a:prstGeom>
          <a:noFill/>
          <a:ln/>
        </p:spPr>
        <p:txBody>
          <a:bodyPr wrap="square" lIns="0" tIns="0" rIns="0" bIns="0" rtlCol="0" anchor="ctr"/>
          <a:lstStyle/>
          <a:p>
            <a:pPr algn="ctr" indent="0" marL="0">
              <a:buNone/>
            </a:pPr>
            <a:r>
              <a:rPr lang="en-US" sz="1000" b="1" spc="150" kern="0" dirty="0">
                <a:solidFill>
                  <a:schemeClr val="tx1"/>
                </a:solidFill>
              </a:rPr>
              <a:t>STUDENT</a:t>
            </a:r>
            <a:endParaRPr lang="en-US" sz="1000" dirty="0"/>
          </a:p>
        </p:txBody>
      </p:sp>
      <p:sp>
        <p:nvSpPr>
          <p:cNvPr id="14" name="Caption"/>
          <p:cNvSpPr/>
          <p:nvPr/>
        </p:nvSpPr>
        <p:spPr>
          <a:xfrm>
            <a:off x="457200" y="4343400"/>
            <a:ext cx="5029200" cy="365760"/>
          </a:xfrm>
          <a:prstGeom prst="roundRect">
            <a:avLst>
              <a:gd name="adj" fmla="val 50000"/>
            </a:avLst>
          </a:prstGeom>
          <a:solidFill>
            <a:schemeClr val="tx2"/>
          </a:solidFill>
          <a:ln/>
        </p:spPr>
      </p:sp>
      <p:sp>
        <p:nvSpPr>
          <p:cNvPr id="15" name="Text 10"/>
          <p:cNvSpPr txBox="1"/>
          <p:nvPr/>
        </p:nvSpPr>
        <p:spPr>
          <a:xfrm>
            <a:off x="457200" y="4343400"/>
            <a:ext cx="5029200" cy="365760"/>
          </a:xfrm>
          <a:prstGeom prst="rect">
            <a:avLst/>
          </a:prstGeom>
          <a:noFill/>
          <a:ln/>
        </p:spPr>
        <p:txBody>
          <a:bodyPr wrap="square" lIns="0" tIns="0" rIns="0" bIns="0" rtlCol="0" anchor="ctr"/>
          <a:lstStyle/>
          <a:p>
            <a:pPr algn="ctr" indent="0" marL="0">
              <a:buNone/>
            </a:pPr>
            <a:r>
              <a:rPr lang="en-US" sz="1200" dirty="0">
                <a:solidFill>
                  <a:schemeClr val="accent6"/>
                </a:solidFill>
              </a:rPr>
              <a:t>Real screens from the deployed app: live counts, one-click actions</a:t>
            </a:r>
            <a:endParaRPr lang="en-US" sz="1200" dirty="0"/>
          </a:p>
        </p:txBody>
      </p:sp>
      <p:sp>
        <p:nvSpPr>
          <p:cNvPr id="25" name="Slide Number Placeholder 0"/>
          <p:cNvSpPr>
            <a:spLocks noGrp="1"/>
          </p:cNvSpPr>
          <p:nvPr>
            <p:ph type="sldNum" sz="quarter" idx="4294967295"/>
          </p:nvPr>
        </p:nvSpPr>
        <p:spPr>
          <a:xfrm>
            <a:off x="457200" y="4846320"/>
            <a:ext cx="54864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ection tag"/>
          <p:cNvSpPr/>
          <p:nvPr/>
        </p:nvSpPr>
        <p:spPr>
          <a:xfrm>
            <a:off x="457200" y="292608"/>
            <a:ext cx="1836115" cy="274320"/>
          </a:xfrm>
          <a:prstGeom prst="roundRect">
            <a:avLst>
              <a:gd name="adj" fmla="val 50000"/>
            </a:avLst>
          </a:prstGeom>
          <a:solidFill>
            <a:schemeClr val="accent1"/>
          </a:solidFill>
          <a:ln/>
        </p:spPr>
      </p:sp>
      <p:sp>
        <p:nvSpPr>
          <p:cNvPr id="3" name="Text 1"/>
          <p:cNvSpPr txBox="1"/>
          <p:nvPr/>
        </p:nvSpPr>
        <p:spPr>
          <a:xfrm>
            <a:off x="457200" y="292608"/>
            <a:ext cx="1836115" cy="274320"/>
          </a:xfrm>
          <a:prstGeom prst="rect">
            <a:avLst/>
          </a:prstGeom>
          <a:noFill/>
          <a:ln/>
        </p:spPr>
        <p:txBody>
          <a:bodyPr wrap="square" lIns="0" tIns="0" rIns="0" bIns="0" rtlCol="0" anchor="ctr"/>
          <a:lstStyle/>
          <a:p>
            <a:pPr algn="ctr" indent="0" marL="0">
              <a:buNone/>
            </a:pPr>
            <a:r>
              <a:rPr lang="en-US" sz="1000" b="1" spc="150" kern="0" dirty="0">
                <a:solidFill>
                  <a:schemeClr val="tx1"/>
                </a:solidFill>
              </a:rPr>
              <a:t>FLOOR 4  ·  TESTING</a:t>
            </a:r>
            <a:endParaRPr lang="en-US" sz="1000" dirty="0"/>
          </a:p>
        </p:txBody>
      </p:sp>
      <p:sp>
        <p:nvSpPr>
          <p:cNvPr id="4" name="Text 2"/>
          <p:cNvSpPr/>
          <p:nvPr>
            <p:ph idx="103" type="title" hasCustomPrompt="1"/>
          </p:nvPr>
        </p:nvSpPr>
        <p:spPr>
          <a:xfrm>
            <a:off x="457200" y="640080"/>
            <a:ext cx="8229600" cy="685800"/>
          </a:xfrm>
          <a:prstGeom prst="rect">
            <a:avLst/>
          </a:prstGeom>
          <a:noFill/>
          <a:ln/>
        </p:spPr>
        <p:txBody>
          <a:bodyPr wrap="square" lIns="0" tIns="0" rIns="0" bIns="0" rtlCol="0" anchor="t"/>
          <a:lstStyle/>
          <a:p>
            <a:pPr algn="l" indent="0" marL="0">
              <a:buNone/>
            </a:pPr>
            <a:r>
              <a:rPr lang="en-US" sz="3600" b="1" dirty="0">
                <a:solidFill>
                  <a:schemeClr val="tx1"/>
                </a:solidFill>
              </a:rPr>
              <a:t>24 Tests, 24 Passes</a:t>
            </a:r>
            <a:endParaRPr lang="en-US" sz="3600" dirty="0"/>
          </a:p>
        </p:txBody>
      </p:sp>
      <p:sp>
        <p:nvSpPr>
          <p:cNvPr id="5" name="Chart card"/>
          <p:cNvSpPr/>
          <p:nvPr/>
        </p:nvSpPr>
        <p:spPr>
          <a:xfrm>
            <a:off x="457200" y="1417320"/>
            <a:ext cx="5029200" cy="3200400"/>
          </a:xfrm>
          <a:prstGeom prst="roundRect">
            <a:avLst>
              <a:gd name="adj" fmla="val 3429"/>
            </a:avLst>
          </a:prstGeom>
          <a:solidFill>
            <a:schemeClr val="bg1"/>
          </a:solidFill>
          <a:ln/>
          <a:effectLst>
            <a:outerShdw sx="100000" sy="100000" kx="0" ky="0" algn="bl" rotWithShape="0" blurRad="101600" dist="25400" dir="5400000">
              <a:srgbClr val="0B1F2A">
                <a:alpha val="14000"/>
              </a:srgbClr>
            </a:outerShdw>
          </a:effectLst>
        </p:spPr>
      </p:sp>
      <p:graphicFrame>
        <p:nvGraphicFramePr>
          <p:cNvPr id="6" name="Chart 0" descr=""/>
          <p:cNvGraphicFramePr/>
          <p:nvPr/>
        </p:nvGraphicFramePr>
        <p:xfrm>
          <a:off x="548640" y="1508760"/>
          <a:ext cx="4846320" cy="3017520"/>
        </p:xfrm>
        <a:graphic xmlns:a="http://schemas.openxmlformats.org/drawingml/2006/main">
          <a:graphicData uri="http://schemas.openxmlformats.org/drawingml/2006/chart">
            <c:chart xmlns:c="http://schemas.openxmlformats.org/drawingml/2006/chart" r:id="rId1"/>
          </a:graphicData>
        </a:graphic>
      </p:graphicFrame>
      <p:sp>
        <p:nvSpPr>
          <p:cNvPr id="7" name="Pass rate card"/>
          <p:cNvSpPr/>
          <p:nvPr/>
        </p:nvSpPr>
        <p:spPr>
          <a:xfrm>
            <a:off x="5715000" y="1417320"/>
            <a:ext cx="2971800" cy="3200400"/>
          </a:xfrm>
          <a:prstGeom prst="roundRect">
            <a:avLst>
              <a:gd name="adj" fmla="val 3692"/>
            </a:avLst>
          </a:prstGeom>
          <a:solidFill>
            <a:schemeClr val="tx1"/>
          </a:solidFill>
          <a:ln/>
        </p:spPr>
      </p:sp>
      <p:sp>
        <p:nvSpPr>
          <p:cNvPr id="8" name="Text 5"/>
          <p:cNvSpPr txBox="1"/>
          <p:nvPr/>
        </p:nvSpPr>
        <p:spPr>
          <a:xfrm>
            <a:off x="5897880" y="1554480"/>
            <a:ext cx="2651760" cy="86868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100%</a:t>
            </a:r>
            <a:endParaRPr lang="en-US" sz="5400" dirty="0"/>
          </a:p>
        </p:txBody>
      </p:sp>
      <p:sp>
        <p:nvSpPr>
          <p:cNvPr id="9" name="Text 6"/>
          <p:cNvSpPr txBox="1"/>
          <p:nvPr/>
        </p:nvSpPr>
        <p:spPr>
          <a:xfrm>
            <a:off x="5897880" y="2423160"/>
            <a:ext cx="2606040" cy="594360"/>
          </a:xfrm>
          <a:prstGeom prst="rect">
            <a:avLst/>
          </a:prstGeom>
          <a:noFill/>
          <a:ln/>
        </p:spPr>
        <p:txBody>
          <a:bodyPr wrap="square" lIns="0" tIns="0" rIns="0" bIns="0" rtlCol="0" anchor="t"/>
          <a:lstStyle/>
          <a:p>
            <a:pPr indent="0" marL="0">
              <a:buNone/>
            </a:pPr>
            <a:r>
              <a:rPr lang="en-US" sz="1400" dirty="0">
                <a:solidFill>
                  <a:schemeClr val="accent6"/>
                </a:solidFill>
              </a:rPr>
              <a:t>pass rate on the deployed app and locally, for all four roles</a:t>
            </a:r>
            <a:endParaRPr lang="en-US" sz="1400" dirty="0"/>
          </a:p>
        </p:txBody>
      </p:sp>
      <p:sp>
        <p:nvSpPr>
          <p:cNvPr id="10" name="Text 7"/>
          <p:cNvSpPr txBox="1"/>
          <p:nvPr/>
        </p:nvSpPr>
        <p:spPr>
          <a:xfrm>
            <a:off x="5897880" y="3108960"/>
            <a:ext cx="2651760" cy="1417320"/>
          </a:xfrm>
          <a:prstGeom prst="rect">
            <a:avLst/>
          </a:prstGeom>
          <a:noFill/>
          <a:ln/>
        </p:spPr>
        <p:txBody>
          <a:bodyPr wrap="square" lIns="0" tIns="0" rIns="0" bIns="0" rtlCol="0" anchor="t"/>
          <a:lstStyle/>
          <a:p>
            <a:pPr marL="152400" indent="-152400">
              <a:spcAft>
                <a:spcPts val="500"/>
              </a:spcAft>
              <a:buSzPct val="100000"/>
              <a:buChar char="•"/>
            </a:pPr>
            <a:r>
              <a:rPr lang="en-US" sz="1400" dirty="0">
                <a:solidFill>
                  <a:schemeClr val="bg1"/>
                </a:solidFill>
              </a:rPr>
              <a:t>Wrong password: no session</a:t>
            </a:r>
            <a:endParaRPr lang="en-US" sz="1400" dirty="0"/>
          </a:p>
          <a:p>
            <a:pPr marL="152400" indent="-152400">
              <a:spcAft>
                <a:spcPts val="500"/>
              </a:spcAft>
              <a:buSzPct val="100000"/>
              <a:buChar char="•"/>
            </a:pPr>
            <a:r>
              <a:rPr lang="en-US" sz="1400" dirty="0">
                <a:solidFill>
                  <a:schemeClr val="bg1"/>
                </a:solidFill>
              </a:rPr>
              <a:t>Student on warden URL: denied</a:t>
            </a:r>
            <a:endParaRPr lang="en-US" sz="1400" dirty="0"/>
          </a:p>
          <a:p>
            <a:pPr marL="152400" indent="-152400">
              <a:spcAft>
                <a:spcPts val="500"/>
              </a:spcAft>
              <a:buSzPct val="100000"/>
              <a:buChar char="•"/>
            </a:pPr>
            <a:r>
              <a:rPr lang="en-US" sz="1400" dirty="0">
                <a:solidFill>
                  <a:schemeClr val="bg1"/>
                </a:solidFill>
              </a:rPr>
              <a:t>Over-payment: rejected</a:t>
            </a:r>
            <a:endParaRPr lang="en-US" sz="1400" dirty="0"/>
          </a:p>
          <a:p>
            <a:pPr marL="152400" indent="-152400">
              <a:spcAft>
                <a:spcPts val="500"/>
              </a:spcAft>
              <a:buSzPct val="100000"/>
              <a:buChar char="•"/>
            </a:pPr>
            <a:r>
              <a:rPr lang="en-US" sz="1400" dirty="0">
                <a:solidFill>
                  <a:schemeClr val="bg1"/>
                </a:solidFill>
              </a:rPr>
              <a:t>Bad URL: custom 404</a:t>
            </a:r>
            <a:endParaRPr lang="en-US" sz="1400" dirty="0"/>
          </a:p>
        </p:txBody>
      </p:sp>
      <p:sp>
        <p:nvSpPr>
          <p:cNvPr id="25" name="Slide Number Placeholder 0"/>
          <p:cNvSpPr>
            <a:spLocks noGrp="1"/>
          </p:cNvSpPr>
          <p:nvPr>
            <p:ph type="sldNum" sz="quarter" idx="4294967295"/>
          </p:nvPr>
        </p:nvSpPr>
        <p:spPr>
          <a:xfrm>
            <a:off x="457200" y="4846320"/>
            <a:ext cx="54864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ection tag"/>
          <p:cNvSpPr/>
          <p:nvPr/>
        </p:nvSpPr>
        <p:spPr>
          <a:xfrm>
            <a:off x="457200" y="292608"/>
            <a:ext cx="2061058" cy="274320"/>
          </a:xfrm>
          <a:prstGeom prst="roundRect">
            <a:avLst>
              <a:gd name="adj" fmla="val 50000"/>
            </a:avLst>
          </a:prstGeom>
          <a:solidFill>
            <a:schemeClr val="accent1"/>
          </a:solidFill>
          <a:ln/>
        </p:spPr>
      </p:sp>
      <p:sp>
        <p:nvSpPr>
          <p:cNvPr id="3" name="Text 1"/>
          <p:cNvSpPr txBox="1"/>
          <p:nvPr/>
        </p:nvSpPr>
        <p:spPr>
          <a:xfrm>
            <a:off x="457200" y="292608"/>
            <a:ext cx="2061058" cy="274320"/>
          </a:xfrm>
          <a:prstGeom prst="rect">
            <a:avLst/>
          </a:prstGeom>
          <a:noFill/>
          <a:ln/>
        </p:spPr>
        <p:txBody>
          <a:bodyPr wrap="square" lIns="0" tIns="0" rIns="0" bIns="0" rtlCol="0" anchor="ctr"/>
          <a:lstStyle/>
          <a:p>
            <a:pPr algn="ctr" indent="0" marL="0">
              <a:buNone/>
            </a:pPr>
            <a:r>
              <a:rPr lang="en-US" sz="1000" b="1" spc="150" kern="0" dirty="0">
                <a:solidFill>
                  <a:schemeClr val="tx1"/>
                </a:solidFill>
              </a:rPr>
              <a:t>ROOFTOP  ·  DEPLOYMENT</a:t>
            </a:r>
            <a:endParaRPr lang="en-US" sz="1000" dirty="0"/>
          </a:p>
        </p:txBody>
      </p:sp>
      <p:sp>
        <p:nvSpPr>
          <p:cNvPr id="4" name="Text 2"/>
          <p:cNvSpPr/>
          <p:nvPr>
            <p:ph idx="103" type="title" hasCustomPrompt="1"/>
          </p:nvPr>
        </p:nvSpPr>
        <p:spPr>
          <a:xfrm>
            <a:off x="457200" y="640080"/>
            <a:ext cx="8229600" cy="685800"/>
          </a:xfrm>
          <a:prstGeom prst="rect">
            <a:avLst/>
          </a:prstGeom>
          <a:noFill/>
          <a:ln/>
        </p:spPr>
        <p:txBody>
          <a:bodyPr wrap="square" lIns="0" tIns="0" rIns="0" bIns="0" rtlCol="0" anchor="t"/>
          <a:lstStyle/>
          <a:p>
            <a:pPr algn="l" indent="0" marL="0">
              <a:buNone/>
            </a:pPr>
            <a:r>
              <a:rPr lang="en-US" sz="3600" b="1" dirty="0">
                <a:solidFill>
                  <a:schemeClr val="bg1"/>
                </a:solidFill>
              </a:rPr>
              <a:t>From Commit to Cloud</a:t>
            </a:r>
            <a:endParaRPr lang="en-US" sz="3600" dirty="0"/>
          </a:p>
        </p:txBody>
      </p:sp>
      <p:sp>
        <p:nvSpPr>
          <p:cNvPr id="5" name="Users"/>
          <p:cNvSpPr/>
          <p:nvPr/>
        </p:nvSpPr>
        <p:spPr>
          <a:xfrm>
            <a:off x="3429000" y="1371600"/>
            <a:ext cx="2286000" cy="502920"/>
          </a:xfrm>
          <a:prstGeom prst="roundRect">
            <a:avLst>
              <a:gd name="adj" fmla="val 21818"/>
            </a:avLst>
          </a:prstGeom>
          <a:solidFill>
            <a:schemeClr val="accent1"/>
          </a:solidFill>
          <a:ln/>
        </p:spPr>
      </p:sp>
      <p:pic>
        <p:nvPicPr>
          <p:cNvPr id="6" name="Image 0" descr="Users icon">    </p:cNvPr>
          <p:cNvPicPr>
            <a:picLocks noChangeAspect="1"/>
          </p:cNvPicPr>
          <p:nvPr/>
        </p:nvPicPr>
        <p:blipFill>
          <a:blip r:embed="rId1"/>
          <a:stretch>
            <a:fillRect/>
          </a:stretch>
        </p:blipFill>
        <p:spPr>
          <a:xfrm>
            <a:off x="3611880" y="1527048"/>
            <a:ext cx="201168" cy="201168"/>
          </a:xfrm>
          <a:prstGeom prst="rect">
            <a:avLst/>
          </a:prstGeom>
        </p:spPr>
      </p:pic>
      <p:sp>
        <p:nvSpPr>
          <p:cNvPr id="7" name="Text 4"/>
          <p:cNvSpPr txBox="1"/>
          <p:nvPr/>
        </p:nvSpPr>
        <p:spPr>
          <a:xfrm>
            <a:off x="3931920" y="1371600"/>
            <a:ext cx="1737360" cy="502920"/>
          </a:xfrm>
          <a:prstGeom prst="rect">
            <a:avLst/>
          </a:prstGeom>
          <a:noFill/>
          <a:ln/>
        </p:spPr>
        <p:txBody>
          <a:bodyPr wrap="square" lIns="0" tIns="0" rIns="0" bIns="0" rtlCol="0" anchor="ctr"/>
          <a:lstStyle/>
          <a:p>
            <a:pPr indent="0" marL="0">
              <a:buNone/>
            </a:pPr>
            <a:r>
              <a:rPr lang="en-US" sz="1400" b="1" dirty="0">
                <a:solidFill>
                  <a:schemeClr val="tx1"/>
                </a:solidFill>
              </a:rPr>
              <a:t>Users, any browser</a:t>
            </a:r>
            <a:endParaRPr lang="en-US" sz="1400" dirty="0"/>
          </a:p>
        </p:txBody>
      </p:sp>
      <p:sp>
        <p:nvSpPr>
          <p:cNvPr id="8" name="Arrow"/>
          <p:cNvSpPr/>
          <p:nvPr/>
        </p:nvSpPr>
        <p:spPr>
          <a:xfrm>
            <a:off x="4572000" y="1892808"/>
            <a:ext cx="0" cy="347472"/>
          </a:xfrm>
          <a:prstGeom prst="line">
            <a:avLst/>
          </a:prstGeom>
          <a:noFill/>
          <a:ln w="25400">
            <a:solidFill>
              <a:srgbClr val="F5A623"/>
            </a:solidFill>
            <a:prstDash val="solid"/>
            <a:tailEnd type="triangle"/>
          </a:ln>
        </p:spPr>
      </p:sp>
      <p:sp>
        <p:nvSpPr>
          <p:cNvPr id="9" name="Text 6"/>
          <p:cNvSpPr txBox="1"/>
          <p:nvPr/>
        </p:nvSpPr>
        <p:spPr>
          <a:xfrm>
            <a:off x="4663440" y="1938528"/>
            <a:ext cx="731520" cy="228600"/>
          </a:xfrm>
          <a:prstGeom prst="rect">
            <a:avLst/>
          </a:prstGeom>
          <a:noFill/>
          <a:ln/>
        </p:spPr>
        <p:txBody>
          <a:bodyPr wrap="square" lIns="0" tIns="0" rIns="0" bIns="0" rtlCol="0" anchor="t"/>
          <a:lstStyle/>
          <a:p>
            <a:pPr indent="0" marL="0">
              <a:buNone/>
            </a:pPr>
            <a:r>
              <a:rPr lang="en-US" sz="1100" dirty="0">
                <a:solidFill>
                  <a:schemeClr val="accent6"/>
                </a:solidFill>
              </a:rPr>
              <a:t>HTTPS</a:t>
            </a:r>
            <a:endParaRPr lang="en-US" sz="1100" dirty="0"/>
          </a:p>
        </p:txBody>
      </p:sp>
      <p:sp>
        <p:nvSpPr>
          <p:cNvPr id="10" name="Node"/>
          <p:cNvSpPr/>
          <p:nvPr/>
        </p:nvSpPr>
        <p:spPr>
          <a:xfrm>
            <a:off x="457200" y="2286000"/>
            <a:ext cx="2286000" cy="1691640"/>
          </a:xfrm>
          <a:prstGeom prst="roundRect">
            <a:avLst>
              <a:gd name="adj" fmla="val 6486"/>
            </a:avLst>
          </a:prstGeom>
          <a:solidFill>
            <a:schemeClr val="tx2"/>
          </a:solidFill>
          <a:ln/>
        </p:spPr>
      </p:sp>
      <p:sp>
        <p:nvSpPr>
          <p:cNvPr id="11" name="Node disc"/>
          <p:cNvSpPr/>
          <p:nvPr/>
        </p:nvSpPr>
        <p:spPr>
          <a:xfrm>
            <a:off x="640080" y="2450592"/>
            <a:ext cx="402336" cy="402336"/>
          </a:xfrm>
          <a:prstGeom prst="ellipse">
            <a:avLst/>
          </a:prstGeom>
          <a:solidFill>
            <a:schemeClr val="accent2"/>
          </a:solidFill>
          <a:ln/>
        </p:spPr>
      </p:sp>
      <p:pic>
        <p:nvPicPr>
          <p:cNvPr id="12" name="Image 1" descr="Github icon">    </p:cNvPr>
          <p:cNvPicPr>
            <a:picLocks noChangeAspect="1"/>
          </p:cNvPicPr>
          <p:nvPr/>
        </p:nvPicPr>
        <p:blipFill>
          <a:blip r:embed="rId2"/>
          <a:stretch>
            <a:fillRect/>
          </a:stretch>
        </p:blipFill>
        <p:spPr>
          <a:xfrm>
            <a:off x="749808" y="2560320"/>
            <a:ext cx="182880" cy="182880"/>
          </a:xfrm>
          <a:prstGeom prst="rect">
            <a:avLst/>
          </a:prstGeom>
        </p:spPr>
      </p:pic>
      <p:sp>
        <p:nvSpPr>
          <p:cNvPr id="13" name="Text 9"/>
          <p:cNvSpPr txBox="1"/>
          <p:nvPr/>
        </p:nvSpPr>
        <p:spPr>
          <a:xfrm>
            <a:off x="1170432" y="2450592"/>
            <a:ext cx="1463040" cy="402336"/>
          </a:xfrm>
          <a:prstGeom prst="rect">
            <a:avLst/>
          </a:prstGeom>
          <a:noFill/>
          <a:ln/>
        </p:spPr>
        <p:txBody>
          <a:bodyPr wrap="square" lIns="0" tIns="0" rIns="0" bIns="0" rtlCol="0" anchor="ctr"/>
          <a:lstStyle/>
          <a:p>
            <a:pPr indent="0" marL="0">
              <a:buNone/>
            </a:pPr>
            <a:r>
              <a:rPr lang="en-US" sz="1800" b="1" dirty="0">
                <a:solidFill>
                  <a:schemeClr val="bg1"/>
                </a:solidFill>
              </a:rPr>
              <a:t>GitHub</a:t>
            </a:r>
            <a:endParaRPr lang="en-US" sz="1800" dirty="0"/>
          </a:p>
        </p:txBody>
      </p:sp>
      <p:sp>
        <p:nvSpPr>
          <p:cNvPr id="14" name="Text 10"/>
          <p:cNvSpPr txBox="1"/>
          <p:nvPr/>
        </p:nvSpPr>
        <p:spPr>
          <a:xfrm>
            <a:off x="640080" y="2971800"/>
            <a:ext cx="1965960" cy="960120"/>
          </a:xfrm>
          <a:prstGeom prst="rect">
            <a:avLst/>
          </a:prstGeom>
          <a:noFill/>
          <a:ln/>
        </p:spPr>
        <p:txBody>
          <a:bodyPr wrap="square" lIns="0" tIns="0" rIns="0" bIns="0" rtlCol="0" anchor="t"/>
          <a:lstStyle/>
          <a:p>
            <a:pPr indent="0" marL="0">
              <a:buNone/>
            </a:pPr>
            <a:r>
              <a:rPr lang="en-US" sz="1400" dirty="0">
                <a:solidFill>
                  <a:schemeClr val="accent6"/>
                </a:solidFill>
              </a:rPr>
              <a:t>Source control with main, develop and feature branches</a:t>
            </a:r>
            <a:endParaRPr lang="en-US" sz="1400" dirty="0"/>
          </a:p>
        </p:txBody>
      </p:sp>
      <p:sp>
        <p:nvSpPr>
          <p:cNvPr id="15" name="Node"/>
          <p:cNvSpPr/>
          <p:nvPr/>
        </p:nvSpPr>
        <p:spPr>
          <a:xfrm>
            <a:off x="3429000" y="2286000"/>
            <a:ext cx="2286000" cy="1691640"/>
          </a:xfrm>
          <a:prstGeom prst="roundRect">
            <a:avLst>
              <a:gd name="adj" fmla="val 6486"/>
            </a:avLst>
          </a:prstGeom>
          <a:solidFill>
            <a:schemeClr val="tx2"/>
          </a:solidFill>
          <a:ln/>
        </p:spPr>
      </p:sp>
      <p:sp>
        <p:nvSpPr>
          <p:cNvPr id="16" name="Node disc"/>
          <p:cNvSpPr/>
          <p:nvPr/>
        </p:nvSpPr>
        <p:spPr>
          <a:xfrm>
            <a:off x="3611880" y="2450592"/>
            <a:ext cx="402336" cy="402336"/>
          </a:xfrm>
          <a:prstGeom prst="ellipse">
            <a:avLst/>
          </a:prstGeom>
          <a:solidFill>
            <a:schemeClr val="accent2"/>
          </a:solidFill>
          <a:ln/>
        </p:spPr>
      </p:sp>
      <p:pic>
        <p:nvPicPr>
          <p:cNvPr id="17" name="Image 2" descr="Docker icon">    </p:cNvPr>
          <p:cNvPicPr>
            <a:picLocks noChangeAspect="1"/>
          </p:cNvPicPr>
          <p:nvPr/>
        </p:nvPicPr>
        <p:blipFill>
          <a:blip r:embed="rId3"/>
          <a:stretch>
            <a:fillRect/>
          </a:stretch>
        </p:blipFill>
        <p:spPr>
          <a:xfrm>
            <a:off x="3721608" y="2560320"/>
            <a:ext cx="182880" cy="182880"/>
          </a:xfrm>
          <a:prstGeom prst="rect">
            <a:avLst/>
          </a:prstGeom>
        </p:spPr>
      </p:pic>
      <p:sp>
        <p:nvSpPr>
          <p:cNvPr id="18" name="Text 13"/>
          <p:cNvSpPr txBox="1"/>
          <p:nvPr/>
        </p:nvSpPr>
        <p:spPr>
          <a:xfrm>
            <a:off x="4142232" y="2450592"/>
            <a:ext cx="1463040" cy="402336"/>
          </a:xfrm>
          <a:prstGeom prst="rect">
            <a:avLst/>
          </a:prstGeom>
          <a:noFill/>
          <a:ln/>
        </p:spPr>
        <p:txBody>
          <a:bodyPr wrap="square" lIns="0" tIns="0" rIns="0" bIns="0" rtlCol="0" anchor="ctr"/>
          <a:lstStyle/>
          <a:p>
            <a:pPr indent="0" marL="0">
              <a:buNone/>
            </a:pPr>
            <a:r>
              <a:rPr lang="en-US" sz="1800" b="1" dirty="0">
                <a:solidFill>
                  <a:schemeClr val="bg1"/>
                </a:solidFill>
              </a:rPr>
              <a:t>Render</a:t>
            </a:r>
            <a:endParaRPr lang="en-US" sz="1800" dirty="0"/>
          </a:p>
        </p:txBody>
      </p:sp>
      <p:sp>
        <p:nvSpPr>
          <p:cNvPr id="19" name="Text 14"/>
          <p:cNvSpPr txBox="1"/>
          <p:nvPr/>
        </p:nvSpPr>
        <p:spPr>
          <a:xfrm>
            <a:off x="3611880" y="2971800"/>
            <a:ext cx="1965960" cy="960120"/>
          </a:xfrm>
          <a:prstGeom prst="rect">
            <a:avLst/>
          </a:prstGeom>
          <a:noFill/>
          <a:ln/>
        </p:spPr>
        <p:txBody>
          <a:bodyPr wrap="square" lIns="0" tIns="0" rIns="0" bIns="0" rtlCol="0" anchor="t"/>
          <a:lstStyle/>
          <a:p>
            <a:pPr indent="0" marL="0">
              <a:buNone/>
            </a:pPr>
            <a:r>
              <a:rPr lang="en-US" sz="1400" dirty="0">
                <a:solidFill>
                  <a:schemeClr val="accent6"/>
                </a:solidFill>
              </a:rPr>
              <a:t>Docker build: Maven, then a small Java 17 JRE. Spring Boot on port 2007</a:t>
            </a:r>
            <a:endParaRPr lang="en-US" sz="1400" dirty="0"/>
          </a:p>
        </p:txBody>
      </p:sp>
      <p:sp>
        <p:nvSpPr>
          <p:cNvPr id="20" name="Node"/>
          <p:cNvSpPr/>
          <p:nvPr/>
        </p:nvSpPr>
        <p:spPr>
          <a:xfrm>
            <a:off x="6400800" y="2286000"/>
            <a:ext cx="2286000" cy="1691640"/>
          </a:xfrm>
          <a:prstGeom prst="roundRect">
            <a:avLst>
              <a:gd name="adj" fmla="val 6486"/>
            </a:avLst>
          </a:prstGeom>
          <a:solidFill>
            <a:schemeClr val="tx2"/>
          </a:solidFill>
          <a:ln/>
        </p:spPr>
      </p:sp>
      <p:sp>
        <p:nvSpPr>
          <p:cNvPr id="21" name="Node disc"/>
          <p:cNvSpPr/>
          <p:nvPr/>
        </p:nvSpPr>
        <p:spPr>
          <a:xfrm>
            <a:off x="6583680" y="2450592"/>
            <a:ext cx="402336" cy="402336"/>
          </a:xfrm>
          <a:prstGeom prst="ellipse">
            <a:avLst/>
          </a:prstGeom>
          <a:solidFill>
            <a:schemeClr val="accent2"/>
          </a:solidFill>
          <a:ln/>
        </p:spPr>
      </p:sp>
      <p:pic>
        <p:nvPicPr>
          <p:cNvPr id="22" name="Image 3" descr="Database icon">    </p:cNvPr>
          <p:cNvPicPr>
            <a:picLocks noChangeAspect="1"/>
          </p:cNvPicPr>
          <p:nvPr/>
        </p:nvPicPr>
        <p:blipFill>
          <a:blip r:embed="rId4"/>
          <a:stretch>
            <a:fillRect/>
          </a:stretch>
        </p:blipFill>
        <p:spPr>
          <a:xfrm>
            <a:off x="6693408" y="2560320"/>
            <a:ext cx="182880" cy="182880"/>
          </a:xfrm>
          <a:prstGeom prst="rect">
            <a:avLst/>
          </a:prstGeom>
        </p:spPr>
      </p:pic>
      <p:sp>
        <p:nvSpPr>
          <p:cNvPr id="23" name="Text 17"/>
          <p:cNvSpPr txBox="1"/>
          <p:nvPr/>
        </p:nvSpPr>
        <p:spPr>
          <a:xfrm>
            <a:off x="7114032" y="2450592"/>
            <a:ext cx="1463040" cy="402336"/>
          </a:xfrm>
          <a:prstGeom prst="rect">
            <a:avLst/>
          </a:prstGeom>
          <a:noFill/>
          <a:ln/>
        </p:spPr>
        <p:txBody>
          <a:bodyPr wrap="square" lIns="0" tIns="0" rIns="0" bIns="0" rtlCol="0" anchor="ctr"/>
          <a:lstStyle/>
          <a:p>
            <a:pPr indent="0" marL="0">
              <a:buNone/>
            </a:pPr>
            <a:r>
              <a:rPr lang="en-US" sz="1800" b="1" dirty="0">
                <a:solidFill>
                  <a:schemeClr val="bg1"/>
                </a:solidFill>
              </a:rPr>
              <a:t>Aiven Cloud</a:t>
            </a:r>
            <a:endParaRPr lang="en-US" sz="1800" dirty="0"/>
          </a:p>
        </p:txBody>
      </p:sp>
      <p:sp>
        <p:nvSpPr>
          <p:cNvPr id="24" name="Text 18"/>
          <p:cNvSpPr txBox="1"/>
          <p:nvPr/>
        </p:nvSpPr>
        <p:spPr>
          <a:xfrm>
            <a:off x="6583680" y="2971800"/>
            <a:ext cx="1965960" cy="960120"/>
          </a:xfrm>
          <a:prstGeom prst="rect">
            <a:avLst/>
          </a:prstGeom>
          <a:noFill/>
          <a:ln/>
        </p:spPr>
        <p:txBody>
          <a:bodyPr wrap="square" lIns="0" tIns="0" rIns="0" bIns="0" rtlCol="0" anchor="t"/>
          <a:lstStyle/>
          <a:p>
            <a:pPr indent="0" marL="0">
              <a:buNone/>
            </a:pPr>
            <a:r>
              <a:rPr lang="en-US" sz="1400" dirty="0">
                <a:solidFill>
                  <a:schemeClr val="accent6"/>
                </a:solidFill>
              </a:rPr>
              <a:t>MySQL 8 over SSL, 14 tables, secrets from env variables</a:t>
            </a:r>
            <a:endParaRPr lang="en-US" sz="1400" dirty="0"/>
          </a:p>
        </p:txBody>
      </p:sp>
      <p:sp>
        <p:nvSpPr>
          <p:cNvPr id="25" name="Arrow"/>
          <p:cNvSpPr/>
          <p:nvPr/>
        </p:nvSpPr>
        <p:spPr>
          <a:xfrm>
            <a:off x="2743200" y="3127248"/>
            <a:ext cx="667512" cy="0"/>
          </a:xfrm>
          <a:prstGeom prst="line">
            <a:avLst/>
          </a:prstGeom>
          <a:noFill/>
          <a:ln w="25400">
            <a:solidFill>
              <a:srgbClr val="F5A623"/>
            </a:solidFill>
            <a:prstDash val="solid"/>
            <a:tailEnd type="triangle"/>
          </a:ln>
        </p:spPr>
      </p:sp>
      <p:sp>
        <p:nvSpPr>
          <p:cNvPr id="26" name="Text 20"/>
          <p:cNvSpPr txBox="1"/>
          <p:nvPr/>
        </p:nvSpPr>
        <p:spPr>
          <a:xfrm>
            <a:off x="2697480" y="2852928"/>
            <a:ext cx="777240" cy="228600"/>
          </a:xfrm>
          <a:prstGeom prst="rect">
            <a:avLst/>
          </a:prstGeom>
          <a:noFill/>
          <a:ln/>
        </p:spPr>
        <p:txBody>
          <a:bodyPr wrap="square" lIns="0" tIns="0" rIns="0" bIns="0" rtlCol="0" anchor="t"/>
          <a:lstStyle/>
          <a:p>
            <a:pPr indent="0" marL="0">
              <a:buNone/>
            </a:pPr>
            <a:r>
              <a:rPr lang="en-US" sz="1100" dirty="0">
                <a:solidFill>
                  <a:schemeClr val="accent6"/>
                </a:solidFill>
              </a:rPr>
              <a:t>git push</a:t>
            </a:r>
            <a:endParaRPr lang="en-US" sz="1100" dirty="0"/>
          </a:p>
        </p:txBody>
      </p:sp>
      <p:sp>
        <p:nvSpPr>
          <p:cNvPr id="27" name="Arrow"/>
          <p:cNvSpPr/>
          <p:nvPr/>
        </p:nvSpPr>
        <p:spPr>
          <a:xfrm>
            <a:off x="5715000" y="3127248"/>
            <a:ext cx="667512" cy="0"/>
          </a:xfrm>
          <a:prstGeom prst="line">
            <a:avLst/>
          </a:prstGeom>
          <a:noFill/>
          <a:ln w="25400">
            <a:solidFill>
              <a:srgbClr val="F5A623"/>
            </a:solidFill>
            <a:prstDash val="solid"/>
            <a:tailEnd type="triangle"/>
          </a:ln>
        </p:spPr>
      </p:sp>
      <p:sp>
        <p:nvSpPr>
          <p:cNvPr id="28" name="Text 22"/>
          <p:cNvSpPr txBox="1"/>
          <p:nvPr/>
        </p:nvSpPr>
        <p:spPr>
          <a:xfrm>
            <a:off x="5623560" y="2852928"/>
            <a:ext cx="868680" cy="228600"/>
          </a:xfrm>
          <a:prstGeom prst="rect">
            <a:avLst/>
          </a:prstGeom>
          <a:noFill/>
          <a:ln/>
        </p:spPr>
        <p:txBody>
          <a:bodyPr wrap="square" lIns="0" tIns="0" rIns="0" bIns="0" rtlCol="0" anchor="t"/>
          <a:lstStyle/>
          <a:p>
            <a:pPr indent="0" marL="0">
              <a:buNone/>
            </a:pPr>
            <a:r>
              <a:rPr lang="en-US" sz="1100" dirty="0">
                <a:solidFill>
                  <a:schemeClr val="accent6"/>
                </a:solidFill>
              </a:rPr>
              <a:t>JDBC / SSL</a:t>
            </a:r>
            <a:endParaRPr lang="en-US" sz="1100" dirty="0"/>
          </a:p>
        </p:txBody>
      </p:sp>
      <p:sp>
        <p:nvSpPr>
          <p:cNvPr id="29" name="Live link pill"/>
          <p:cNvSpPr/>
          <p:nvPr/>
        </p:nvSpPr>
        <p:spPr>
          <a:xfrm>
            <a:off x="457200" y="4206240"/>
            <a:ext cx="4023360" cy="457200"/>
          </a:xfrm>
          <a:prstGeom prst="roundRect">
            <a:avLst>
              <a:gd name="adj" fmla="val 50000"/>
            </a:avLst>
          </a:prstGeom>
          <a:solidFill>
            <a:schemeClr val="tx2"/>
          </a:solidFill>
          <a:ln/>
        </p:spPr>
      </p:sp>
      <p:sp>
        <p:nvSpPr>
          <p:cNvPr id="30" name="Text 24"/>
          <p:cNvSpPr txBox="1"/>
          <p:nvPr/>
        </p:nvSpPr>
        <p:spPr>
          <a:xfrm>
            <a:off x="457200" y="4206240"/>
            <a:ext cx="4023360" cy="457200"/>
          </a:xfrm>
          <a:prstGeom prst="rect">
            <a:avLst/>
          </a:prstGeom>
          <a:noFill/>
          <a:ln/>
        </p:spPr>
        <p:txBody>
          <a:bodyPr wrap="square" lIns="0" tIns="0" rIns="0" bIns="0" rtlCol="0" anchor="ctr"/>
          <a:lstStyle/>
          <a:p>
            <a:pPr algn="ctr" indent="0" marL="0">
              <a:buNone/>
            </a:pPr>
            <a:r>
              <a:rPr lang="en-US" sz="1100" u="sng" dirty="0">
                <a:solidFill>
                  <a:schemeClr val="accent2"/>
                </a:solidFill>
                <a:hlinkClick r:id="rId5" invalidUrl="" action="" tgtFrame="" tooltip="Open live app" history="1" highlightClick="0" endSnd="0">
                  <a:extLst>
                    <a:ext uri="{A12FA001-AC4F-418D-AE19-62706E023703}">
                      <ahyp:hlinkClr xmlns:ahyp="http://schemas.microsoft.com/office/drawing/2018/hyperlinkcolor" val="tx"/>
                    </a:ext>
                  </a:extLst>
                </a:hlinkClick>
              </a:rPr>
              <a:t>Live app: smart-hostel-management-9j3u.onrender.com</a:t>
            </a:r>
            <a:endParaRPr lang="en-US" sz="1100" dirty="0"/>
          </a:p>
        </p:txBody>
      </p:sp>
      <p:sp>
        <p:nvSpPr>
          <p:cNvPr id="31" name="Repo pill"/>
          <p:cNvSpPr/>
          <p:nvPr/>
        </p:nvSpPr>
        <p:spPr>
          <a:xfrm>
            <a:off x="4663440" y="4206240"/>
            <a:ext cx="4023360" cy="457200"/>
          </a:xfrm>
          <a:prstGeom prst="roundRect">
            <a:avLst>
              <a:gd name="adj" fmla="val 50000"/>
            </a:avLst>
          </a:prstGeom>
          <a:solidFill>
            <a:schemeClr val="tx2"/>
          </a:solidFill>
          <a:ln/>
        </p:spPr>
      </p:sp>
      <p:sp>
        <p:nvSpPr>
          <p:cNvPr id="32" name="Text 26"/>
          <p:cNvSpPr txBox="1"/>
          <p:nvPr/>
        </p:nvSpPr>
        <p:spPr>
          <a:xfrm>
            <a:off x="4663440" y="4206240"/>
            <a:ext cx="4023360" cy="457200"/>
          </a:xfrm>
          <a:prstGeom prst="rect">
            <a:avLst/>
          </a:prstGeom>
          <a:noFill/>
          <a:ln/>
        </p:spPr>
        <p:txBody>
          <a:bodyPr wrap="square" lIns="0" tIns="0" rIns="0" bIns="0" rtlCol="0" anchor="ctr"/>
          <a:lstStyle/>
          <a:p>
            <a:pPr algn="ctr" indent="0" marL="0">
              <a:buNone/>
            </a:pPr>
            <a:r>
              <a:rPr lang="en-US" sz="1100" u="sng" dirty="0">
                <a:solidFill>
                  <a:schemeClr val="accent2"/>
                </a:solidFill>
                <a:hlinkClick r:id="rId6" invalidUrl="" action="" tgtFrame="" tooltip="Open repository" history="1" highlightClick="0" endSnd="0">
                  <a:extLst>
                    <a:ext uri="{A12FA001-AC4F-418D-AE19-62706E023703}">
                      <ahyp:hlinkClr xmlns:ahyp="http://schemas.microsoft.com/office/drawing/2018/hyperlinkcolor" val="tx"/>
                    </a:ext>
                  </a:extLst>
                </a:hlinkClick>
              </a:rPr>
              <a:t>Code: github.com/Divyanshp63/smart-hostel-management</a:t>
            </a:r>
            <a:endParaRPr lang="en-US" sz="1100" dirty="0"/>
          </a:p>
        </p:txBody>
      </p:sp>
      <p:sp>
        <p:nvSpPr>
          <p:cNvPr id="25" name="Slide Number Placeholder 0"/>
          <p:cNvSpPr>
            <a:spLocks noGrp="1"/>
          </p:cNvSpPr>
          <p:nvPr>
            <p:ph type="sldNum" sz="quarter" idx="4294967295"/>
          </p:nvPr>
        </p:nvSpPr>
        <p:spPr>
          <a:xfrm>
            <a:off x="457200" y="4846320"/>
            <a:ext cx="54864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ection tag"/>
          <p:cNvSpPr/>
          <p:nvPr/>
        </p:nvSpPr>
        <p:spPr>
          <a:xfrm>
            <a:off x="457200" y="292608"/>
            <a:ext cx="2211019" cy="274320"/>
          </a:xfrm>
          <a:prstGeom prst="roundRect">
            <a:avLst>
              <a:gd name="adj" fmla="val 50000"/>
            </a:avLst>
          </a:prstGeom>
          <a:solidFill>
            <a:schemeClr val="accent1"/>
          </a:solidFill>
          <a:ln/>
        </p:spPr>
      </p:sp>
      <p:sp>
        <p:nvSpPr>
          <p:cNvPr id="3" name="Text 1"/>
          <p:cNvSpPr txBox="1"/>
          <p:nvPr/>
        </p:nvSpPr>
        <p:spPr>
          <a:xfrm>
            <a:off x="457200" y="292608"/>
            <a:ext cx="2211019" cy="274320"/>
          </a:xfrm>
          <a:prstGeom prst="rect">
            <a:avLst/>
          </a:prstGeom>
          <a:noFill/>
          <a:ln/>
        </p:spPr>
        <p:txBody>
          <a:bodyPr wrap="square" lIns="0" tIns="0" rIns="0" bIns="0" rtlCol="0" anchor="ctr"/>
          <a:lstStyle/>
          <a:p>
            <a:pPr algn="ctr" indent="0" marL="0">
              <a:buNone/>
            </a:pPr>
            <a:r>
              <a:rPr lang="en-US" sz="1000" b="1" spc="150" kern="0" dirty="0">
                <a:solidFill>
                  <a:schemeClr val="tx1"/>
                </a:solidFill>
              </a:rPr>
              <a:t>ROOFTOP  ·  FUTURE SCOPE</a:t>
            </a:r>
            <a:endParaRPr lang="en-US" sz="1000" dirty="0"/>
          </a:p>
        </p:txBody>
      </p:sp>
      <p:sp>
        <p:nvSpPr>
          <p:cNvPr id="4" name="Text 2"/>
          <p:cNvSpPr/>
          <p:nvPr>
            <p:ph idx="103" type="title" hasCustomPrompt="1"/>
          </p:nvPr>
        </p:nvSpPr>
        <p:spPr>
          <a:xfrm>
            <a:off x="457200" y="640080"/>
            <a:ext cx="8229600" cy="685800"/>
          </a:xfrm>
          <a:prstGeom prst="rect">
            <a:avLst/>
          </a:prstGeom>
          <a:noFill/>
          <a:ln/>
        </p:spPr>
        <p:txBody>
          <a:bodyPr wrap="square" lIns="0" tIns="0" rIns="0" bIns="0" rtlCol="0" anchor="t"/>
          <a:lstStyle/>
          <a:p>
            <a:pPr algn="l" indent="0" marL="0">
              <a:buNone/>
            </a:pPr>
            <a:r>
              <a:rPr lang="en-US" sz="3600" b="1" dirty="0">
                <a:solidFill>
                  <a:schemeClr val="tx1"/>
                </a:solidFill>
              </a:rPr>
              <a:t>Future Scope</a:t>
            </a:r>
            <a:endParaRPr lang="en-US" sz="3600" dirty="0"/>
          </a:p>
        </p:txBody>
      </p:sp>
      <p:sp>
        <p:nvSpPr>
          <p:cNvPr id="5" name="Future tile"/>
          <p:cNvSpPr/>
          <p:nvPr/>
        </p:nvSpPr>
        <p:spPr>
          <a:xfrm>
            <a:off x="457200" y="1417320"/>
            <a:ext cx="1920240" cy="1554480"/>
          </a:xfrm>
          <a:prstGeom prst="roundRect">
            <a:avLst>
              <a:gd name="adj" fmla="val 7059"/>
            </a:avLst>
          </a:prstGeom>
          <a:solidFill>
            <a:schemeClr val="bg1"/>
          </a:solidFill>
          <a:ln/>
          <a:effectLst>
            <a:outerShdw sx="100000" sy="100000" kx="0" ky="0" algn="bl" rotWithShape="0" blurRad="101600" dist="25400" dir="5400000">
              <a:srgbClr val="0B1F2A">
                <a:alpha val="14000"/>
              </a:srgbClr>
            </a:outerShdw>
          </a:effectLst>
        </p:spPr>
      </p:sp>
      <p:sp>
        <p:nvSpPr>
          <p:cNvPr id="6" name="Icon disc"/>
          <p:cNvSpPr/>
          <p:nvPr/>
        </p:nvSpPr>
        <p:spPr>
          <a:xfrm>
            <a:off x="640080" y="1545336"/>
            <a:ext cx="438912" cy="438912"/>
          </a:xfrm>
          <a:prstGeom prst="ellipse">
            <a:avLst/>
          </a:prstGeom>
          <a:solidFill>
            <a:schemeClr val="tx1"/>
          </a:solidFill>
          <a:ln/>
        </p:spPr>
      </p:sp>
      <p:pic>
        <p:nvPicPr>
          <p:cNvPr id="7" name="Image 0" descr="CreditCard icon">    </p:cNvPr>
          <p:cNvPicPr>
            <a:picLocks noChangeAspect="1"/>
          </p:cNvPicPr>
          <p:nvPr/>
        </p:nvPicPr>
        <p:blipFill>
          <a:blip r:embed="rId1"/>
          <a:stretch>
            <a:fillRect/>
          </a:stretch>
        </p:blipFill>
        <p:spPr>
          <a:xfrm>
            <a:off x="740664" y="1645920"/>
            <a:ext cx="237744" cy="237744"/>
          </a:xfrm>
          <a:prstGeom prst="rect">
            <a:avLst/>
          </a:prstGeom>
        </p:spPr>
      </p:pic>
      <p:sp>
        <p:nvSpPr>
          <p:cNvPr id="8" name="Text 5"/>
          <p:cNvSpPr txBox="1"/>
          <p:nvPr/>
        </p:nvSpPr>
        <p:spPr>
          <a:xfrm>
            <a:off x="640080" y="2075688"/>
            <a:ext cx="1645920" cy="274320"/>
          </a:xfrm>
          <a:prstGeom prst="rect">
            <a:avLst/>
          </a:prstGeom>
          <a:noFill/>
          <a:ln/>
        </p:spPr>
        <p:txBody>
          <a:bodyPr wrap="square" lIns="0" tIns="0" rIns="0" bIns="0" rtlCol="0" anchor="t"/>
          <a:lstStyle/>
          <a:p>
            <a:pPr indent="0" marL="0">
              <a:buNone/>
            </a:pPr>
            <a:r>
              <a:rPr lang="en-US" sz="1600" b="1" dirty="0">
                <a:solidFill>
                  <a:schemeClr val="tx1"/>
                </a:solidFill>
              </a:rPr>
              <a:t>Payments</a:t>
            </a:r>
            <a:endParaRPr lang="en-US" sz="1600" dirty="0"/>
          </a:p>
        </p:txBody>
      </p:sp>
      <p:sp>
        <p:nvSpPr>
          <p:cNvPr id="9" name="Text 6"/>
          <p:cNvSpPr txBox="1"/>
          <p:nvPr/>
        </p:nvSpPr>
        <p:spPr>
          <a:xfrm>
            <a:off x="640080" y="2386584"/>
            <a:ext cx="1600200" cy="548640"/>
          </a:xfrm>
          <a:prstGeom prst="rect">
            <a:avLst/>
          </a:prstGeom>
          <a:noFill/>
          <a:ln/>
        </p:spPr>
        <p:txBody>
          <a:bodyPr wrap="square" lIns="0" tIns="0" rIns="0" bIns="0" rtlCol="0" anchor="t"/>
          <a:lstStyle/>
          <a:p>
            <a:pPr indent="0" marL="0">
              <a:buNone/>
            </a:pPr>
            <a:r>
              <a:rPr lang="en-US" sz="1400" dirty="0">
                <a:solidFill>
                  <a:schemeClr val="accent5"/>
                </a:solidFill>
              </a:rPr>
              <a:t>Razorpay / UPI with instant receipts</a:t>
            </a:r>
            <a:endParaRPr lang="en-US" sz="1400" dirty="0"/>
          </a:p>
        </p:txBody>
      </p:sp>
      <p:sp>
        <p:nvSpPr>
          <p:cNvPr id="10" name="Future tile"/>
          <p:cNvSpPr/>
          <p:nvPr/>
        </p:nvSpPr>
        <p:spPr>
          <a:xfrm>
            <a:off x="2560320" y="1417320"/>
            <a:ext cx="1920240" cy="1554480"/>
          </a:xfrm>
          <a:prstGeom prst="roundRect">
            <a:avLst>
              <a:gd name="adj" fmla="val 7059"/>
            </a:avLst>
          </a:prstGeom>
          <a:solidFill>
            <a:schemeClr val="bg1"/>
          </a:solidFill>
          <a:ln/>
          <a:effectLst>
            <a:outerShdw sx="100000" sy="100000" kx="0" ky="0" algn="bl" rotWithShape="0" blurRad="101600" dist="25400" dir="5400000">
              <a:srgbClr val="0B1F2A">
                <a:alpha val="14000"/>
              </a:srgbClr>
            </a:outerShdw>
          </a:effectLst>
        </p:spPr>
      </p:sp>
      <p:sp>
        <p:nvSpPr>
          <p:cNvPr id="11" name="Icon disc"/>
          <p:cNvSpPr/>
          <p:nvPr/>
        </p:nvSpPr>
        <p:spPr>
          <a:xfrm>
            <a:off x="2743200" y="1545336"/>
            <a:ext cx="438912" cy="438912"/>
          </a:xfrm>
          <a:prstGeom prst="ellipse">
            <a:avLst/>
          </a:prstGeom>
          <a:solidFill>
            <a:schemeClr val="tx1"/>
          </a:solidFill>
          <a:ln/>
        </p:spPr>
      </p:sp>
      <p:pic>
        <p:nvPicPr>
          <p:cNvPr id="12" name="Image 1" descr="MobileAlt icon">    </p:cNvPr>
          <p:cNvPicPr>
            <a:picLocks noChangeAspect="1"/>
          </p:cNvPicPr>
          <p:nvPr/>
        </p:nvPicPr>
        <p:blipFill>
          <a:blip r:embed="rId2"/>
          <a:stretch>
            <a:fillRect/>
          </a:stretch>
        </p:blipFill>
        <p:spPr>
          <a:xfrm>
            <a:off x="2843784" y="1645920"/>
            <a:ext cx="237744" cy="237744"/>
          </a:xfrm>
          <a:prstGeom prst="rect">
            <a:avLst/>
          </a:prstGeom>
        </p:spPr>
      </p:pic>
      <p:sp>
        <p:nvSpPr>
          <p:cNvPr id="13" name="Text 9"/>
          <p:cNvSpPr txBox="1"/>
          <p:nvPr/>
        </p:nvSpPr>
        <p:spPr>
          <a:xfrm>
            <a:off x="2743200" y="2075688"/>
            <a:ext cx="1645920" cy="274320"/>
          </a:xfrm>
          <a:prstGeom prst="rect">
            <a:avLst/>
          </a:prstGeom>
          <a:noFill/>
          <a:ln/>
        </p:spPr>
        <p:txBody>
          <a:bodyPr wrap="square" lIns="0" tIns="0" rIns="0" bIns="0" rtlCol="0" anchor="t"/>
          <a:lstStyle/>
          <a:p>
            <a:pPr indent="0" marL="0">
              <a:buNone/>
            </a:pPr>
            <a:r>
              <a:rPr lang="en-US" sz="1600" b="1" dirty="0">
                <a:solidFill>
                  <a:schemeClr val="tx1"/>
                </a:solidFill>
              </a:rPr>
              <a:t>Mobile app</a:t>
            </a:r>
            <a:endParaRPr lang="en-US" sz="1600" dirty="0"/>
          </a:p>
        </p:txBody>
      </p:sp>
      <p:sp>
        <p:nvSpPr>
          <p:cNvPr id="14" name="Text 10"/>
          <p:cNvSpPr txBox="1"/>
          <p:nvPr/>
        </p:nvSpPr>
        <p:spPr>
          <a:xfrm>
            <a:off x="2743200" y="2386584"/>
            <a:ext cx="1600200" cy="548640"/>
          </a:xfrm>
          <a:prstGeom prst="rect">
            <a:avLst/>
          </a:prstGeom>
          <a:noFill/>
          <a:ln/>
        </p:spPr>
        <p:txBody>
          <a:bodyPr wrap="square" lIns="0" tIns="0" rIns="0" bIns="0" rtlCol="0" anchor="t"/>
          <a:lstStyle/>
          <a:p>
            <a:pPr indent="0" marL="0">
              <a:buNone/>
            </a:pPr>
            <a:r>
              <a:rPr lang="en-US" sz="1400" dirty="0">
                <a:solidFill>
                  <a:schemeClr val="accent5"/>
                </a:solidFill>
              </a:rPr>
              <a:t>Android, iOS or PWA on the REST API</a:t>
            </a:r>
            <a:endParaRPr lang="en-US" sz="1400" dirty="0"/>
          </a:p>
        </p:txBody>
      </p:sp>
      <p:sp>
        <p:nvSpPr>
          <p:cNvPr id="15" name="Future tile"/>
          <p:cNvSpPr/>
          <p:nvPr/>
        </p:nvSpPr>
        <p:spPr>
          <a:xfrm>
            <a:off x="4663440" y="1417320"/>
            <a:ext cx="1920240" cy="1554480"/>
          </a:xfrm>
          <a:prstGeom prst="roundRect">
            <a:avLst>
              <a:gd name="adj" fmla="val 7059"/>
            </a:avLst>
          </a:prstGeom>
          <a:solidFill>
            <a:schemeClr val="bg1"/>
          </a:solidFill>
          <a:ln/>
          <a:effectLst>
            <a:outerShdw sx="100000" sy="100000" kx="0" ky="0" algn="bl" rotWithShape="0" blurRad="101600" dist="25400" dir="5400000">
              <a:srgbClr val="0B1F2A">
                <a:alpha val="14000"/>
              </a:srgbClr>
            </a:outerShdw>
          </a:effectLst>
        </p:spPr>
      </p:sp>
      <p:sp>
        <p:nvSpPr>
          <p:cNvPr id="16" name="Icon disc"/>
          <p:cNvSpPr/>
          <p:nvPr/>
        </p:nvSpPr>
        <p:spPr>
          <a:xfrm>
            <a:off x="4846320" y="1545336"/>
            <a:ext cx="438912" cy="438912"/>
          </a:xfrm>
          <a:prstGeom prst="ellipse">
            <a:avLst/>
          </a:prstGeom>
          <a:solidFill>
            <a:schemeClr val="tx1"/>
          </a:solidFill>
          <a:ln/>
        </p:spPr>
      </p:sp>
      <p:pic>
        <p:nvPicPr>
          <p:cNvPr id="17" name="Image 2" descr="Bell icon">    </p:cNvPr>
          <p:cNvPicPr>
            <a:picLocks noChangeAspect="1"/>
          </p:cNvPicPr>
          <p:nvPr/>
        </p:nvPicPr>
        <p:blipFill>
          <a:blip r:embed="rId3"/>
          <a:stretch>
            <a:fillRect/>
          </a:stretch>
        </p:blipFill>
        <p:spPr>
          <a:xfrm>
            <a:off x="4946904" y="1645920"/>
            <a:ext cx="237744" cy="237744"/>
          </a:xfrm>
          <a:prstGeom prst="rect">
            <a:avLst/>
          </a:prstGeom>
        </p:spPr>
      </p:pic>
      <p:sp>
        <p:nvSpPr>
          <p:cNvPr id="18" name="Text 13"/>
          <p:cNvSpPr txBox="1"/>
          <p:nvPr/>
        </p:nvSpPr>
        <p:spPr>
          <a:xfrm>
            <a:off x="4846320" y="2075688"/>
            <a:ext cx="1645920" cy="274320"/>
          </a:xfrm>
          <a:prstGeom prst="rect">
            <a:avLst/>
          </a:prstGeom>
          <a:noFill/>
          <a:ln/>
        </p:spPr>
        <p:txBody>
          <a:bodyPr wrap="square" lIns="0" tIns="0" rIns="0" bIns="0" rtlCol="0" anchor="t"/>
          <a:lstStyle/>
          <a:p>
            <a:pPr indent="0" marL="0">
              <a:buNone/>
            </a:pPr>
            <a:r>
              <a:rPr lang="en-US" sz="1600" b="1" dirty="0">
                <a:solidFill>
                  <a:schemeClr val="tx1"/>
                </a:solidFill>
              </a:rPr>
              <a:t>Smart alerts</a:t>
            </a:r>
            <a:endParaRPr lang="en-US" sz="1600" dirty="0"/>
          </a:p>
        </p:txBody>
      </p:sp>
      <p:sp>
        <p:nvSpPr>
          <p:cNvPr id="19" name="Text 14"/>
          <p:cNvSpPr txBox="1"/>
          <p:nvPr/>
        </p:nvSpPr>
        <p:spPr>
          <a:xfrm>
            <a:off x="4846320" y="2386584"/>
            <a:ext cx="1600200" cy="548640"/>
          </a:xfrm>
          <a:prstGeom prst="rect">
            <a:avLst/>
          </a:prstGeom>
          <a:noFill/>
          <a:ln/>
        </p:spPr>
        <p:txBody>
          <a:bodyPr wrap="square" lIns="0" tIns="0" rIns="0" bIns="0" rtlCol="0" anchor="t"/>
          <a:lstStyle/>
          <a:p>
            <a:pPr indent="0" marL="0">
              <a:buNone/>
            </a:pPr>
            <a:r>
              <a:rPr lang="en-US" sz="1400" dirty="0">
                <a:solidFill>
                  <a:schemeClr val="accent5"/>
                </a:solidFill>
              </a:rPr>
              <a:t>SMS, e-mail and WhatsApp reminders</a:t>
            </a:r>
            <a:endParaRPr lang="en-US" sz="1400" dirty="0"/>
          </a:p>
        </p:txBody>
      </p:sp>
      <p:sp>
        <p:nvSpPr>
          <p:cNvPr id="20" name="Future tile"/>
          <p:cNvSpPr/>
          <p:nvPr/>
        </p:nvSpPr>
        <p:spPr>
          <a:xfrm>
            <a:off x="6766560" y="1417320"/>
            <a:ext cx="1920240" cy="1554480"/>
          </a:xfrm>
          <a:prstGeom prst="roundRect">
            <a:avLst>
              <a:gd name="adj" fmla="val 7059"/>
            </a:avLst>
          </a:prstGeom>
          <a:solidFill>
            <a:schemeClr val="bg1"/>
          </a:solidFill>
          <a:ln/>
          <a:effectLst>
            <a:outerShdw sx="100000" sy="100000" kx="0" ky="0" algn="bl" rotWithShape="0" blurRad="101600" dist="25400" dir="5400000">
              <a:srgbClr val="0B1F2A">
                <a:alpha val="14000"/>
              </a:srgbClr>
            </a:outerShdw>
          </a:effectLst>
        </p:spPr>
      </p:sp>
      <p:sp>
        <p:nvSpPr>
          <p:cNvPr id="21" name="Icon disc"/>
          <p:cNvSpPr/>
          <p:nvPr/>
        </p:nvSpPr>
        <p:spPr>
          <a:xfrm>
            <a:off x="6949440" y="1545336"/>
            <a:ext cx="438912" cy="438912"/>
          </a:xfrm>
          <a:prstGeom prst="ellipse">
            <a:avLst/>
          </a:prstGeom>
          <a:solidFill>
            <a:schemeClr val="tx1"/>
          </a:solidFill>
          <a:ln/>
        </p:spPr>
      </p:sp>
      <p:pic>
        <p:nvPicPr>
          <p:cNvPr id="22" name="Image 3" descr="Qrcode icon">    </p:cNvPr>
          <p:cNvPicPr>
            <a:picLocks noChangeAspect="1"/>
          </p:cNvPicPr>
          <p:nvPr/>
        </p:nvPicPr>
        <p:blipFill>
          <a:blip r:embed="rId4"/>
          <a:stretch>
            <a:fillRect/>
          </a:stretch>
        </p:blipFill>
        <p:spPr>
          <a:xfrm>
            <a:off x="7050024" y="1645920"/>
            <a:ext cx="237744" cy="237744"/>
          </a:xfrm>
          <a:prstGeom prst="rect">
            <a:avLst/>
          </a:prstGeom>
        </p:spPr>
      </p:pic>
      <p:sp>
        <p:nvSpPr>
          <p:cNvPr id="23" name="Text 17"/>
          <p:cNvSpPr txBox="1"/>
          <p:nvPr/>
        </p:nvSpPr>
        <p:spPr>
          <a:xfrm>
            <a:off x="6949440" y="2075688"/>
            <a:ext cx="1645920" cy="274320"/>
          </a:xfrm>
          <a:prstGeom prst="rect">
            <a:avLst/>
          </a:prstGeom>
          <a:noFill/>
          <a:ln/>
        </p:spPr>
        <p:txBody>
          <a:bodyPr wrap="square" lIns="0" tIns="0" rIns="0" bIns="0" rtlCol="0" anchor="t"/>
          <a:lstStyle/>
          <a:p>
            <a:pPr indent="0" marL="0">
              <a:buNone/>
            </a:pPr>
            <a:r>
              <a:rPr lang="en-US" sz="1600" b="1" dirty="0">
                <a:solidFill>
                  <a:schemeClr val="tx1"/>
                </a:solidFill>
              </a:rPr>
              <a:t>QR gate pass</a:t>
            </a:r>
            <a:endParaRPr lang="en-US" sz="1600" dirty="0"/>
          </a:p>
        </p:txBody>
      </p:sp>
      <p:sp>
        <p:nvSpPr>
          <p:cNvPr id="24" name="Text 18"/>
          <p:cNvSpPr txBox="1"/>
          <p:nvPr/>
        </p:nvSpPr>
        <p:spPr>
          <a:xfrm>
            <a:off x="6949440" y="2386584"/>
            <a:ext cx="1600200" cy="548640"/>
          </a:xfrm>
          <a:prstGeom prst="rect">
            <a:avLst/>
          </a:prstGeom>
          <a:noFill/>
          <a:ln/>
        </p:spPr>
        <p:txBody>
          <a:bodyPr wrap="square" lIns="0" tIns="0" rIns="0" bIns="0" rtlCol="0" anchor="t"/>
          <a:lstStyle/>
          <a:p>
            <a:pPr indent="0" marL="0">
              <a:buNone/>
            </a:pPr>
            <a:r>
              <a:rPr lang="en-US" sz="1400" dirty="0">
                <a:solidFill>
                  <a:schemeClr val="accent5"/>
                </a:solidFill>
              </a:rPr>
              <a:t>QR checks and biometric attendance</a:t>
            </a:r>
            <a:endParaRPr lang="en-US" sz="1400" dirty="0"/>
          </a:p>
        </p:txBody>
      </p:sp>
      <p:sp>
        <p:nvSpPr>
          <p:cNvPr id="25" name="Future tile"/>
          <p:cNvSpPr/>
          <p:nvPr/>
        </p:nvSpPr>
        <p:spPr>
          <a:xfrm>
            <a:off x="457200" y="3108960"/>
            <a:ext cx="1920240" cy="1554480"/>
          </a:xfrm>
          <a:prstGeom prst="roundRect">
            <a:avLst>
              <a:gd name="adj" fmla="val 7059"/>
            </a:avLst>
          </a:prstGeom>
          <a:solidFill>
            <a:schemeClr val="bg1"/>
          </a:solidFill>
          <a:ln/>
          <a:effectLst>
            <a:outerShdw sx="100000" sy="100000" kx="0" ky="0" algn="bl" rotWithShape="0" blurRad="101600" dist="25400" dir="5400000">
              <a:srgbClr val="0B1F2A">
                <a:alpha val="14000"/>
              </a:srgbClr>
            </a:outerShdw>
          </a:effectLst>
        </p:spPr>
      </p:sp>
      <p:sp>
        <p:nvSpPr>
          <p:cNvPr id="26" name="Icon disc"/>
          <p:cNvSpPr/>
          <p:nvPr/>
        </p:nvSpPr>
        <p:spPr>
          <a:xfrm>
            <a:off x="640080" y="3236976"/>
            <a:ext cx="438912" cy="438912"/>
          </a:xfrm>
          <a:prstGeom prst="ellipse">
            <a:avLst/>
          </a:prstGeom>
          <a:solidFill>
            <a:schemeClr val="tx1"/>
          </a:solidFill>
          <a:ln/>
        </p:spPr>
      </p:sp>
      <p:pic>
        <p:nvPicPr>
          <p:cNvPr id="27" name="Image 4" descr="Microchip icon">    </p:cNvPr>
          <p:cNvPicPr>
            <a:picLocks noChangeAspect="1"/>
          </p:cNvPicPr>
          <p:nvPr/>
        </p:nvPicPr>
        <p:blipFill>
          <a:blip r:embed="rId5"/>
          <a:stretch>
            <a:fillRect/>
          </a:stretch>
        </p:blipFill>
        <p:spPr>
          <a:xfrm>
            <a:off x="740664" y="3337560"/>
            <a:ext cx="237744" cy="237744"/>
          </a:xfrm>
          <a:prstGeom prst="rect">
            <a:avLst/>
          </a:prstGeom>
        </p:spPr>
      </p:pic>
      <p:sp>
        <p:nvSpPr>
          <p:cNvPr id="28" name="Text 21"/>
          <p:cNvSpPr txBox="1"/>
          <p:nvPr/>
        </p:nvSpPr>
        <p:spPr>
          <a:xfrm>
            <a:off x="640080" y="3767328"/>
            <a:ext cx="1645920" cy="274320"/>
          </a:xfrm>
          <a:prstGeom prst="rect">
            <a:avLst/>
          </a:prstGeom>
          <a:noFill/>
          <a:ln/>
        </p:spPr>
        <p:txBody>
          <a:bodyPr wrap="square" lIns="0" tIns="0" rIns="0" bIns="0" rtlCol="0" anchor="t"/>
          <a:lstStyle/>
          <a:p>
            <a:pPr indent="0" marL="0">
              <a:buNone/>
            </a:pPr>
            <a:r>
              <a:rPr lang="en-US" sz="1600" b="1" dirty="0">
                <a:solidFill>
                  <a:schemeClr val="tx1"/>
                </a:solidFill>
              </a:rPr>
              <a:t>IoT rooms</a:t>
            </a:r>
            <a:endParaRPr lang="en-US" sz="1600" dirty="0"/>
          </a:p>
        </p:txBody>
      </p:sp>
      <p:sp>
        <p:nvSpPr>
          <p:cNvPr id="29" name="Text 22"/>
          <p:cNvSpPr txBox="1"/>
          <p:nvPr/>
        </p:nvSpPr>
        <p:spPr>
          <a:xfrm>
            <a:off x="640080" y="4078224"/>
            <a:ext cx="1600200" cy="548640"/>
          </a:xfrm>
          <a:prstGeom prst="rect">
            <a:avLst/>
          </a:prstGeom>
          <a:noFill/>
          <a:ln/>
        </p:spPr>
        <p:txBody>
          <a:bodyPr wrap="square" lIns="0" tIns="0" rIns="0" bIns="0" rtlCol="0" anchor="t"/>
          <a:lstStyle/>
          <a:p>
            <a:pPr indent="0" marL="0">
              <a:buNone/>
            </a:pPr>
            <a:r>
              <a:rPr lang="en-US" sz="1400" dirty="0">
                <a:solidFill>
                  <a:schemeClr val="accent5"/>
                </a:solidFill>
              </a:rPr>
              <a:t>Smart meters and door locks</a:t>
            </a:r>
            <a:endParaRPr lang="en-US" sz="1400" dirty="0"/>
          </a:p>
        </p:txBody>
      </p:sp>
      <p:sp>
        <p:nvSpPr>
          <p:cNvPr id="30" name="Future tile"/>
          <p:cNvSpPr/>
          <p:nvPr/>
        </p:nvSpPr>
        <p:spPr>
          <a:xfrm>
            <a:off x="2560320" y="3108960"/>
            <a:ext cx="1920240" cy="1554480"/>
          </a:xfrm>
          <a:prstGeom prst="roundRect">
            <a:avLst>
              <a:gd name="adj" fmla="val 7059"/>
            </a:avLst>
          </a:prstGeom>
          <a:solidFill>
            <a:schemeClr val="bg1"/>
          </a:solidFill>
          <a:ln/>
          <a:effectLst>
            <a:outerShdw sx="100000" sy="100000" kx="0" ky="0" algn="bl" rotWithShape="0" blurRad="101600" dist="25400" dir="5400000">
              <a:srgbClr val="0B1F2A">
                <a:alpha val="14000"/>
              </a:srgbClr>
            </a:outerShdw>
          </a:effectLst>
        </p:spPr>
      </p:sp>
      <p:sp>
        <p:nvSpPr>
          <p:cNvPr id="31" name="Icon disc"/>
          <p:cNvSpPr/>
          <p:nvPr/>
        </p:nvSpPr>
        <p:spPr>
          <a:xfrm>
            <a:off x="2743200" y="3236976"/>
            <a:ext cx="438912" cy="438912"/>
          </a:xfrm>
          <a:prstGeom prst="ellipse">
            <a:avLst/>
          </a:prstGeom>
          <a:solidFill>
            <a:schemeClr val="tx1"/>
          </a:solidFill>
          <a:ln/>
        </p:spPr>
      </p:sp>
      <p:pic>
        <p:nvPicPr>
          <p:cNvPr id="32" name="Image 5" descr="Robot icon">    </p:cNvPr>
          <p:cNvPicPr>
            <a:picLocks noChangeAspect="1"/>
          </p:cNvPicPr>
          <p:nvPr/>
        </p:nvPicPr>
        <p:blipFill>
          <a:blip r:embed="rId6"/>
          <a:stretch>
            <a:fillRect/>
          </a:stretch>
        </p:blipFill>
        <p:spPr>
          <a:xfrm>
            <a:off x="2843784" y="3337560"/>
            <a:ext cx="237744" cy="237744"/>
          </a:xfrm>
          <a:prstGeom prst="rect">
            <a:avLst/>
          </a:prstGeom>
        </p:spPr>
      </p:pic>
      <p:sp>
        <p:nvSpPr>
          <p:cNvPr id="33" name="Text 25"/>
          <p:cNvSpPr txBox="1"/>
          <p:nvPr/>
        </p:nvSpPr>
        <p:spPr>
          <a:xfrm>
            <a:off x="2743200" y="3767328"/>
            <a:ext cx="1645920" cy="274320"/>
          </a:xfrm>
          <a:prstGeom prst="rect">
            <a:avLst/>
          </a:prstGeom>
          <a:noFill/>
          <a:ln/>
        </p:spPr>
        <p:txBody>
          <a:bodyPr wrap="square" lIns="0" tIns="0" rIns="0" bIns="0" rtlCol="0" anchor="t"/>
          <a:lstStyle/>
          <a:p>
            <a:pPr indent="0" marL="0">
              <a:buNone/>
            </a:pPr>
            <a:r>
              <a:rPr lang="en-US" sz="1600" b="1" dirty="0">
                <a:solidFill>
                  <a:schemeClr val="tx1"/>
                </a:solidFill>
              </a:rPr>
              <a:t>AI analytics</a:t>
            </a:r>
            <a:endParaRPr lang="en-US" sz="1600" dirty="0"/>
          </a:p>
        </p:txBody>
      </p:sp>
      <p:sp>
        <p:nvSpPr>
          <p:cNvPr id="34" name="Text 26"/>
          <p:cNvSpPr txBox="1"/>
          <p:nvPr/>
        </p:nvSpPr>
        <p:spPr>
          <a:xfrm>
            <a:off x="2743200" y="4078224"/>
            <a:ext cx="1600200" cy="548640"/>
          </a:xfrm>
          <a:prstGeom prst="rect">
            <a:avLst/>
          </a:prstGeom>
          <a:noFill/>
          <a:ln/>
        </p:spPr>
        <p:txBody>
          <a:bodyPr wrap="square" lIns="0" tIns="0" rIns="0" bIns="0" rtlCol="0" anchor="t"/>
          <a:lstStyle/>
          <a:p>
            <a:pPr indent="0" marL="0">
              <a:buNone/>
            </a:pPr>
            <a:r>
              <a:rPr lang="en-US" sz="1400" dirty="0">
                <a:solidFill>
                  <a:schemeClr val="accent5"/>
                </a:solidFill>
              </a:rPr>
              <a:t>Demand prediction and a chatbot</a:t>
            </a:r>
            <a:endParaRPr lang="en-US" sz="1400" dirty="0"/>
          </a:p>
        </p:txBody>
      </p:sp>
      <p:sp>
        <p:nvSpPr>
          <p:cNvPr id="35" name="Future tile"/>
          <p:cNvSpPr/>
          <p:nvPr/>
        </p:nvSpPr>
        <p:spPr>
          <a:xfrm>
            <a:off x="4663440" y="3108960"/>
            <a:ext cx="1920240" cy="1554480"/>
          </a:xfrm>
          <a:prstGeom prst="roundRect">
            <a:avLst>
              <a:gd name="adj" fmla="val 7059"/>
            </a:avLst>
          </a:prstGeom>
          <a:solidFill>
            <a:schemeClr val="bg1"/>
          </a:solidFill>
          <a:ln/>
          <a:effectLst>
            <a:outerShdw sx="100000" sy="100000" kx="0" ky="0" algn="bl" rotWithShape="0" blurRad="101600" dist="25400" dir="5400000">
              <a:srgbClr val="0B1F2A">
                <a:alpha val="14000"/>
              </a:srgbClr>
            </a:outerShdw>
          </a:effectLst>
        </p:spPr>
      </p:sp>
      <p:sp>
        <p:nvSpPr>
          <p:cNvPr id="36" name="Icon disc"/>
          <p:cNvSpPr/>
          <p:nvPr/>
        </p:nvSpPr>
        <p:spPr>
          <a:xfrm>
            <a:off x="4846320" y="3236976"/>
            <a:ext cx="438912" cy="438912"/>
          </a:xfrm>
          <a:prstGeom prst="ellipse">
            <a:avLst/>
          </a:prstGeom>
          <a:solidFill>
            <a:schemeClr val="tx1"/>
          </a:solidFill>
          <a:ln/>
        </p:spPr>
      </p:sp>
      <p:pic>
        <p:nvPicPr>
          <p:cNvPr id="37" name="Image 6" descr="Building icon">    </p:cNvPr>
          <p:cNvPicPr>
            <a:picLocks noChangeAspect="1"/>
          </p:cNvPicPr>
          <p:nvPr/>
        </p:nvPicPr>
        <p:blipFill>
          <a:blip r:embed="rId7"/>
          <a:stretch>
            <a:fillRect/>
          </a:stretch>
        </p:blipFill>
        <p:spPr>
          <a:xfrm>
            <a:off x="4946904" y="3337560"/>
            <a:ext cx="237744" cy="237744"/>
          </a:xfrm>
          <a:prstGeom prst="rect">
            <a:avLst/>
          </a:prstGeom>
        </p:spPr>
      </p:pic>
      <p:sp>
        <p:nvSpPr>
          <p:cNvPr id="38" name="Text 29"/>
          <p:cNvSpPr txBox="1"/>
          <p:nvPr/>
        </p:nvSpPr>
        <p:spPr>
          <a:xfrm>
            <a:off x="4846320" y="3767328"/>
            <a:ext cx="1645920" cy="274320"/>
          </a:xfrm>
          <a:prstGeom prst="rect">
            <a:avLst/>
          </a:prstGeom>
          <a:noFill/>
          <a:ln/>
        </p:spPr>
        <p:txBody>
          <a:bodyPr wrap="square" lIns="0" tIns="0" rIns="0" bIns="0" rtlCol="0" anchor="t"/>
          <a:lstStyle/>
          <a:p>
            <a:pPr indent="0" marL="0">
              <a:buNone/>
            </a:pPr>
            <a:r>
              <a:rPr lang="en-US" sz="1600" b="1" dirty="0">
                <a:solidFill>
                  <a:schemeClr val="tx1"/>
                </a:solidFill>
              </a:rPr>
              <a:t>Multi-hostel</a:t>
            </a:r>
            <a:endParaRPr lang="en-US" sz="1600" dirty="0"/>
          </a:p>
        </p:txBody>
      </p:sp>
      <p:sp>
        <p:nvSpPr>
          <p:cNvPr id="39" name="Text 30"/>
          <p:cNvSpPr txBox="1"/>
          <p:nvPr/>
        </p:nvSpPr>
        <p:spPr>
          <a:xfrm>
            <a:off x="4846320" y="4078224"/>
            <a:ext cx="1600200" cy="548640"/>
          </a:xfrm>
          <a:prstGeom prst="rect">
            <a:avLst/>
          </a:prstGeom>
          <a:noFill/>
          <a:ln/>
        </p:spPr>
        <p:txBody>
          <a:bodyPr wrap="square" lIns="0" tIns="0" rIns="0" bIns="0" rtlCol="0" anchor="t"/>
          <a:lstStyle/>
          <a:p>
            <a:pPr indent="0" marL="0">
              <a:buNone/>
            </a:pPr>
            <a:r>
              <a:rPr lang="en-US" sz="1400" dirty="0">
                <a:solidFill>
                  <a:schemeClr val="accent5"/>
                </a:solidFill>
              </a:rPr>
              <a:t>One install for many PG owners</a:t>
            </a:r>
            <a:endParaRPr lang="en-US" sz="1400" dirty="0"/>
          </a:p>
        </p:txBody>
      </p:sp>
      <p:sp>
        <p:nvSpPr>
          <p:cNvPr id="40" name="Future tile"/>
          <p:cNvSpPr/>
          <p:nvPr/>
        </p:nvSpPr>
        <p:spPr>
          <a:xfrm>
            <a:off x="6766560" y="3108960"/>
            <a:ext cx="1920240" cy="1554480"/>
          </a:xfrm>
          <a:prstGeom prst="roundRect">
            <a:avLst>
              <a:gd name="adj" fmla="val 7059"/>
            </a:avLst>
          </a:prstGeom>
          <a:solidFill>
            <a:schemeClr val="bg1"/>
          </a:solidFill>
          <a:ln/>
          <a:effectLst>
            <a:outerShdw sx="100000" sy="100000" kx="0" ky="0" algn="bl" rotWithShape="0" blurRad="101600" dist="25400" dir="5400000">
              <a:srgbClr val="0B1F2A">
                <a:alpha val="14000"/>
              </a:srgbClr>
            </a:outerShdw>
          </a:effectLst>
        </p:spPr>
      </p:sp>
      <p:sp>
        <p:nvSpPr>
          <p:cNvPr id="41" name="Icon disc"/>
          <p:cNvSpPr/>
          <p:nvPr/>
        </p:nvSpPr>
        <p:spPr>
          <a:xfrm>
            <a:off x="6949440" y="3236976"/>
            <a:ext cx="438912" cy="438912"/>
          </a:xfrm>
          <a:prstGeom prst="ellipse">
            <a:avLst/>
          </a:prstGeom>
          <a:solidFill>
            <a:schemeClr val="tx1"/>
          </a:solidFill>
          <a:ln/>
        </p:spPr>
      </p:sp>
      <p:pic>
        <p:nvPicPr>
          <p:cNvPr id="42" name="Image 7" descr="Lock icon">    </p:cNvPr>
          <p:cNvPicPr>
            <a:picLocks noChangeAspect="1"/>
          </p:cNvPicPr>
          <p:nvPr/>
        </p:nvPicPr>
        <p:blipFill>
          <a:blip r:embed="rId8"/>
          <a:stretch>
            <a:fillRect/>
          </a:stretch>
        </p:blipFill>
        <p:spPr>
          <a:xfrm>
            <a:off x="7050024" y="3337560"/>
            <a:ext cx="237744" cy="237744"/>
          </a:xfrm>
          <a:prstGeom prst="rect">
            <a:avLst/>
          </a:prstGeom>
        </p:spPr>
      </p:pic>
      <p:sp>
        <p:nvSpPr>
          <p:cNvPr id="43" name="Text 33"/>
          <p:cNvSpPr txBox="1"/>
          <p:nvPr/>
        </p:nvSpPr>
        <p:spPr>
          <a:xfrm>
            <a:off x="6949440" y="3767328"/>
            <a:ext cx="1645920" cy="274320"/>
          </a:xfrm>
          <a:prstGeom prst="rect">
            <a:avLst/>
          </a:prstGeom>
          <a:noFill/>
          <a:ln/>
        </p:spPr>
        <p:txBody>
          <a:bodyPr wrap="square" lIns="0" tIns="0" rIns="0" bIns="0" rtlCol="0" anchor="t"/>
          <a:lstStyle/>
          <a:p>
            <a:pPr indent="0" marL="0">
              <a:buNone/>
            </a:pPr>
            <a:r>
              <a:rPr lang="en-US" sz="1600" b="1" dirty="0">
                <a:solidFill>
                  <a:schemeClr val="tx1"/>
                </a:solidFill>
              </a:rPr>
              <a:t>2FA &amp; security</a:t>
            </a:r>
            <a:endParaRPr lang="en-US" sz="1600" dirty="0"/>
          </a:p>
        </p:txBody>
      </p:sp>
      <p:sp>
        <p:nvSpPr>
          <p:cNvPr id="44" name="Text 34"/>
          <p:cNvSpPr txBox="1"/>
          <p:nvPr/>
        </p:nvSpPr>
        <p:spPr>
          <a:xfrm>
            <a:off x="6949440" y="4078224"/>
            <a:ext cx="1600200" cy="548640"/>
          </a:xfrm>
          <a:prstGeom prst="rect">
            <a:avLst/>
          </a:prstGeom>
          <a:noFill/>
          <a:ln/>
        </p:spPr>
        <p:txBody>
          <a:bodyPr wrap="square" lIns="0" tIns="0" rIns="0" bIns="0" rtlCol="0" anchor="t"/>
          <a:lstStyle/>
          <a:p>
            <a:pPr indent="0" marL="0">
              <a:buNone/>
            </a:pPr>
            <a:r>
              <a:rPr lang="en-US" sz="1400" dirty="0">
                <a:solidFill>
                  <a:schemeClr val="accent5"/>
                </a:solidFill>
              </a:rPr>
              <a:t>Two-factor, CSRF, login limiting</a:t>
            </a:r>
            <a:endParaRPr lang="en-US" sz="1400" dirty="0"/>
          </a:p>
        </p:txBody>
      </p:sp>
      <p:sp>
        <p:nvSpPr>
          <p:cNvPr id="25" name="Slide Number Placeholder 0"/>
          <p:cNvSpPr>
            <a:spLocks noGrp="1"/>
          </p:cNvSpPr>
          <p:nvPr>
            <p:ph type="sldNum" sz="quarter" idx="4294967295"/>
          </p:nvPr>
        </p:nvSpPr>
        <p:spPr>
          <a:xfrm>
            <a:off x="457200" y="4846320"/>
            <a:ext cx="54864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ection tag"/>
          <p:cNvSpPr/>
          <p:nvPr/>
        </p:nvSpPr>
        <p:spPr>
          <a:xfrm>
            <a:off x="457200" y="292608"/>
            <a:ext cx="2061058" cy="274320"/>
          </a:xfrm>
          <a:prstGeom prst="roundRect">
            <a:avLst>
              <a:gd name="adj" fmla="val 50000"/>
            </a:avLst>
          </a:prstGeom>
          <a:solidFill>
            <a:schemeClr val="accent1"/>
          </a:solidFill>
          <a:ln/>
        </p:spPr>
      </p:sp>
      <p:sp>
        <p:nvSpPr>
          <p:cNvPr id="3" name="Text 1"/>
          <p:cNvSpPr txBox="1"/>
          <p:nvPr/>
        </p:nvSpPr>
        <p:spPr>
          <a:xfrm>
            <a:off x="457200" y="292608"/>
            <a:ext cx="2061058" cy="274320"/>
          </a:xfrm>
          <a:prstGeom prst="rect">
            <a:avLst/>
          </a:prstGeom>
          <a:noFill/>
          <a:ln/>
        </p:spPr>
        <p:txBody>
          <a:bodyPr wrap="square" lIns="0" tIns="0" rIns="0" bIns="0" rtlCol="0" anchor="ctr"/>
          <a:lstStyle/>
          <a:p>
            <a:pPr algn="ctr" indent="0" marL="0">
              <a:buNone/>
            </a:pPr>
            <a:r>
              <a:rPr lang="en-US" sz="1000" b="1" spc="150" kern="0" dirty="0">
                <a:solidFill>
                  <a:schemeClr val="tx1"/>
                </a:solidFill>
              </a:rPr>
              <a:t>ROOFTOP  ·  CONCLUSION</a:t>
            </a:r>
            <a:endParaRPr lang="en-US" sz="1000" dirty="0"/>
          </a:p>
        </p:txBody>
      </p:sp>
      <p:sp>
        <p:nvSpPr>
          <p:cNvPr id="4" name="Text 2"/>
          <p:cNvSpPr/>
          <p:nvPr>
            <p:ph idx="103" type="title" hasCustomPrompt="1"/>
          </p:nvPr>
        </p:nvSpPr>
        <p:spPr>
          <a:xfrm>
            <a:off x="457200" y="640080"/>
            <a:ext cx="8229600" cy="685800"/>
          </a:xfrm>
          <a:prstGeom prst="rect">
            <a:avLst/>
          </a:prstGeom>
          <a:noFill/>
          <a:ln/>
        </p:spPr>
        <p:txBody>
          <a:bodyPr wrap="square" lIns="0" tIns="0" rIns="0" bIns="0" rtlCol="0" anchor="t"/>
          <a:lstStyle/>
          <a:p>
            <a:pPr algn="l" indent="0" marL="0">
              <a:buNone/>
            </a:pPr>
            <a:r>
              <a:rPr lang="en-US" sz="3600" b="1" dirty="0">
                <a:solidFill>
                  <a:schemeClr val="bg1"/>
                </a:solidFill>
              </a:rPr>
              <a:t>What We Delivered</a:t>
            </a:r>
            <a:endParaRPr lang="en-US" sz="3600" dirty="0"/>
          </a:p>
        </p:txBody>
      </p:sp>
      <p:sp>
        <p:nvSpPr>
          <p:cNvPr id="5" name="Delivered card"/>
          <p:cNvSpPr/>
          <p:nvPr/>
        </p:nvSpPr>
        <p:spPr>
          <a:xfrm>
            <a:off x="457200" y="1417320"/>
            <a:ext cx="4023360" cy="2286000"/>
          </a:xfrm>
          <a:prstGeom prst="roundRect">
            <a:avLst>
              <a:gd name="adj" fmla="val 4800"/>
            </a:avLst>
          </a:prstGeom>
          <a:solidFill>
            <a:schemeClr val="tx2"/>
          </a:solidFill>
          <a:ln/>
        </p:spPr>
      </p:sp>
      <p:sp>
        <p:nvSpPr>
          <p:cNvPr id="6" name="Text 4"/>
          <p:cNvSpPr txBox="1"/>
          <p:nvPr/>
        </p:nvSpPr>
        <p:spPr>
          <a:xfrm>
            <a:off x="685800" y="1554480"/>
            <a:ext cx="3474720" cy="228600"/>
          </a:xfrm>
          <a:prstGeom prst="rect">
            <a:avLst/>
          </a:prstGeom>
          <a:noFill/>
          <a:ln/>
        </p:spPr>
        <p:txBody>
          <a:bodyPr wrap="square" lIns="0" tIns="0" rIns="0" bIns="0" rtlCol="0" anchor="t"/>
          <a:lstStyle/>
          <a:p>
            <a:pPr indent="0" marL="0">
              <a:buNone/>
            </a:pPr>
            <a:r>
              <a:rPr lang="en-US" sz="1200" b="1" spc="200" kern="0" dirty="0">
                <a:solidFill>
                  <a:schemeClr val="accent1"/>
                </a:solidFill>
              </a:rPr>
              <a:t>DELIVERED</a:t>
            </a:r>
            <a:endParaRPr lang="en-US" sz="1200" dirty="0"/>
          </a:p>
        </p:txBody>
      </p:sp>
      <p:pic>
        <p:nvPicPr>
          <p:cNvPr id="7" name="Image 0" descr="check">    </p:cNvPr>
          <p:cNvPicPr>
            <a:picLocks noChangeAspect="1"/>
          </p:cNvPicPr>
          <p:nvPr/>
        </p:nvPicPr>
        <p:blipFill>
          <a:blip r:embed="rId1"/>
          <a:stretch>
            <a:fillRect/>
          </a:stretch>
        </p:blipFill>
        <p:spPr>
          <a:xfrm>
            <a:off x="685800" y="1938528"/>
            <a:ext cx="219456" cy="219456"/>
          </a:xfrm>
          <a:prstGeom prst="rect">
            <a:avLst/>
          </a:prstGeom>
        </p:spPr>
      </p:pic>
      <p:sp>
        <p:nvSpPr>
          <p:cNvPr id="8" name="Text 5"/>
          <p:cNvSpPr txBox="1"/>
          <p:nvPr/>
        </p:nvSpPr>
        <p:spPr>
          <a:xfrm>
            <a:off x="1097280" y="1920240"/>
            <a:ext cx="3246120" cy="274320"/>
          </a:xfrm>
          <a:prstGeom prst="rect">
            <a:avLst/>
          </a:prstGeom>
          <a:noFill/>
          <a:ln/>
        </p:spPr>
        <p:txBody>
          <a:bodyPr wrap="square" lIns="0" tIns="0" rIns="0" bIns="0" rtlCol="0" anchor="t"/>
          <a:lstStyle/>
          <a:p>
            <a:pPr indent="0" marL="0">
              <a:buNone/>
            </a:pPr>
            <a:r>
              <a:rPr lang="en-US" sz="1400" dirty="0">
                <a:solidFill>
                  <a:schemeClr val="bg1"/>
                </a:solidFill>
              </a:rPr>
              <a:t>Cloud-deployed platform, four roles</a:t>
            </a:r>
            <a:endParaRPr lang="en-US" sz="1400" dirty="0"/>
          </a:p>
        </p:txBody>
      </p:sp>
      <p:pic>
        <p:nvPicPr>
          <p:cNvPr id="9" name="Image 1" descr="check">    </p:cNvPr>
          <p:cNvPicPr>
            <a:picLocks noChangeAspect="1"/>
          </p:cNvPicPr>
          <p:nvPr/>
        </p:nvPicPr>
        <p:blipFill>
          <a:blip r:embed="rId2"/>
          <a:stretch>
            <a:fillRect/>
          </a:stretch>
        </p:blipFill>
        <p:spPr>
          <a:xfrm>
            <a:off x="685800" y="2368296"/>
            <a:ext cx="219456" cy="219456"/>
          </a:xfrm>
          <a:prstGeom prst="rect">
            <a:avLst/>
          </a:prstGeom>
        </p:spPr>
      </p:pic>
      <p:sp>
        <p:nvSpPr>
          <p:cNvPr id="10" name="Text 6"/>
          <p:cNvSpPr txBox="1"/>
          <p:nvPr/>
        </p:nvSpPr>
        <p:spPr>
          <a:xfrm>
            <a:off x="1097280" y="2350008"/>
            <a:ext cx="3246120" cy="274320"/>
          </a:xfrm>
          <a:prstGeom prst="rect">
            <a:avLst/>
          </a:prstGeom>
          <a:noFill/>
          <a:ln/>
        </p:spPr>
        <p:txBody>
          <a:bodyPr wrap="square" lIns="0" tIns="0" rIns="0" bIns="0" rtlCol="0" anchor="t"/>
          <a:lstStyle/>
          <a:p>
            <a:pPr indent="0" marL="0">
              <a:buNone/>
            </a:pPr>
            <a:r>
              <a:rPr lang="en-US" sz="1400" dirty="0">
                <a:solidFill>
                  <a:schemeClr val="bg1"/>
                </a:solidFill>
              </a:rPr>
              <a:t>No double-booked beds, exact fees</a:t>
            </a:r>
            <a:endParaRPr lang="en-US" sz="1400" dirty="0"/>
          </a:p>
        </p:txBody>
      </p:sp>
      <p:pic>
        <p:nvPicPr>
          <p:cNvPr id="11" name="Image 2" descr="check">    </p:cNvPr>
          <p:cNvPicPr>
            <a:picLocks noChangeAspect="1"/>
          </p:cNvPicPr>
          <p:nvPr/>
        </p:nvPicPr>
        <p:blipFill>
          <a:blip r:embed="rId3"/>
          <a:stretch>
            <a:fillRect/>
          </a:stretch>
        </p:blipFill>
        <p:spPr>
          <a:xfrm>
            <a:off x="685800" y="2798064"/>
            <a:ext cx="219456" cy="219456"/>
          </a:xfrm>
          <a:prstGeom prst="rect">
            <a:avLst/>
          </a:prstGeom>
        </p:spPr>
      </p:pic>
      <p:sp>
        <p:nvSpPr>
          <p:cNvPr id="12" name="Text 7"/>
          <p:cNvSpPr txBox="1"/>
          <p:nvPr/>
        </p:nvSpPr>
        <p:spPr>
          <a:xfrm>
            <a:off x="1097280" y="2779776"/>
            <a:ext cx="3246120" cy="274320"/>
          </a:xfrm>
          <a:prstGeom prst="rect">
            <a:avLst/>
          </a:prstGeom>
          <a:noFill/>
          <a:ln/>
        </p:spPr>
        <p:txBody>
          <a:bodyPr wrap="square" lIns="0" tIns="0" rIns="0" bIns="0" rtlCol="0" anchor="t"/>
          <a:lstStyle/>
          <a:p>
            <a:pPr indent="0" marL="0">
              <a:buNone/>
            </a:pPr>
            <a:r>
              <a:rPr lang="en-US" sz="1400" dirty="0">
                <a:solidFill>
                  <a:schemeClr val="bg1"/>
                </a:solidFill>
              </a:rPr>
              <a:t>SLA-tracked, verified repairs</a:t>
            </a:r>
            <a:endParaRPr lang="en-US" sz="1400" dirty="0"/>
          </a:p>
        </p:txBody>
      </p:sp>
      <p:pic>
        <p:nvPicPr>
          <p:cNvPr id="13" name="Image 3" descr="check">    </p:cNvPr>
          <p:cNvPicPr>
            <a:picLocks noChangeAspect="1"/>
          </p:cNvPicPr>
          <p:nvPr/>
        </p:nvPicPr>
        <p:blipFill>
          <a:blip r:embed="rId4"/>
          <a:stretch>
            <a:fillRect/>
          </a:stretch>
        </p:blipFill>
        <p:spPr>
          <a:xfrm>
            <a:off x="685800" y="3227832"/>
            <a:ext cx="219456" cy="219456"/>
          </a:xfrm>
          <a:prstGeom prst="rect">
            <a:avLst/>
          </a:prstGeom>
        </p:spPr>
      </p:pic>
      <p:sp>
        <p:nvSpPr>
          <p:cNvPr id="14" name="Text 8"/>
          <p:cNvSpPr txBox="1"/>
          <p:nvPr/>
        </p:nvSpPr>
        <p:spPr>
          <a:xfrm>
            <a:off x="1097280" y="3209544"/>
            <a:ext cx="3246120" cy="274320"/>
          </a:xfrm>
          <a:prstGeom prst="rect">
            <a:avLst/>
          </a:prstGeom>
          <a:noFill/>
          <a:ln/>
        </p:spPr>
        <p:txBody>
          <a:bodyPr wrap="square" lIns="0" tIns="0" rIns="0" bIns="0" rtlCol="0" anchor="t"/>
          <a:lstStyle/>
          <a:p>
            <a:pPr indent="0" marL="0">
              <a:buNone/>
            </a:pPr>
            <a:r>
              <a:rPr lang="en-US" sz="1400" dirty="0">
                <a:solidFill>
                  <a:schemeClr val="bg1"/>
                </a:solidFill>
              </a:rPr>
              <a:t>24 of 24 tests passed</a:t>
            </a:r>
            <a:endParaRPr lang="en-US" sz="1400" dirty="0"/>
          </a:p>
        </p:txBody>
      </p:sp>
      <p:sp>
        <p:nvSpPr>
          <p:cNvPr id="15" name="Recommend card"/>
          <p:cNvSpPr/>
          <p:nvPr/>
        </p:nvSpPr>
        <p:spPr>
          <a:xfrm>
            <a:off x="4663440" y="1417320"/>
            <a:ext cx="4023360" cy="2286000"/>
          </a:xfrm>
          <a:prstGeom prst="roundRect">
            <a:avLst>
              <a:gd name="adj" fmla="val 4800"/>
            </a:avLst>
          </a:prstGeom>
          <a:solidFill>
            <a:schemeClr val="tx2"/>
          </a:solidFill>
          <a:ln w="19050">
            <a:solidFill>
              <a:schemeClr val="accent1"/>
            </a:solidFill>
            <a:prstDash val="solid"/>
          </a:ln>
        </p:spPr>
      </p:sp>
      <p:sp>
        <p:nvSpPr>
          <p:cNvPr id="16" name="Text 10"/>
          <p:cNvSpPr txBox="1"/>
          <p:nvPr/>
        </p:nvSpPr>
        <p:spPr>
          <a:xfrm>
            <a:off x="4892040" y="1554480"/>
            <a:ext cx="3474720" cy="228600"/>
          </a:xfrm>
          <a:prstGeom prst="rect">
            <a:avLst/>
          </a:prstGeom>
          <a:noFill/>
          <a:ln/>
        </p:spPr>
        <p:txBody>
          <a:bodyPr wrap="square" lIns="0" tIns="0" rIns="0" bIns="0" rtlCol="0" anchor="t"/>
          <a:lstStyle/>
          <a:p>
            <a:pPr indent="0" marL="0">
              <a:buNone/>
            </a:pPr>
            <a:r>
              <a:rPr lang="en-US" sz="1200" b="1" spc="200" kern="0" dirty="0">
                <a:solidFill>
                  <a:schemeClr val="accent1"/>
                </a:solidFill>
              </a:rPr>
              <a:t>BEFORE REAL-WORLD USE</a:t>
            </a:r>
            <a:endParaRPr lang="en-US" sz="1200" dirty="0"/>
          </a:p>
        </p:txBody>
      </p:sp>
      <p:sp>
        <p:nvSpPr>
          <p:cNvPr id="17" name="Text 11"/>
          <p:cNvSpPr txBox="1"/>
          <p:nvPr/>
        </p:nvSpPr>
        <p:spPr>
          <a:xfrm>
            <a:off x="4892040" y="1920240"/>
            <a:ext cx="3657600" cy="1691640"/>
          </a:xfrm>
          <a:prstGeom prst="rect">
            <a:avLst/>
          </a:prstGeom>
          <a:noFill/>
          <a:ln/>
        </p:spPr>
        <p:txBody>
          <a:bodyPr wrap="square" lIns="0" tIns="0" rIns="0" bIns="0" rtlCol="0" anchor="t"/>
          <a:lstStyle/>
          <a:p>
            <a:pPr marL="152400" indent="-152400">
              <a:spcAft>
                <a:spcPts val="800"/>
              </a:spcAft>
              <a:buSzPct val="100000"/>
              <a:buChar char="•"/>
            </a:pPr>
            <a:r>
              <a:rPr lang="en-US" sz="1400" dirty="0">
                <a:solidFill>
                  <a:schemeClr val="bg1"/>
                </a:solidFill>
              </a:rPr>
              <a:t>Change demo passwords and JWT secret</a:t>
            </a:r>
            <a:endParaRPr lang="en-US" sz="1400" dirty="0"/>
          </a:p>
          <a:p>
            <a:pPr marL="152400" indent="-152400">
              <a:spcAft>
                <a:spcPts val="800"/>
              </a:spcAft>
              <a:buSzPct val="100000"/>
              <a:buChar char="•"/>
            </a:pPr>
            <a:r>
              <a:rPr lang="en-US" sz="1400" dirty="0">
                <a:solidFill>
                  <a:schemeClr val="bg1"/>
                </a:solidFill>
              </a:rPr>
              <a:t>HTTPS-only access and CSRF protection</a:t>
            </a:r>
            <a:endParaRPr lang="en-US" sz="1400" dirty="0"/>
          </a:p>
          <a:p>
            <a:pPr marL="152400" indent="-152400">
              <a:spcAft>
                <a:spcPts val="800"/>
              </a:spcAft>
              <a:buSzPct val="100000"/>
              <a:buChar char="•"/>
            </a:pPr>
            <a:r>
              <a:rPr lang="en-US" sz="1400" dirty="0">
                <a:solidFill>
                  <a:schemeClr val="bg1"/>
                </a:solidFill>
              </a:rPr>
              <a:t>Automated MySQL backups</a:t>
            </a:r>
            <a:endParaRPr lang="en-US" sz="1400" dirty="0"/>
          </a:p>
          <a:p>
            <a:pPr marL="152400" indent="-152400">
              <a:spcAft>
                <a:spcPts val="800"/>
              </a:spcAft>
              <a:buSzPct val="100000"/>
              <a:buChar char="•"/>
            </a:pPr>
            <a:r>
              <a:rPr lang="en-US" sz="1400" dirty="0">
                <a:solidFill>
                  <a:schemeClr val="bg1"/>
                </a:solidFill>
              </a:rPr>
              <a:t>Licensed payment gateway</a:t>
            </a:r>
            <a:endParaRPr lang="en-US" sz="1400" dirty="0"/>
          </a:p>
        </p:txBody>
      </p:sp>
      <p:sp>
        <p:nvSpPr>
          <p:cNvPr id="18" name="Thank you band"/>
          <p:cNvSpPr/>
          <p:nvPr/>
        </p:nvSpPr>
        <p:spPr>
          <a:xfrm>
            <a:off x="457200" y="3886200"/>
            <a:ext cx="8229600" cy="822960"/>
          </a:xfrm>
          <a:prstGeom prst="roundRect">
            <a:avLst>
              <a:gd name="adj" fmla="val 13333"/>
            </a:avLst>
          </a:prstGeom>
          <a:solidFill>
            <a:schemeClr val="accent1"/>
          </a:solidFill>
          <a:ln/>
        </p:spPr>
      </p:sp>
      <p:sp>
        <p:nvSpPr>
          <p:cNvPr id="19" name="Text 13"/>
          <p:cNvSpPr txBox="1"/>
          <p:nvPr/>
        </p:nvSpPr>
        <p:spPr>
          <a:xfrm>
            <a:off x="685800" y="3931920"/>
            <a:ext cx="2743200" cy="4572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Thank You</a:t>
            </a:r>
            <a:endParaRPr lang="en-US" sz="2800" dirty="0"/>
          </a:p>
        </p:txBody>
      </p:sp>
      <p:sp>
        <p:nvSpPr>
          <p:cNvPr id="20" name="Text 14"/>
          <p:cNvSpPr txBox="1"/>
          <p:nvPr/>
        </p:nvSpPr>
        <p:spPr>
          <a:xfrm>
            <a:off x="685800" y="4370832"/>
            <a:ext cx="3291840" cy="256032"/>
          </a:xfrm>
          <a:prstGeom prst="rect">
            <a:avLst/>
          </a:prstGeom>
          <a:noFill/>
          <a:ln/>
        </p:spPr>
        <p:txBody>
          <a:bodyPr wrap="square" lIns="0" tIns="0" rIns="0" bIns="0" rtlCol="0" anchor="t"/>
          <a:lstStyle/>
          <a:p>
            <a:pPr indent="0" marL="0">
              <a:buNone/>
            </a:pPr>
            <a:r>
              <a:rPr lang="en-US" sz="1200" b="1" dirty="0">
                <a:solidFill>
                  <a:schemeClr val="tx1"/>
                </a:solidFill>
              </a:rPr>
              <a:t>Questions &amp; live demo  ·  Team Nexus</a:t>
            </a:r>
            <a:endParaRPr lang="en-US" sz="1200" dirty="0"/>
          </a:p>
        </p:txBody>
      </p:sp>
      <p:sp>
        <p:nvSpPr>
          <p:cNvPr id="21" name="Text 15"/>
          <p:cNvSpPr txBox="1"/>
          <p:nvPr/>
        </p:nvSpPr>
        <p:spPr>
          <a:xfrm>
            <a:off x="4206240" y="4005072"/>
            <a:ext cx="4389120" cy="640080"/>
          </a:xfrm>
          <a:prstGeom prst="rect">
            <a:avLst/>
          </a:prstGeom>
          <a:noFill/>
          <a:ln/>
        </p:spPr>
        <p:txBody>
          <a:bodyPr wrap="square" lIns="0" tIns="0" rIns="0" bIns="0" rtlCol="0" anchor="ctr"/>
          <a:lstStyle/>
          <a:p>
            <a:pPr indent="0" marL="0">
              <a:spcAft>
                <a:spcPts val="400"/>
              </a:spcAft>
              <a:buNone/>
            </a:pPr>
            <a:r>
              <a:rPr lang="en-US" sz="1200" u="sng" dirty="0">
                <a:solidFill>
                  <a:schemeClr val="tx1"/>
                </a:solidFill>
                <a:hlinkClick r:id="rId5" invalidUrl="" action="" tgtFrame="" tooltip="" history="1" highlightClick="0" endSnd="0">
                  <a:extLst>
                    <a:ext uri="{A12FA001-AC4F-418D-AE19-62706E023703}">
                      <ahyp:hlinkClr xmlns:ahyp="http://schemas.microsoft.com/office/drawing/2018/hyperlinkcolor" val="tx"/>
                    </a:ext>
                  </a:extLst>
                </a:hlinkClick>
              </a:rPr>
              <a:t>Live app: smart-hostel-management-9j3u.onrender.com</a:t>
            </a:r>
            <a:endParaRPr lang="en-US" sz="1200" dirty="0"/>
          </a:p>
          <a:p>
            <a:pPr indent="0" marL="0">
              <a:spcAft>
                <a:spcPts val="400"/>
              </a:spcAft>
              <a:buNone/>
            </a:pPr>
            <a:r>
              <a:rPr lang="en-US" sz="1200" u="sng" dirty="0">
                <a:solidFill>
                  <a:schemeClr val="tx1"/>
                </a:solidFill>
                <a:hlinkClick r:id="rId6" invalidUrl="" action="" tgtFrame="" tooltip="" history="1" highlightClick="0" endSnd="0">
                  <a:extLst>
                    <a:ext uri="{A12FA001-AC4F-418D-AE19-62706E023703}">
                      <ahyp:hlinkClr xmlns:ahyp="http://schemas.microsoft.com/office/drawing/2018/hyperlinkcolor" val="tx"/>
                    </a:ext>
                  </a:extLst>
                </a:hlinkClick>
              </a:rPr>
              <a:t>Code: github.com/Divyanshp63/smart-hostel-management</a:t>
            </a:r>
            <a:endParaRPr lang="en-US" sz="1200" dirty="0"/>
          </a:p>
        </p:txBody>
      </p:sp>
      <p:sp>
        <p:nvSpPr>
          <p:cNvPr id="25" name="Slide Number Placeholder 0"/>
          <p:cNvSpPr>
            <a:spLocks noGrp="1"/>
          </p:cNvSpPr>
          <p:nvPr>
            <p:ph type="sldNum" sz="quarter" idx="4294967295"/>
          </p:nvPr>
        </p:nvSpPr>
        <p:spPr>
          <a:xfrm>
            <a:off x="457200" y="4846320"/>
            <a:ext cx="54864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Nexus Keycard">
  <a:themeElements>
    <a:clrScheme name="Nexus Keycard">
      <a:dk1>
        <a:srgbClr val="0B1F2A"/>
      </a:dk1>
      <a:lt1>
        <a:srgbClr val="FFFFFF"/>
      </a:lt1>
      <a:dk2>
        <a:srgbClr val="173F4C"/>
      </a:dk2>
      <a:lt2>
        <a:srgbClr val="EDF4F3"/>
      </a:lt2>
      <a:accent1>
        <a:srgbClr val="F5A623"/>
      </a:accent1>
      <a:accent2>
        <a:srgbClr val="2EC4B6"/>
      </a:accent2>
      <a:accent3>
        <a:srgbClr val="FF6B5B"/>
      </a:accent3>
      <a:accent4>
        <a:srgbClr val="7C8FA6"/>
      </a:accent4>
      <a:accent5>
        <a:srgbClr val="1B6B73"/>
      </a:accent5>
      <a:accent6>
        <a:srgbClr val="9AD9D0"/>
      </a:accent6>
      <a:hlink>
        <a:srgbClr val="2EC4B6"/>
      </a:hlink>
      <a:folHlink>
        <a:srgbClr val="7C8FA6"/>
      </a:folHlink>
    </a:clrScheme>
    <a:fontScheme name="Nexus Keycar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NEXUS - Smart PG &amp; Hostel Management System</dc:title>
  <dc:subject>PptxGenJS Presentation</dc:subject>
  <dc:creator>Team Nexus</dc:creator>
  <cp:lastModifiedBy>Team Nexus</cp:lastModifiedBy>
  <cp:revision>1</cp:revision>
  <dcterms:created xsi:type="dcterms:W3CDTF">2026-10-11T18:08:19Z</dcterms:created>
  <dcterms:modified xsi:type="dcterms:W3CDTF">2026-10-11T18:08:19Z</dcterms:modified>
</cp:coreProperties>
</file>